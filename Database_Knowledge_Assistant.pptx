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6BA4F2-0F9A-9D8D-D3B8-CF71EFE02443}" v="20" dt="2026-08-07T02:41:50.105"/>
    <p1510:client id="{772544C5-617D-9FFE-C742-C96027D8E4D5}" v="64" dt="2026-08-06T11:03:00.612"/>
    <p1510:client id="{872AF543-CD26-7E44-98BB-AD7DA3A7233A}" v="78" dt="2026-08-06T10:52:31.689"/>
    <p1510:client id="{A2219ED8-CAD9-DEF2-024C-9A4F4E0A7D3A}" v="14" dt="2026-08-06T08:25:03.845"/>
    <p1510:client id="{BC368929-4023-5F79-84DC-2A94AD34BAA3}" v="9" dt="2026-08-07T01:11:39.830"/>
    <p1510:client id="{C7E0B7C6-DE16-4E50-A0A0-3EDD40FC70B7}" v="36" dt="2026-08-07T01:12:37.426"/>
    <p1510:client id="{D251B12D-48D4-589F-3676-D034055EE778}" v="97" dt="2026-08-06T08:19:42.558"/>
    <p1510:client id="{EBA45739-FCC1-57F2-0DCA-C8A707E12DAD}" v="334" dt="2026-08-07T03:22:57.8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03_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MRR</c:v>
                </c:pt>
              </c:strCache>
            </c:strRef>
          </c:tx>
          <c:spPr>
            <a:solidFill>
              <a:srgbClr val="FD5000"/>
            </a:solidFill>
            <a:effectLst/>
          </c:spPr>
          <c:invertIfNegative val="0"/>
          <c:dPt>
            <c:idx val="0"/>
            <c:invertIfNegative val="0"/>
            <c:bubble3D val="0"/>
            <c:extLst>
              <c:ext xmlns:c16="http://schemas.microsoft.com/office/drawing/2014/chart" uri="{C3380CC4-5D6E-409C-BE32-E72D297353CC}">
                <c16:uniqueId val="{00000001-603C-4171-AD67-DAA79A64BBC8}"/>
              </c:ext>
            </c:extLst>
          </c:dPt>
          <c:dPt>
            <c:idx val="1"/>
            <c:invertIfNegative val="0"/>
            <c:bubble3D val="0"/>
            <c:spPr>
              <a:solidFill>
                <a:srgbClr val="C8CDD4"/>
              </a:solidFill>
              <a:effectLst/>
            </c:spPr>
            <c:extLst>
              <c:ext xmlns:c16="http://schemas.microsoft.com/office/drawing/2014/chart" uri="{C3380CC4-5D6E-409C-BE32-E72D297353CC}">
                <c16:uniqueId val="{00000003-603C-4171-AD67-DAA79A64BBC8}"/>
              </c:ext>
            </c:extLst>
          </c:dPt>
          <c:dPt>
            <c:idx val="2"/>
            <c:invertIfNegative val="0"/>
            <c:bubble3D val="0"/>
            <c:spPr>
              <a:solidFill>
                <a:srgbClr val="C8CDD4"/>
              </a:solidFill>
              <a:effectLst/>
            </c:spPr>
            <c:extLst>
              <c:ext xmlns:c16="http://schemas.microsoft.com/office/drawing/2014/chart" uri="{C3380CC4-5D6E-409C-BE32-E72D297353CC}">
                <c16:uniqueId val="{00000005-603C-4171-AD67-DAA79A64BBC8}"/>
              </c:ext>
            </c:extLst>
          </c:dPt>
          <c:dPt>
            <c:idx val="3"/>
            <c:invertIfNegative val="0"/>
            <c:bubble3D val="0"/>
            <c:spPr>
              <a:solidFill>
                <a:srgbClr val="C8CDD4"/>
              </a:solidFill>
              <a:effectLst/>
            </c:spPr>
            <c:extLst>
              <c:ext xmlns:c16="http://schemas.microsoft.com/office/drawing/2014/chart" uri="{C3380CC4-5D6E-409C-BE32-E72D297353CC}">
                <c16:uniqueId val="{00000007-603C-4171-AD67-DAA79A64BBC8}"/>
              </c:ext>
            </c:extLst>
          </c:dPt>
          <c:dPt>
            <c:idx val="4"/>
            <c:invertIfNegative val="0"/>
            <c:bubble3D val="0"/>
            <c:spPr>
              <a:solidFill>
                <a:srgbClr val="C8CDD4"/>
              </a:solidFill>
              <a:effectLst/>
            </c:spPr>
            <c:extLst>
              <c:ext xmlns:c16="http://schemas.microsoft.com/office/drawing/2014/chart" uri="{C3380CC4-5D6E-409C-BE32-E72D297353CC}">
                <c16:uniqueId val="{00000009-603C-4171-AD67-DAA79A64BBC8}"/>
              </c:ext>
            </c:extLst>
          </c:dPt>
          <c:dLbls>
            <c:numFmt formatCode="0.00" sourceLinked="0"/>
            <c:spPr>
              <a:noFill/>
              <a:ln>
                <a:noFill/>
              </a:ln>
              <a:effectLst/>
            </c:spPr>
            <c:txPr>
              <a:bodyPr/>
              <a:lstStyle/>
              <a:p>
                <a:pPr>
                  <a:defRPr sz="1000" b="0" i="0" u="none" strike="noStrike">
                    <a:solidFill>
                      <a:srgbClr val="1D252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metadata_aware</c:v>
                </c:pt>
                <c:pt idx="1">
                  <c:v>fixed</c:v>
                </c:pt>
                <c:pt idx="2">
                  <c:v>recursive</c:v>
                </c:pt>
                <c:pt idx="3">
                  <c:v>hybrid RRF</c:v>
                </c:pt>
                <c:pt idx="4">
                  <c:v>BM25</c:v>
                </c:pt>
              </c:strCache>
            </c:strRef>
          </c:cat>
          <c:val>
            <c:numRef>
              <c:f>Sheet1!$B$2:$B$6</c:f>
              <c:numCache>
                <c:formatCode>General</c:formatCode>
                <c:ptCount val="5"/>
                <c:pt idx="0">
                  <c:v>0.93</c:v>
                </c:pt>
                <c:pt idx="1">
                  <c:v>0.92</c:v>
                </c:pt>
                <c:pt idx="2">
                  <c:v>0.88</c:v>
                </c:pt>
                <c:pt idx="3">
                  <c:v>0.88</c:v>
                </c:pt>
                <c:pt idx="4">
                  <c:v>0.7</c:v>
                </c:pt>
              </c:numCache>
            </c:numRef>
          </c:val>
          <c:extLst>
            <c:ext xmlns:c16="http://schemas.microsoft.com/office/drawing/2014/chart" uri="{C3380CC4-5D6E-409C-BE32-E72D297353CC}">
              <c16:uniqueId val="{0000000A-603C-4171-AD67-DAA79A64BBC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D252D"/>
                </a:solidFill>
                <a:latin typeface="Arial"/>
              </a:defRPr>
            </a:pPr>
            <a:endParaRPr lang="en-US"/>
          </a:p>
        </c:txPr>
        <c:crossAx val="2094734552"/>
        <c:crosses val="autoZero"/>
        <c:auto val="1"/>
        <c:lblAlgn val="ctr"/>
        <c:lblOffset val="100"/>
        <c:noMultiLvlLbl val="1"/>
      </c:catAx>
      <c:valAx>
        <c:axId val="2094734552"/>
        <c:scaling>
          <c:orientation val="minMax"/>
          <c:max val="1"/>
        </c:scaling>
        <c:delete val="0"/>
        <c:axPos val="b"/>
        <c:majorGridlines>
          <c:spPr>
            <a:ln w="12700" cap="flat">
              <a:solidFill>
                <a:srgbClr val="E6E8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6555F"/>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5A8FEB21-6965-4F88-AE09-A1B9FC2E31F3}" type="datetimeFigureOut">
              <a:t>8/6/2026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180B7108-CC0A-463C-914D-8CE4064AE64C}" type="slidenum">
              <a:t>‹#›</a:t>
            </a:fld>
            <a:endParaRPr lang="en-US"/>
          </a:p>
        </p:txBody>
      </p:sp>
    </p:spTree>
    <p:extLst>
      <p:ext uri="{BB962C8B-B14F-4D97-AF65-F5344CB8AC3E}">
        <p14:creationId xmlns:p14="http://schemas.microsoft.com/office/powerpoint/2010/main" val="2228102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Database Knowledge Assistant — a grounded QA system for factory operations. Built on the Capstone Level 2 Factory Knowledge kit and extended with a text-to-SQL agent, six LLM providers, and a measured evaluation harness. Headline: 9 of 15 categories against a minimum of 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key design insight. RAG is right for documented facts. But 'which database used the most CPU' requires aggregating 2,372 rows — retrieval physically cannot do that. So we route: documents to RAG, telemetry to text-to-SQL. Each answer type gets the tool that can actually produce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question hits the router, which picks the engine. RAG path: one of three specialists, each with its own isolated vector collection. SQL path: the telemetry agent. The critical detail is the guardrail — it is deterministic Python that runs BEFORE the LLM is called. If no chunk clears the score floor, we refuse. The model never gets the chance to invent.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design choice here is backed by a number. We built a 17-case golden set and benchmarked all four chunking strategies against all three retrievers. </a:t>
            </a:r>
            <a:r>
              <a:rPr lang="en-US" err="1"/>
              <a:t>metadata_aware</a:t>
            </a:r>
            <a:r>
              <a:rPr lang="en-US"/>
              <a:t> plus vector won at 0.93 MRR. Note the second finding: hybrid RRF is the textbook recommendation and it scored worse than plain vector on our corpus. We kept the result rather than hiding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slide to linger on. We measured what grounded and adversarial questions actually score. The floor at 0.68 sits just above where fake questions top out. But be honest: the ranges overlap, so no threshold is perfect. Any floor trades false refusals against false answers. Demo: ask about alarm code Z-999, which does not exist, and watch it refuse.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telemetry agent. Natural language in, SQL out, and crucially the SQL is shown with every answer so any number can be verified. Read-only whitelist. And a real finding from testing: the small local model qwen2.5:3b fails one case by hallucinating a WHERE status='running' filter — right database, wrong number. That is why we route SQL to a stronger model and keep local models for RAG.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 providers behind one interface. The two highlighted are local — the system runs fully offline, which matters because factory documentation is confidential. Engineering detail worth mentioning: we fetch model lists live from each provider. A hardcoded list caused an HTTP 400 because it named models the account was not entitled to. Live discovery found 38 on Copilot and 73 on OpenAI.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Nine of fifteen categories against a minimum of five. And one deliberate omission, stated up front: we do not claim Category 4. There is no LangGraph, no planning loop, no agent that takes actions. The router selects a persona. We would rather build the grounding properly and say so than bolt on a state machine we cannot defend.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PLACEHOLDER — fill in each member's feature before presenting. Ten feature areas are listed in the README: RAG core, chunking, retrievers, evaluation harness, text-to-SQL agent, provider routing, UI and branding, session persistence, test suites, deployment. Whoever owns an area must be able to open those files and explain them.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on the live demo. Three questions that show three different behaviours: one answered from documents with a citation, one computed with SQL shown, and one refused because the answer does not exist. That third one is the whole thesis — a system that refuses is more useful than one that guesses. Remember to put the GitHub URL on this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hongofc-database-knowledge-assistant.streamlit.app/"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github.com/hongofc/database-knowledge-assistant/tree/main"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hongofc/database-knowledge-assistant"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52D"/>
        </a:solidFill>
        <a:effectLst/>
      </p:bgPr>
    </p:bg>
    <p:spTree>
      <p:nvGrpSpPr>
        <p:cNvPr id="1" name=""/>
        <p:cNvGrpSpPr/>
        <p:nvPr/>
      </p:nvGrpSpPr>
      <p:grpSpPr>
        <a:xfrm>
          <a:off x="0" y="0"/>
          <a:ext cx="0" cy="0"/>
          <a:chOff x="0" y="0"/>
          <a:chExt cx="0" cy="0"/>
        </a:xfrm>
      </p:grpSpPr>
      <p:pic>
        <p:nvPicPr>
          <p:cNvPr id="2" name="Image 0" descr="C:\Users\Y0012TUB\Desktop\PLAYGROUNDS\5_Projects\AIMP_factory_knowledge\logo_sidebar.png"/>
          <p:cNvPicPr>
            <a:picLocks noChangeAspect="1"/>
          </p:cNvPicPr>
          <p:nvPr/>
        </p:nvPicPr>
        <p:blipFill>
          <a:blip r:embed="rId3"/>
          <a:stretch>
            <a:fillRect/>
          </a:stretch>
        </p:blipFill>
        <p:spPr>
          <a:xfrm>
            <a:off x="502920" y="457200"/>
            <a:ext cx="2011680" cy="219456"/>
          </a:xfrm>
          <a:prstGeom prst="rect">
            <a:avLst/>
          </a:prstGeom>
        </p:spPr>
      </p:pic>
      <p:sp>
        <p:nvSpPr>
          <p:cNvPr id="3" name="Text 0"/>
          <p:cNvSpPr/>
          <p:nvPr/>
        </p:nvSpPr>
        <p:spPr>
          <a:xfrm>
            <a:off x="502920" y="1392766"/>
            <a:ext cx="6811150" cy="1568591"/>
          </a:xfrm>
          <a:prstGeom prst="rect">
            <a:avLst/>
          </a:prstGeom>
          <a:noFill/>
          <a:ln/>
        </p:spPr>
        <p:txBody>
          <a:bodyPr wrap="square" lIns="0" tIns="0" rIns="0" bIns="0" rtlCol="0" anchor="ctr"/>
          <a:lstStyle/>
          <a:p>
            <a:r>
              <a:rPr lang="en-US" sz="4200" b="1">
                <a:solidFill>
                  <a:srgbClr val="FFFFFF"/>
                </a:solidFill>
                <a:latin typeface="Arial"/>
                <a:cs typeface="Arial"/>
              </a:rPr>
              <a:t>Manufacturing Knowledge &amp; Data Assistant</a:t>
            </a:r>
            <a:endParaRPr lang="en-US"/>
          </a:p>
        </p:txBody>
      </p:sp>
      <p:sp>
        <p:nvSpPr>
          <p:cNvPr id="4" name="Text 1"/>
          <p:cNvSpPr/>
          <p:nvPr/>
        </p:nvSpPr>
        <p:spPr>
          <a:xfrm>
            <a:off x="502920" y="2964281"/>
            <a:ext cx="5822082" cy="691514"/>
          </a:xfrm>
          <a:prstGeom prst="rect">
            <a:avLst/>
          </a:prstGeom>
          <a:noFill/>
          <a:ln/>
        </p:spPr>
        <p:txBody>
          <a:bodyPr wrap="square" lIns="0" tIns="0" rIns="0" bIns="0" rtlCol="0" anchor="ctr"/>
          <a:lstStyle/>
          <a:p>
            <a:r>
              <a:rPr lang="en-US" sz="1500">
                <a:solidFill>
                  <a:srgbClr val="B9C0CA"/>
                </a:solidFill>
                <a:latin typeface="Arial"/>
                <a:cs typeface="Arial"/>
              </a:rPr>
              <a:t>Cited factory document answers. </a:t>
            </a:r>
            <a:endParaRPr lang="en-US">
              <a:solidFill>
                <a:srgbClr val="000000"/>
              </a:solidFill>
              <a:latin typeface="Calibri" panose="020F0502020204030204"/>
              <a:ea typeface="Calibri" panose="020F0502020204030204"/>
              <a:cs typeface="Calibri" panose="020F0502020204030204"/>
            </a:endParaRPr>
          </a:p>
          <a:p>
            <a:r>
              <a:rPr lang="en-US" sz="1500">
                <a:solidFill>
                  <a:srgbClr val="B9C0CA"/>
                </a:solidFill>
                <a:latin typeface="Arial"/>
                <a:cs typeface="Arial"/>
              </a:rPr>
              <a:t>Verifiable telemetry data calculations. </a:t>
            </a:r>
          </a:p>
          <a:p>
            <a:r>
              <a:rPr lang="en-US" sz="1500">
                <a:solidFill>
                  <a:srgbClr val="B9C0CA"/>
                </a:solidFill>
                <a:latin typeface="Arial"/>
                <a:ea typeface="Calibri"/>
                <a:cs typeface="Arial"/>
              </a:rPr>
              <a:t>Safe abstention.</a:t>
            </a:r>
            <a:endParaRPr lang="en-US">
              <a:ea typeface="Calibri"/>
              <a:cs typeface="Calibri"/>
            </a:endParaRPr>
          </a:p>
        </p:txBody>
      </p:sp>
      <p:sp>
        <p:nvSpPr>
          <p:cNvPr id="5" name="Text 2"/>
          <p:cNvSpPr/>
          <p:nvPr/>
        </p:nvSpPr>
        <p:spPr>
          <a:xfrm>
            <a:off x="502920" y="3794760"/>
            <a:ext cx="5943600" cy="274320"/>
          </a:xfrm>
          <a:prstGeom prst="rect">
            <a:avLst/>
          </a:prstGeom>
          <a:noFill/>
          <a:ln/>
        </p:spPr>
        <p:txBody>
          <a:bodyPr wrap="square" lIns="0" tIns="0" rIns="0" bIns="0" rtlCol="0" anchor="ctr"/>
          <a:lstStyle/>
          <a:p>
            <a:pPr marL="0" indent="0">
              <a:buNone/>
            </a:pPr>
            <a:r>
              <a:rPr lang="en-US" sz="1100">
                <a:solidFill>
                  <a:srgbClr val="8A97A3"/>
                </a:solidFill>
                <a:latin typeface="Arial" pitchFamily="34" charset="0"/>
                <a:ea typeface="Arial" pitchFamily="34" charset="-122"/>
                <a:cs typeface="Arial" pitchFamily="34" charset="-120"/>
              </a:rPr>
              <a:t>Capstone Level 2  ·  AIMP  ·  ams OSRAM Backend Penang</a:t>
            </a:r>
            <a:endParaRPr lang="en-US" sz="1100"/>
          </a:p>
        </p:txBody>
      </p:sp>
      <p:sp>
        <p:nvSpPr>
          <p:cNvPr id="6" name="Text 3"/>
          <p:cNvSpPr/>
          <p:nvPr/>
        </p:nvSpPr>
        <p:spPr>
          <a:xfrm>
            <a:off x="6720840" y="1143000"/>
            <a:ext cx="1920240" cy="502920"/>
          </a:xfrm>
          <a:prstGeom prst="rect">
            <a:avLst/>
          </a:prstGeom>
          <a:noFill/>
          <a:ln/>
        </p:spPr>
        <p:txBody>
          <a:bodyPr wrap="square" lIns="0" tIns="0" rIns="0" bIns="0" rtlCol="0" anchor="ctr"/>
          <a:lstStyle/>
          <a:p>
            <a:pPr marL="0" indent="0" algn="r">
              <a:buNone/>
            </a:pPr>
            <a:r>
              <a:rPr lang="en-US" sz="3400" b="1">
                <a:solidFill>
                  <a:srgbClr val="FD5000"/>
                </a:solidFill>
                <a:latin typeface="Arial"/>
                <a:cs typeface="Arial"/>
              </a:rPr>
              <a:t>9/15</a:t>
            </a:r>
            <a:endParaRPr lang="en-US" sz="3400"/>
          </a:p>
        </p:txBody>
      </p:sp>
      <p:sp>
        <p:nvSpPr>
          <p:cNvPr id="7" name="Text 4"/>
          <p:cNvSpPr/>
          <p:nvPr/>
        </p:nvSpPr>
        <p:spPr>
          <a:xfrm>
            <a:off x="6720840" y="1618488"/>
            <a:ext cx="1920240" cy="237744"/>
          </a:xfrm>
          <a:prstGeom prst="rect">
            <a:avLst/>
          </a:prstGeom>
          <a:noFill/>
          <a:ln/>
        </p:spPr>
        <p:txBody>
          <a:bodyPr wrap="square" lIns="0" tIns="0" rIns="0" bIns="0" rtlCol="0" anchor="ctr"/>
          <a:lstStyle/>
          <a:p>
            <a:pPr algn="r"/>
            <a:r>
              <a:rPr lang="en-US" sz="1100">
                <a:solidFill>
                  <a:srgbClr val="8C95A1"/>
                </a:solidFill>
                <a:latin typeface="Arial"/>
                <a:cs typeface="Arial"/>
              </a:rPr>
              <a:t>requirements met</a:t>
            </a:r>
            <a:endParaRPr lang="en-US" sz="1100"/>
          </a:p>
        </p:txBody>
      </p:sp>
      <p:sp>
        <p:nvSpPr>
          <p:cNvPr id="8" name="Text 5"/>
          <p:cNvSpPr/>
          <p:nvPr/>
        </p:nvSpPr>
        <p:spPr>
          <a:xfrm>
            <a:off x="6720840" y="2103120"/>
            <a:ext cx="1920240" cy="502920"/>
          </a:xfrm>
          <a:prstGeom prst="rect">
            <a:avLst/>
          </a:prstGeom>
          <a:noFill/>
          <a:ln/>
        </p:spPr>
        <p:txBody>
          <a:bodyPr wrap="square" lIns="0" tIns="0" rIns="0" bIns="0" rtlCol="0" anchor="ctr"/>
          <a:lstStyle/>
          <a:p>
            <a:pPr marL="0" indent="0" algn="r">
              <a:buNone/>
            </a:pPr>
            <a:r>
              <a:rPr lang="en-US" sz="3400" b="1">
                <a:solidFill>
                  <a:srgbClr val="FD5000"/>
                </a:solidFill>
                <a:latin typeface="Arial" pitchFamily="34" charset="0"/>
                <a:ea typeface="Arial" pitchFamily="34" charset="-122"/>
                <a:cs typeface="Arial" pitchFamily="34" charset="-120"/>
              </a:rPr>
              <a:t>0.93</a:t>
            </a:r>
            <a:endParaRPr lang="en-US" sz="3400"/>
          </a:p>
        </p:txBody>
      </p:sp>
      <p:sp>
        <p:nvSpPr>
          <p:cNvPr id="9" name="Text 6"/>
          <p:cNvSpPr/>
          <p:nvPr/>
        </p:nvSpPr>
        <p:spPr>
          <a:xfrm>
            <a:off x="6720840" y="2578608"/>
            <a:ext cx="1920240" cy="237744"/>
          </a:xfrm>
          <a:prstGeom prst="rect">
            <a:avLst/>
          </a:prstGeom>
          <a:noFill/>
          <a:ln/>
        </p:spPr>
        <p:txBody>
          <a:bodyPr wrap="square" lIns="0" tIns="0" rIns="0" bIns="0" rtlCol="0" anchor="ctr"/>
          <a:lstStyle/>
          <a:p>
            <a:pPr marL="0" indent="0" algn="r">
              <a:buNone/>
            </a:pPr>
            <a:r>
              <a:rPr lang="en-US" sz="1100">
                <a:solidFill>
                  <a:srgbClr val="8C95A1"/>
                </a:solidFill>
                <a:latin typeface="Arial"/>
                <a:ea typeface="Arial" pitchFamily="34" charset="-122"/>
                <a:cs typeface="Arial"/>
              </a:rPr>
              <a:t>best-config MRR</a:t>
            </a:r>
            <a:endParaRPr lang="en-US" sz="1100">
              <a:latin typeface="Arial"/>
              <a:cs typeface="Arial"/>
            </a:endParaRPr>
          </a:p>
        </p:txBody>
      </p:sp>
      <p:sp>
        <p:nvSpPr>
          <p:cNvPr id="10" name="Text 7"/>
          <p:cNvSpPr/>
          <p:nvPr/>
        </p:nvSpPr>
        <p:spPr>
          <a:xfrm>
            <a:off x="6720840" y="3063240"/>
            <a:ext cx="1920240" cy="502920"/>
          </a:xfrm>
          <a:prstGeom prst="rect">
            <a:avLst/>
          </a:prstGeom>
          <a:noFill/>
          <a:ln/>
        </p:spPr>
        <p:txBody>
          <a:bodyPr wrap="square" lIns="0" tIns="0" rIns="0" bIns="0" rtlCol="0" anchor="ctr"/>
          <a:lstStyle/>
          <a:p>
            <a:pPr marL="0" indent="0" algn="r">
              <a:buNone/>
            </a:pPr>
            <a:r>
              <a:rPr lang="en-US" sz="3400" b="1">
                <a:solidFill>
                  <a:srgbClr val="FD5000"/>
                </a:solidFill>
                <a:latin typeface="Arial" pitchFamily="34" charset="0"/>
                <a:ea typeface="Arial" pitchFamily="34" charset="-122"/>
                <a:cs typeface="Arial" pitchFamily="34" charset="-120"/>
              </a:rPr>
              <a:t>44/44</a:t>
            </a:r>
            <a:endParaRPr lang="en-US" sz="3400"/>
          </a:p>
        </p:txBody>
      </p:sp>
      <p:sp>
        <p:nvSpPr>
          <p:cNvPr id="11" name="Text 8"/>
          <p:cNvSpPr/>
          <p:nvPr/>
        </p:nvSpPr>
        <p:spPr>
          <a:xfrm>
            <a:off x="6318674" y="3531673"/>
            <a:ext cx="2322406" cy="258910"/>
          </a:xfrm>
          <a:prstGeom prst="rect">
            <a:avLst/>
          </a:prstGeom>
          <a:noFill/>
          <a:ln/>
        </p:spPr>
        <p:txBody>
          <a:bodyPr wrap="square" lIns="0" tIns="0" rIns="0" bIns="0" rtlCol="0" anchor="ctr"/>
          <a:lstStyle/>
          <a:p>
            <a:pPr algn="r"/>
            <a:r>
              <a:rPr lang="en-US" sz="1100">
                <a:solidFill>
                  <a:srgbClr val="8C95A1"/>
                </a:solidFill>
                <a:latin typeface="Arial"/>
                <a:cs typeface="Arial"/>
              </a:rPr>
              <a:t>deterministic SQL tests passed</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10896"/>
            <a:ext cx="8138160" cy="219456"/>
          </a:xfrm>
          <a:prstGeom prst="rect">
            <a:avLst/>
          </a:prstGeom>
          <a:noFill/>
          <a:ln/>
        </p:spPr>
        <p:txBody>
          <a:bodyPr wrap="square" lIns="0" tIns="0" rIns="0" bIns="0" rtlCol="0" anchor="ctr"/>
          <a:lstStyle/>
          <a:p>
            <a:pPr marL="0" indent="0">
              <a:buNone/>
            </a:pPr>
            <a:r>
              <a:rPr lang="en-US" sz="1100" b="1" kern="0" spc="200">
                <a:solidFill>
                  <a:srgbClr val="FD5000"/>
                </a:solidFill>
                <a:latin typeface="Arial" pitchFamily="34" charset="0"/>
                <a:ea typeface="Arial" pitchFamily="34" charset="-122"/>
                <a:cs typeface="Arial" pitchFamily="34" charset="-120"/>
              </a:rPr>
              <a:t>THE PROBLEM</a:t>
            </a:r>
            <a:endParaRPr lang="en-US" sz="110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buNone/>
            </a:pPr>
            <a:r>
              <a:rPr lang="en-US" sz="3000" b="1">
                <a:solidFill>
                  <a:srgbClr val="1D252D"/>
                </a:solidFill>
                <a:latin typeface="Arial" pitchFamily="34" charset="0"/>
                <a:ea typeface="Arial" pitchFamily="34" charset="-122"/>
                <a:cs typeface="Arial" pitchFamily="34" charset="-120"/>
              </a:rPr>
              <a:t>Two questions, two engines</a:t>
            </a:r>
            <a:endParaRPr lang="en-US" sz="3000"/>
          </a:p>
        </p:txBody>
      </p:sp>
      <p:sp>
        <p:nvSpPr>
          <p:cNvPr id="4" name="Text 2"/>
          <p:cNvSpPr/>
          <p:nvPr/>
        </p:nvSpPr>
        <p:spPr>
          <a:xfrm>
            <a:off x="502920" y="1188720"/>
            <a:ext cx="8138160" cy="365760"/>
          </a:xfrm>
          <a:prstGeom prst="rect">
            <a:avLst/>
          </a:prstGeom>
          <a:noFill/>
          <a:ln/>
        </p:spPr>
        <p:txBody>
          <a:bodyPr wrap="square" lIns="0" tIns="0" rIns="0" bIns="0" rtlCol="0" anchor="ctr"/>
          <a:lstStyle/>
          <a:p>
            <a:r>
              <a:rPr lang="en-US" sz="1300">
                <a:solidFill>
                  <a:srgbClr val="46555F"/>
                </a:solidFill>
                <a:latin typeface="Arial"/>
                <a:cs typeface="Arial"/>
              </a:rPr>
              <a:t>A technician may ask two fundamentally different kinds of questions: </a:t>
            </a:r>
            <a:endParaRPr lang="en-US"/>
          </a:p>
        </p:txBody>
      </p:sp>
      <p:sp>
        <p:nvSpPr>
          <p:cNvPr id="5" name="Shape 3"/>
          <p:cNvSpPr/>
          <p:nvPr/>
        </p:nvSpPr>
        <p:spPr>
          <a:xfrm>
            <a:off x="502920" y="1691640"/>
            <a:ext cx="3931920" cy="2514600"/>
          </a:xfrm>
          <a:prstGeom prst="roundRect">
            <a:avLst>
              <a:gd name="adj" fmla="val 2182"/>
            </a:avLst>
          </a:prstGeom>
          <a:solidFill>
            <a:srgbClr val="FDF6F1"/>
          </a:solidFill>
          <a:ln w="12700">
            <a:solidFill>
              <a:srgbClr val="FDF6F1"/>
            </a:solidFill>
            <a:prstDash val="solid"/>
          </a:ln>
        </p:spPr>
        <p:txBody>
          <a:bodyPr/>
          <a:lstStyle/>
          <a:p>
            <a:endParaRPr lang="en-US"/>
          </a:p>
        </p:txBody>
      </p:sp>
      <p:sp>
        <p:nvSpPr>
          <p:cNvPr id="6" name="Text 4"/>
          <p:cNvSpPr/>
          <p:nvPr/>
        </p:nvSpPr>
        <p:spPr>
          <a:xfrm>
            <a:off x="777240" y="1920240"/>
            <a:ext cx="3383280" cy="640080"/>
          </a:xfrm>
          <a:prstGeom prst="rect">
            <a:avLst/>
          </a:prstGeom>
          <a:noFill/>
          <a:ln/>
        </p:spPr>
        <p:txBody>
          <a:bodyPr wrap="square" lIns="0" tIns="0" rIns="0" bIns="0" rtlCol="0" anchor="ctr"/>
          <a:lstStyle/>
          <a:p>
            <a:pPr marL="0" indent="0">
              <a:buNone/>
            </a:pPr>
            <a:r>
              <a:rPr lang="en-US" sz="1600" b="1">
                <a:solidFill>
                  <a:srgbClr val="1D252D"/>
                </a:solidFill>
                <a:latin typeface="Arial" pitchFamily="34" charset="0"/>
                <a:ea typeface="Arial" pitchFamily="34" charset="-122"/>
                <a:cs typeface="Arial" pitchFamily="34" charset="-120"/>
              </a:rPr>
              <a:t>“What does alarm code E-204 mean?”</a:t>
            </a:r>
            <a:endParaRPr lang="en-US" sz="1600"/>
          </a:p>
        </p:txBody>
      </p:sp>
      <p:sp>
        <p:nvSpPr>
          <p:cNvPr id="7" name="Text 5"/>
          <p:cNvSpPr/>
          <p:nvPr/>
        </p:nvSpPr>
        <p:spPr>
          <a:xfrm>
            <a:off x="777240" y="2697480"/>
            <a:ext cx="3383280" cy="274320"/>
          </a:xfrm>
          <a:prstGeom prst="rect">
            <a:avLst/>
          </a:prstGeom>
          <a:noFill/>
          <a:ln/>
        </p:spPr>
        <p:txBody>
          <a:bodyPr wrap="square" lIns="0" tIns="0" rIns="0" bIns="0" rtlCol="0" anchor="ctr"/>
          <a:lstStyle/>
          <a:p>
            <a:pPr marL="0" indent="0">
              <a:buNone/>
            </a:pPr>
            <a:r>
              <a:rPr lang="en-US" sz="1200" b="1">
                <a:solidFill>
                  <a:srgbClr val="FD5000"/>
                </a:solidFill>
                <a:latin typeface="Arial"/>
                <a:ea typeface="Arial" pitchFamily="34" charset="-122"/>
                <a:cs typeface="Arial"/>
              </a:rPr>
              <a:t>RAG over factory documents</a:t>
            </a:r>
            <a:endParaRPr lang="en-US" sz="1200">
              <a:latin typeface="Arial"/>
              <a:cs typeface="Arial"/>
            </a:endParaRPr>
          </a:p>
        </p:txBody>
      </p:sp>
      <p:sp>
        <p:nvSpPr>
          <p:cNvPr id="8" name="Text 6"/>
          <p:cNvSpPr/>
          <p:nvPr/>
        </p:nvSpPr>
        <p:spPr>
          <a:xfrm>
            <a:off x="777240" y="3035808"/>
            <a:ext cx="3383280" cy="822960"/>
          </a:xfrm>
          <a:prstGeom prst="rect">
            <a:avLst/>
          </a:prstGeom>
          <a:noFill/>
          <a:ln/>
        </p:spPr>
        <p:txBody>
          <a:bodyPr wrap="square" lIns="0" tIns="0" rIns="0" bIns="0" rtlCol="0" anchor="ctr"/>
          <a:lstStyle/>
          <a:p>
            <a:pPr marL="0" indent="0">
              <a:buNone/>
            </a:pPr>
            <a:r>
              <a:rPr lang="en-US" sz="1200">
                <a:solidFill>
                  <a:srgbClr val="46555F"/>
                </a:solidFill>
                <a:latin typeface="Arial" pitchFamily="34" charset="0"/>
                <a:ea typeface="Arial" pitchFamily="34" charset="-122"/>
                <a:cs typeface="Arial" pitchFamily="34" charset="-120"/>
              </a:rPr>
              <a:t>The answer is written down. Find it, quote it, cite the page.</a:t>
            </a:r>
            <a:endParaRPr lang="en-US" sz="1200"/>
          </a:p>
        </p:txBody>
      </p:sp>
      <p:sp>
        <p:nvSpPr>
          <p:cNvPr id="9" name="Shape 7"/>
          <p:cNvSpPr/>
          <p:nvPr/>
        </p:nvSpPr>
        <p:spPr>
          <a:xfrm>
            <a:off x="4709160" y="1691640"/>
            <a:ext cx="3931920" cy="2514600"/>
          </a:xfrm>
          <a:prstGeom prst="roundRect">
            <a:avLst>
              <a:gd name="adj" fmla="val 2182"/>
            </a:avLst>
          </a:prstGeom>
          <a:solidFill>
            <a:srgbClr val="1D252D"/>
          </a:solidFill>
          <a:ln w="12700">
            <a:solidFill>
              <a:srgbClr val="1D252D"/>
            </a:solidFill>
            <a:prstDash val="solid"/>
          </a:ln>
        </p:spPr>
        <p:txBody>
          <a:bodyPr/>
          <a:lstStyle/>
          <a:p>
            <a:endParaRPr lang="en-US"/>
          </a:p>
        </p:txBody>
      </p:sp>
      <p:sp>
        <p:nvSpPr>
          <p:cNvPr id="10" name="Text 8"/>
          <p:cNvSpPr/>
          <p:nvPr/>
        </p:nvSpPr>
        <p:spPr>
          <a:xfrm>
            <a:off x="4983480" y="1920240"/>
            <a:ext cx="3383280" cy="640080"/>
          </a:xfrm>
          <a:prstGeom prst="rect">
            <a:avLst/>
          </a:prstGeom>
          <a:noFill/>
          <a:ln/>
        </p:spPr>
        <p:txBody>
          <a:bodyPr wrap="square" lIns="0" tIns="0" rIns="0" bIns="0" rtlCol="0" anchor="ctr"/>
          <a:lstStyle/>
          <a:p>
            <a:pPr marL="0" indent="0">
              <a:buNone/>
            </a:pPr>
            <a:r>
              <a:rPr lang="en-US" sz="1600" b="1">
                <a:solidFill>
                  <a:srgbClr val="FFFFFF"/>
                </a:solidFill>
                <a:latin typeface="Arial" pitchFamily="34" charset="0"/>
                <a:ea typeface="Arial" pitchFamily="34" charset="-122"/>
                <a:cs typeface="Arial" pitchFamily="34" charset="-120"/>
              </a:rPr>
              <a:t>“Which database used the most CPU?”</a:t>
            </a:r>
            <a:endParaRPr lang="en-US" sz="1600"/>
          </a:p>
        </p:txBody>
      </p:sp>
      <p:sp>
        <p:nvSpPr>
          <p:cNvPr id="11" name="Text 9"/>
          <p:cNvSpPr/>
          <p:nvPr/>
        </p:nvSpPr>
        <p:spPr>
          <a:xfrm>
            <a:off x="4983480" y="2697480"/>
            <a:ext cx="3383280" cy="274320"/>
          </a:xfrm>
          <a:prstGeom prst="rect">
            <a:avLst/>
          </a:prstGeom>
          <a:noFill/>
          <a:ln/>
        </p:spPr>
        <p:txBody>
          <a:bodyPr wrap="square" lIns="0" tIns="0" rIns="0" bIns="0" rtlCol="0" anchor="ctr"/>
          <a:lstStyle/>
          <a:p>
            <a:pPr marL="0" indent="0">
              <a:buNone/>
            </a:pPr>
            <a:r>
              <a:rPr lang="en-US" sz="1200" b="1">
                <a:solidFill>
                  <a:srgbClr val="FD5000"/>
                </a:solidFill>
                <a:latin typeface="Arial" pitchFamily="34" charset="0"/>
                <a:ea typeface="Arial" pitchFamily="34" charset="-122"/>
                <a:cs typeface="Arial" pitchFamily="34" charset="-120"/>
              </a:rPr>
              <a:t>Text-to-SQL over telemetry</a:t>
            </a:r>
            <a:endParaRPr lang="en-US" sz="1200"/>
          </a:p>
        </p:txBody>
      </p:sp>
      <p:sp>
        <p:nvSpPr>
          <p:cNvPr id="12" name="Text 10"/>
          <p:cNvSpPr/>
          <p:nvPr/>
        </p:nvSpPr>
        <p:spPr>
          <a:xfrm>
            <a:off x="4983480" y="3035808"/>
            <a:ext cx="3383280" cy="822960"/>
          </a:xfrm>
          <a:prstGeom prst="rect">
            <a:avLst/>
          </a:prstGeom>
          <a:noFill/>
          <a:ln/>
        </p:spPr>
        <p:txBody>
          <a:bodyPr wrap="square" lIns="0" tIns="0" rIns="0" bIns="0" rtlCol="0" anchor="ctr"/>
          <a:lstStyle/>
          <a:p>
            <a:r>
              <a:rPr lang="en-US" sz="1200">
                <a:solidFill>
                  <a:srgbClr val="B9C0CA"/>
                </a:solidFill>
                <a:latin typeface="Arial"/>
                <a:cs typeface="Arial"/>
              </a:rPr>
              <a:t>The answer must be calculated across 2,372 SQL Server telemetry records.</a:t>
            </a:r>
            <a:endParaRPr lang="en-US" sz="1200">
              <a:solidFill>
                <a:srgbClr val="000000"/>
              </a:solidFill>
              <a:latin typeface="Calibri"/>
              <a:ea typeface="Calibri"/>
              <a:cs typeface="Calibri"/>
            </a:endParaRPr>
          </a:p>
        </p:txBody>
      </p:sp>
      <p:sp>
        <p:nvSpPr>
          <p:cNvPr id="15" name="Text 27">
            <a:extLst>
              <a:ext uri="{FF2B5EF4-FFF2-40B4-BE49-F238E27FC236}">
                <a16:creationId xmlns:a16="http://schemas.microsoft.com/office/drawing/2014/main" id="{4D3CC1A0-9E33-A449-60CE-230481A4FE6F}"/>
              </a:ext>
            </a:extLst>
          </p:cNvPr>
          <p:cNvSpPr/>
          <p:nvPr/>
        </p:nvSpPr>
        <p:spPr>
          <a:xfrm>
            <a:off x="502920" y="4434840"/>
            <a:ext cx="8138160" cy="274320"/>
          </a:xfrm>
          <a:prstGeom prst="rect">
            <a:avLst/>
          </a:prstGeom>
          <a:noFill/>
          <a:ln/>
        </p:spPr>
        <p:txBody>
          <a:bodyPr wrap="square" lIns="0" tIns="0" rIns="0" bIns="0" rtlCol="0" anchor="ctr"/>
          <a:lstStyle/>
          <a:p>
            <a:r>
              <a:rPr lang="en-US" sz="1150" i="1">
                <a:solidFill>
                  <a:srgbClr val="46555F"/>
                </a:solidFill>
                <a:latin typeface="Arial"/>
                <a:cs typeface="Arial"/>
              </a:rPr>
              <a:t>RAG retrieves documented knowledge. SQL calculates answers from structured data.</a:t>
            </a:r>
            <a:endParaRPr lang="en-US">
              <a:solidFill>
                <a:srgbClr val="000000"/>
              </a:solidFill>
              <a:latin typeface="Calibri" panose="020F0502020204030204"/>
              <a:ea typeface="Calibri" panose="020F0502020204030204"/>
              <a:cs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10896"/>
            <a:ext cx="8138160" cy="219456"/>
          </a:xfrm>
          <a:prstGeom prst="rect">
            <a:avLst/>
          </a:prstGeom>
          <a:noFill/>
          <a:ln/>
        </p:spPr>
        <p:txBody>
          <a:bodyPr wrap="square" lIns="0" tIns="0" rIns="0" bIns="0" rtlCol="0" anchor="ctr"/>
          <a:lstStyle/>
          <a:p>
            <a:pPr marL="0" indent="0">
              <a:buNone/>
            </a:pPr>
            <a:r>
              <a:rPr lang="en-US" sz="1100" b="1" kern="0" spc="200">
                <a:solidFill>
                  <a:srgbClr val="FD5000"/>
                </a:solidFill>
                <a:latin typeface="Arial" pitchFamily="34" charset="0"/>
                <a:ea typeface="Arial" pitchFamily="34" charset="-122"/>
                <a:cs typeface="Arial" pitchFamily="34" charset="-120"/>
              </a:rPr>
              <a:t>ARCHITECTURE</a:t>
            </a:r>
            <a:endParaRPr lang="en-US" sz="110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buNone/>
            </a:pPr>
            <a:r>
              <a:rPr lang="en-US" sz="3000" b="1">
                <a:solidFill>
                  <a:srgbClr val="1D252D"/>
                </a:solidFill>
                <a:latin typeface="Arial" pitchFamily="34" charset="0"/>
                <a:ea typeface="Arial" pitchFamily="34" charset="-122"/>
                <a:cs typeface="Arial" pitchFamily="34" charset="-120"/>
              </a:rPr>
              <a:t>How a question flows</a:t>
            </a:r>
            <a:endParaRPr lang="en-US" sz="3000"/>
          </a:p>
        </p:txBody>
      </p:sp>
      <p:sp>
        <p:nvSpPr>
          <p:cNvPr id="4" name="Shape 2"/>
          <p:cNvSpPr/>
          <p:nvPr/>
        </p:nvSpPr>
        <p:spPr>
          <a:xfrm>
            <a:off x="502920" y="1931068"/>
            <a:ext cx="1600200" cy="566928"/>
          </a:xfrm>
          <a:prstGeom prst="roundRect">
            <a:avLst>
              <a:gd name="adj" fmla="val 9677"/>
            </a:avLst>
          </a:prstGeom>
          <a:solidFill>
            <a:srgbClr val="FDF6F1"/>
          </a:solidFill>
          <a:ln w="12700">
            <a:solidFill>
              <a:srgbClr val="FDF6F1"/>
            </a:solidFill>
            <a:prstDash val="solid"/>
          </a:ln>
        </p:spPr>
        <p:txBody>
          <a:bodyPr/>
          <a:lstStyle/>
          <a:p>
            <a:endParaRPr lang="en-US"/>
          </a:p>
        </p:txBody>
      </p:sp>
      <p:sp>
        <p:nvSpPr>
          <p:cNvPr id="5" name="Text 3"/>
          <p:cNvSpPr/>
          <p:nvPr/>
        </p:nvSpPr>
        <p:spPr>
          <a:xfrm>
            <a:off x="502920" y="1931068"/>
            <a:ext cx="1600200" cy="566928"/>
          </a:xfrm>
          <a:prstGeom prst="rect">
            <a:avLst/>
          </a:prstGeom>
          <a:noFill/>
          <a:ln/>
        </p:spPr>
        <p:txBody>
          <a:bodyPr wrap="square" lIns="0" tIns="0" rIns="0" bIns="0" rtlCol="0" anchor="ctr"/>
          <a:lstStyle/>
          <a:p>
            <a:pPr marL="0" indent="0" algn="ctr">
              <a:buNone/>
            </a:pPr>
            <a:r>
              <a:rPr lang="en-US" sz="1200" b="1">
                <a:solidFill>
                  <a:srgbClr val="1D252D"/>
                </a:solidFill>
                <a:latin typeface="Arial" pitchFamily="34" charset="0"/>
                <a:ea typeface="Arial" pitchFamily="34" charset="-122"/>
                <a:cs typeface="Arial" pitchFamily="34" charset="-120"/>
              </a:rPr>
              <a:t>Question</a:t>
            </a:r>
            <a:endParaRPr lang="en-US" sz="1200"/>
          </a:p>
        </p:txBody>
      </p:sp>
      <p:sp>
        <p:nvSpPr>
          <p:cNvPr id="6" name="Shape 4"/>
          <p:cNvSpPr/>
          <p:nvPr/>
        </p:nvSpPr>
        <p:spPr>
          <a:xfrm>
            <a:off x="2468880" y="1931068"/>
            <a:ext cx="1600200" cy="566928"/>
          </a:xfrm>
          <a:prstGeom prst="roundRect">
            <a:avLst>
              <a:gd name="adj" fmla="val 9677"/>
            </a:avLst>
          </a:prstGeom>
          <a:solidFill>
            <a:srgbClr val="1D252D"/>
          </a:solidFill>
          <a:ln w="12700">
            <a:solidFill>
              <a:srgbClr val="1D252D"/>
            </a:solidFill>
            <a:prstDash val="solid"/>
          </a:ln>
        </p:spPr>
        <p:txBody>
          <a:bodyPr/>
          <a:lstStyle/>
          <a:p>
            <a:endParaRPr lang="en-US"/>
          </a:p>
        </p:txBody>
      </p:sp>
      <p:sp>
        <p:nvSpPr>
          <p:cNvPr id="7" name="Text 5"/>
          <p:cNvSpPr/>
          <p:nvPr/>
        </p:nvSpPr>
        <p:spPr>
          <a:xfrm>
            <a:off x="2468880" y="1931068"/>
            <a:ext cx="1600200" cy="566928"/>
          </a:xfrm>
          <a:prstGeom prst="rect">
            <a:avLst/>
          </a:prstGeom>
          <a:noFill/>
          <a:ln/>
        </p:spPr>
        <p:txBody>
          <a:bodyPr wrap="square" lIns="0" tIns="0" rIns="0" bIns="0" rtlCol="0" anchor="ctr"/>
          <a:lstStyle/>
          <a:p>
            <a:pPr algn="ctr"/>
            <a:r>
              <a:rPr lang="en-US" sz="1200" b="1">
                <a:solidFill>
                  <a:srgbClr val="FFFFFF"/>
                </a:solidFill>
                <a:latin typeface="Arial"/>
                <a:cs typeface="Arial"/>
              </a:rPr>
              <a:t>Engine Router</a:t>
            </a:r>
          </a:p>
          <a:p>
            <a:pPr algn="ctr"/>
            <a:r>
              <a:rPr lang="en-US" sz="1000" i="1">
                <a:solidFill>
                  <a:srgbClr val="FFFFFF"/>
                </a:solidFill>
                <a:latin typeface="Arial"/>
                <a:cs typeface="Arial"/>
              </a:rPr>
              <a:t>Telemetry or document?</a:t>
            </a:r>
            <a:endParaRPr lang="en-US" sz="1000" i="1">
              <a:ea typeface="Calibri"/>
              <a:cs typeface="Calibri"/>
            </a:endParaRPr>
          </a:p>
        </p:txBody>
      </p:sp>
      <p:sp>
        <p:nvSpPr>
          <p:cNvPr id="8" name="Shape 6"/>
          <p:cNvSpPr/>
          <p:nvPr/>
        </p:nvSpPr>
        <p:spPr>
          <a:xfrm>
            <a:off x="2103120" y="2214532"/>
            <a:ext cx="365760" cy="0"/>
          </a:xfrm>
          <a:prstGeom prst="line">
            <a:avLst/>
          </a:prstGeom>
          <a:noFill/>
          <a:ln w="19050">
            <a:solidFill>
              <a:srgbClr val="46555F"/>
            </a:solidFill>
            <a:prstDash val="solid"/>
            <a:tailEnd type="triangle"/>
          </a:ln>
        </p:spPr>
        <p:txBody>
          <a:bodyPr/>
          <a:lstStyle/>
          <a:p>
            <a:endParaRPr lang="en-US"/>
          </a:p>
        </p:txBody>
      </p:sp>
      <p:sp>
        <p:nvSpPr>
          <p:cNvPr id="9" name="Shape 7"/>
          <p:cNvSpPr/>
          <p:nvPr/>
        </p:nvSpPr>
        <p:spPr>
          <a:xfrm>
            <a:off x="4434839" y="2301641"/>
            <a:ext cx="3145957" cy="977806"/>
          </a:xfrm>
          <a:prstGeom prst="roundRect">
            <a:avLst>
              <a:gd name="adj" fmla="val 5882"/>
            </a:avLst>
          </a:prstGeom>
          <a:solidFill>
            <a:srgbClr val="FDF6F1"/>
          </a:solidFill>
          <a:ln w="12700">
            <a:solidFill>
              <a:srgbClr val="FDF6F1"/>
            </a:solidFill>
            <a:prstDash val="solid"/>
          </a:ln>
        </p:spPr>
        <p:txBody>
          <a:bodyPr/>
          <a:lstStyle/>
          <a:p>
            <a:endParaRPr lang="en-US"/>
          </a:p>
        </p:txBody>
      </p:sp>
      <p:sp>
        <p:nvSpPr>
          <p:cNvPr id="10" name="Text 8"/>
          <p:cNvSpPr/>
          <p:nvPr/>
        </p:nvSpPr>
        <p:spPr>
          <a:xfrm>
            <a:off x="4628488" y="2441448"/>
            <a:ext cx="2743200" cy="256032"/>
          </a:xfrm>
          <a:prstGeom prst="rect">
            <a:avLst/>
          </a:prstGeom>
          <a:noFill/>
          <a:ln/>
        </p:spPr>
        <p:txBody>
          <a:bodyPr wrap="square" lIns="0" tIns="0" rIns="0" bIns="0" rtlCol="0" anchor="ctr"/>
          <a:lstStyle/>
          <a:p>
            <a:r>
              <a:rPr lang="en-US" sz="1000" i="1">
                <a:solidFill>
                  <a:srgbClr val="FD5000"/>
                </a:solidFill>
                <a:latin typeface="Arial"/>
                <a:ea typeface="Arial" pitchFamily="34" charset="-122"/>
                <a:cs typeface="Arial"/>
              </a:rPr>
              <a:t>If Document:</a:t>
            </a:r>
          </a:p>
          <a:p>
            <a:r>
              <a:rPr lang="en-US" sz="1200" b="1">
                <a:solidFill>
                  <a:srgbClr val="FD5000"/>
                </a:solidFill>
                <a:latin typeface="Arial"/>
                <a:ea typeface="Arial" pitchFamily="34" charset="-122"/>
                <a:cs typeface="Arial"/>
              </a:rPr>
              <a:t>RAG  ·  Specialist Router</a:t>
            </a:r>
            <a:endParaRPr lang="en-US" sz="1200">
              <a:ea typeface="Calibri"/>
              <a:cs typeface="Calibri"/>
            </a:endParaRPr>
          </a:p>
        </p:txBody>
      </p:sp>
      <p:sp>
        <p:nvSpPr>
          <p:cNvPr id="11" name="Text 9"/>
          <p:cNvSpPr/>
          <p:nvPr/>
        </p:nvSpPr>
        <p:spPr>
          <a:xfrm>
            <a:off x="4628488" y="2700729"/>
            <a:ext cx="2946232" cy="490527"/>
          </a:xfrm>
          <a:prstGeom prst="rect">
            <a:avLst/>
          </a:prstGeom>
          <a:noFill/>
          <a:ln/>
        </p:spPr>
        <p:txBody>
          <a:bodyPr wrap="square" lIns="0" tIns="0" rIns="0" bIns="0" rtlCol="0" anchor="ctr"/>
          <a:lstStyle/>
          <a:p>
            <a:r>
              <a:rPr lang="en-US" sz="1050">
                <a:solidFill>
                  <a:srgbClr val="46555F"/>
                </a:solidFill>
                <a:latin typeface="Arial"/>
                <a:ea typeface="Arial" pitchFamily="34" charset="-122"/>
                <a:cs typeface="Arial"/>
              </a:rPr>
              <a:t>3 specialists: </a:t>
            </a:r>
            <a:r>
              <a:rPr lang="en-US" sz="1050" b="1">
                <a:solidFill>
                  <a:srgbClr val="46555F"/>
                </a:solidFill>
                <a:latin typeface="Arial"/>
                <a:ea typeface="Arial" pitchFamily="34" charset="-122"/>
                <a:cs typeface="Arial"/>
              </a:rPr>
              <a:t>Maintenance · Safety · Quality</a:t>
            </a:r>
            <a:endParaRPr lang="en-US" sz="1050" b="1">
              <a:latin typeface="Arial"/>
              <a:ea typeface="Calibri"/>
              <a:cs typeface="Calibri"/>
            </a:endParaRPr>
          </a:p>
          <a:p>
            <a:r>
              <a:rPr lang="en-US" sz="1050" err="1">
                <a:solidFill>
                  <a:srgbClr val="46555F"/>
                </a:solidFill>
                <a:latin typeface="Arial"/>
                <a:ea typeface="Arial" pitchFamily="34" charset="-122"/>
                <a:cs typeface="Arial"/>
              </a:rPr>
              <a:t>ChromaDB</a:t>
            </a:r>
            <a:r>
              <a:rPr lang="en-US" sz="1050">
                <a:solidFill>
                  <a:srgbClr val="46555F"/>
                </a:solidFill>
                <a:latin typeface="Arial"/>
                <a:ea typeface="Arial" pitchFamily="34" charset="-122"/>
                <a:cs typeface="Arial"/>
              </a:rPr>
              <a:t> vector retrieval · citations</a:t>
            </a:r>
            <a:endParaRPr lang="en-US" sz="1050">
              <a:solidFill>
                <a:srgbClr val="000000"/>
              </a:solidFill>
              <a:latin typeface="Arial"/>
              <a:ea typeface="Calibri" panose="020F0502020204030204"/>
              <a:cs typeface="Arial"/>
            </a:endParaRPr>
          </a:p>
        </p:txBody>
      </p:sp>
      <p:sp>
        <p:nvSpPr>
          <p:cNvPr id="12" name="Shape 10"/>
          <p:cNvSpPr/>
          <p:nvPr/>
        </p:nvSpPr>
        <p:spPr>
          <a:xfrm>
            <a:off x="4449879" y="1173680"/>
            <a:ext cx="3145957" cy="925169"/>
          </a:xfrm>
          <a:prstGeom prst="roundRect">
            <a:avLst>
              <a:gd name="adj" fmla="val 5882"/>
            </a:avLst>
          </a:prstGeom>
          <a:solidFill>
            <a:srgbClr val="FDF6F1"/>
          </a:solidFill>
          <a:ln w="12700">
            <a:solidFill>
              <a:srgbClr val="FDF6F1"/>
            </a:solidFill>
            <a:prstDash val="solid"/>
          </a:ln>
        </p:spPr>
        <p:txBody>
          <a:bodyPr/>
          <a:lstStyle/>
          <a:p>
            <a:endParaRPr lang="en-US"/>
          </a:p>
        </p:txBody>
      </p:sp>
      <p:sp>
        <p:nvSpPr>
          <p:cNvPr id="13" name="Text 11"/>
          <p:cNvSpPr/>
          <p:nvPr/>
        </p:nvSpPr>
        <p:spPr>
          <a:xfrm>
            <a:off x="4643528" y="1290928"/>
            <a:ext cx="2743200" cy="256032"/>
          </a:xfrm>
          <a:prstGeom prst="rect">
            <a:avLst/>
          </a:prstGeom>
          <a:noFill/>
          <a:ln/>
        </p:spPr>
        <p:txBody>
          <a:bodyPr wrap="square" lIns="0" tIns="0" rIns="0" bIns="0" rtlCol="0" anchor="ctr"/>
          <a:lstStyle/>
          <a:p>
            <a:r>
              <a:rPr lang="en-US" sz="1000" i="1">
                <a:solidFill>
                  <a:srgbClr val="FD5000"/>
                </a:solidFill>
                <a:latin typeface="Arial"/>
                <a:ea typeface="Arial" pitchFamily="34" charset="-122"/>
                <a:cs typeface="Arial"/>
              </a:rPr>
              <a:t>If Telemetry:</a:t>
            </a:r>
            <a:endParaRPr lang="en-US" sz="1000" i="1">
              <a:solidFill>
                <a:srgbClr val="000000"/>
              </a:solidFill>
              <a:latin typeface="Arial"/>
              <a:ea typeface="Arial" pitchFamily="34" charset="-122"/>
              <a:cs typeface="Arial"/>
            </a:endParaRPr>
          </a:p>
          <a:p>
            <a:r>
              <a:rPr lang="en-US" sz="1200" b="1">
                <a:solidFill>
                  <a:srgbClr val="FD5000"/>
                </a:solidFill>
                <a:latin typeface="Arial"/>
                <a:ea typeface="Arial" pitchFamily="34" charset="-122"/>
                <a:cs typeface="Arial"/>
              </a:rPr>
              <a:t>Text-to-SQL tool</a:t>
            </a:r>
            <a:endParaRPr lang="en-US" sz="1200">
              <a:solidFill>
                <a:srgbClr val="000000"/>
              </a:solidFill>
              <a:latin typeface="Arial"/>
              <a:ea typeface="Calibri" panose="020F0502020204030204"/>
              <a:cs typeface="Calibri" panose="020F0502020204030204"/>
            </a:endParaRPr>
          </a:p>
        </p:txBody>
      </p:sp>
      <p:sp>
        <p:nvSpPr>
          <p:cNvPr id="14" name="Text 12"/>
          <p:cNvSpPr/>
          <p:nvPr/>
        </p:nvSpPr>
        <p:spPr>
          <a:xfrm>
            <a:off x="4643528" y="1565248"/>
            <a:ext cx="2743200" cy="475488"/>
          </a:xfrm>
          <a:prstGeom prst="rect">
            <a:avLst/>
          </a:prstGeom>
          <a:noFill/>
          <a:ln/>
        </p:spPr>
        <p:txBody>
          <a:bodyPr wrap="square" lIns="0" tIns="0" rIns="0" bIns="0" rtlCol="0" anchor="ctr"/>
          <a:lstStyle/>
          <a:p>
            <a:pPr marL="0" indent="0">
              <a:buNone/>
            </a:pPr>
            <a:r>
              <a:rPr lang="en-US" sz="1050">
                <a:solidFill>
                  <a:srgbClr val="46555F"/>
                </a:solidFill>
                <a:latin typeface="Arial"/>
                <a:ea typeface="Arial" pitchFamily="34" charset="-122"/>
                <a:cs typeface="Arial"/>
              </a:rPr>
              <a:t>SQLite </a:t>
            </a:r>
            <a:r>
              <a:rPr lang="en-US" sz="1050">
                <a:solidFill>
                  <a:srgbClr val="46555F"/>
                </a:solidFill>
                <a:latin typeface="Arial"/>
                <a:cs typeface="Arial"/>
              </a:rPr>
              <a:t>snapshot · 2,372 telemetry rows</a:t>
            </a:r>
            <a:br>
              <a:rPr lang="en-US" sz="1050">
                <a:solidFill>
                  <a:srgbClr val="46555F"/>
                </a:solidFill>
                <a:latin typeface="Arial"/>
                <a:cs typeface="Arial"/>
              </a:rPr>
            </a:br>
            <a:r>
              <a:rPr lang="en-US" sz="1050">
                <a:solidFill>
                  <a:srgbClr val="46555F"/>
                </a:solidFill>
                <a:latin typeface="Arial"/>
                <a:cs typeface="Arial"/>
              </a:rPr>
              <a:t>Read-only validation · SQL shown</a:t>
            </a:r>
            <a:endParaRPr lang="en-US"/>
          </a:p>
        </p:txBody>
      </p:sp>
      <p:sp>
        <p:nvSpPr>
          <p:cNvPr id="15" name="Shape 13"/>
          <p:cNvSpPr/>
          <p:nvPr/>
        </p:nvSpPr>
        <p:spPr>
          <a:xfrm>
            <a:off x="4069080" y="2214532"/>
            <a:ext cx="182880" cy="0"/>
          </a:xfrm>
          <a:prstGeom prst="line">
            <a:avLst/>
          </a:prstGeom>
          <a:noFill/>
          <a:ln w="19050">
            <a:solidFill>
              <a:srgbClr val="46555F"/>
            </a:solidFill>
            <a:prstDash val="solid"/>
          </a:ln>
        </p:spPr>
        <p:txBody>
          <a:bodyPr/>
          <a:lstStyle/>
          <a:p>
            <a:endParaRPr lang="en-US"/>
          </a:p>
        </p:txBody>
      </p:sp>
      <p:sp>
        <p:nvSpPr>
          <p:cNvPr id="16" name="Shape 14"/>
          <p:cNvSpPr/>
          <p:nvPr/>
        </p:nvSpPr>
        <p:spPr>
          <a:xfrm>
            <a:off x="4251960" y="1655064"/>
            <a:ext cx="0" cy="228600"/>
          </a:xfrm>
          <a:prstGeom prst="line">
            <a:avLst/>
          </a:prstGeom>
          <a:noFill/>
          <a:ln w="19050">
            <a:solidFill>
              <a:srgbClr val="46555F"/>
            </a:solidFill>
            <a:prstDash val="solid"/>
          </a:ln>
        </p:spPr>
        <p:txBody>
          <a:bodyPr/>
          <a:lstStyle/>
          <a:p>
            <a:endParaRPr lang="en-US"/>
          </a:p>
        </p:txBody>
      </p:sp>
      <p:sp>
        <p:nvSpPr>
          <p:cNvPr id="17" name="Shape 15"/>
          <p:cNvSpPr/>
          <p:nvPr/>
        </p:nvSpPr>
        <p:spPr>
          <a:xfrm>
            <a:off x="4251960" y="1655064"/>
            <a:ext cx="182880" cy="0"/>
          </a:xfrm>
          <a:prstGeom prst="line">
            <a:avLst/>
          </a:prstGeom>
          <a:noFill/>
          <a:ln w="19050">
            <a:solidFill>
              <a:srgbClr val="46555F"/>
            </a:solidFill>
            <a:prstDash val="solid"/>
            <a:tailEnd type="triangle"/>
          </a:ln>
        </p:spPr>
        <p:txBody>
          <a:bodyPr/>
          <a:lstStyle/>
          <a:p>
            <a:endParaRPr lang="en-US"/>
          </a:p>
        </p:txBody>
      </p:sp>
      <p:sp>
        <p:nvSpPr>
          <p:cNvPr id="18" name="Shape 16"/>
          <p:cNvSpPr/>
          <p:nvPr/>
        </p:nvSpPr>
        <p:spPr>
          <a:xfrm>
            <a:off x="4069080" y="2214532"/>
            <a:ext cx="182880" cy="0"/>
          </a:xfrm>
          <a:prstGeom prst="line">
            <a:avLst/>
          </a:prstGeom>
          <a:noFill/>
          <a:ln w="19050">
            <a:solidFill>
              <a:srgbClr val="46555F"/>
            </a:solidFill>
            <a:prstDash val="solid"/>
          </a:ln>
        </p:spPr>
        <p:txBody>
          <a:bodyPr/>
          <a:lstStyle/>
          <a:p>
            <a:endParaRPr lang="en-US"/>
          </a:p>
        </p:txBody>
      </p:sp>
      <p:sp>
        <p:nvSpPr>
          <p:cNvPr id="19" name="Shape 17"/>
          <p:cNvSpPr/>
          <p:nvPr/>
        </p:nvSpPr>
        <p:spPr>
          <a:xfrm>
            <a:off x="4251960" y="1883664"/>
            <a:ext cx="0" cy="914400"/>
          </a:xfrm>
          <a:prstGeom prst="line">
            <a:avLst/>
          </a:prstGeom>
          <a:noFill/>
          <a:ln w="19050">
            <a:solidFill>
              <a:srgbClr val="46555F"/>
            </a:solidFill>
            <a:prstDash val="solid"/>
          </a:ln>
        </p:spPr>
        <p:txBody>
          <a:bodyPr/>
          <a:lstStyle/>
          <a:p>
            <a:endParaRPr lang="en-US"/>
          </a:p>
        </p:txBody>
      </p:sp>
      <p:sp>
        <p:nvSpPr>
          <p:cNvPr id="20" name="Shape 18"/>
          <p:cNvSpPr/>
          <p:nvPr/>
        </p:nvSpPr>
        <p:spPr>
          <a:xfrm>
            <a:off x="4251960" y="2798064"/>
            <a:ext cx="182880" cy="0"/>
          </a:xfrm>
          <a:prstGeom prst="line">
            <a:avLst/>
          </a:prstGeom>
          <a:noFill/>
          <a:ln w="19050">
            <a:solidFill>
              <a:srgbClr val="46555F"/>
            </a:solidFill>
            <a:prstDash val="solid"/>
            <a:tailEnd type="triangle"/>
          </a:ln>
        </p:spPr>
        <p:txBody>
          <a:bodyPr/>
          <a:lstStyle/>
          <a:p>
            <a:endParaRPr lang="en-US"/>
          </a:p>
        </p:txBody>
      </p:sp>
      <p:sp>
        <p:nvSpPr>
          <p:cNvPr id="21" name="Shape 19"/>
          <p:cNvSpPr/>
          <p:nvPr/>
        </p:nvSpPr>
        <p:spPr>
          <a:xfrm>
            <a:off x="502920" y="3611880"/>
            <a:ext cx="8138160" cy="841248"/>
          </a:xfrm>
          <a:prstGeom prst="roundRect">
            <a:avLst>
              <a:gd name="adj" fmla="val 6522"/>
            </a:avLst>
          </a:prstGeom>
          <a:solidFill>
            <a:srgbClr val="1D252D"/>
          </a:solidFill>
          <a:ln w="12700">
            <a:solidFill>
              <a:srgbClr val="1D252D"/>
            </a:solidFill>
            <a:prstDash val="solid"/>
          </a:ln>
        </p:spPr>
        <p:txBody>
          <a:bodyPr/>
          <a:lstStyle/>
          <a:p>
            <a:endParaRPr lang="en-US"/>
          </a:p>
        </p:txBody>
      </p:sp>
      <p:sp>
        <p:nvSpPr>
          <p:cNvPr id="22" name="Text 20"/>
          <p:cNvSpPr/>
          <p:nvPr/>
        </p:nvSpPr>
        <p:spPr>
          <a:xfrm>
            <a:off x="777240" y="3730752"/>
            <a:ext cx="4206240" cy="274320"/>
          </a:xfrm>
          <a:prstGeom prst="rect">
            <a:avLst/>
          </a:prstGeom>
          <a:noFill/>
          <a:ln/>
        </p:spPr>
        <p:txBody>
          <a:bodyPr wrap="square" lIns="0" tIns="0" rIns="0" bIns="0" rtlCol="0" anchor="ctr"/>
          <a:lstStyle/>
          <a:p>
            <a:r>
              <a:rPr lang="en-US" sz="1200" b="1">
                <a:solidFill>
                  <a:srgbClr val="FFFFFF"/>
                </a:solidFill>
                <a:latin typeface="Arial"/>
                <a:ea typeface="Arial" pitchFamily="34" charset="-122"/>
                <a:cs typeface="Arial"/>
              </a:rPr>
              <a:t>RAG evidence check runs before the model is called:</a:t>
            </a:r>
            <a:endParaRPr lang="en-US" sz="1200">
              <a:solidFill>
                <a:srgbClr val="000000"/>
              </a:solidFill>
              <a:latin typeface="Arial"/>
              <a:ea typeface="Calibri" panose="020F0502020204030204"/>
              <a:cs typeface="Arial"/>
            </a:endParaRPr>
          </a:p>
        </p:txBody>
      </p:sp>
      <p:sp>
        <p:nvSpPr>
          <p:cNvPr id="23" name="Text 21"/>
          <p:cNvSpPr/>
          <p:nvPr/>
        </p:nvSpPr>
        <p:spPr>
          <a:xfrm>
            <a:off x="777240" y="4023360"/>
            <a:ext cx="7863840" cy="274320"/>
          </a:xfrm>
          <a:prstGeom prst="rect">
            <a:avLst/>
          </a:prstGeom>
          <a:noFill/>
          <a:ln/>
        </p:spPr>
        <p:txBody>
          <a:bodyPr wrap="square" lIns="0" tIns="0" rIns="0" bIns="0" rtlCol="0" anchor="ctr"/>
          <a:lstStyle/>
          <a:p>
            <a:pPr marL="0" indent="0">
              <a:buNone/>
            </a:pPr>
            <a:r>
              <a:rPr lang="en-US" sz="1100" b="1">
                <a:solidFill>
                  <a:srgbClr val="ED7D31"/>
                </a:solidFill>
                <a:latin typeface="Courier New"/>
                <a:cs typeface="Courier New"/>
              </a:rPr>
              <a:t>Keep chunks with score &gt;= </a:t>
            </a:r>
            <a:r>
              <a:rPr lang="en-US" sz="1100" b="1" err="1">
                <a:solidFill>
                  <a:srgbClr val="ED7D31"/>
                </a:solidFill>
                <a:latin typeface="Courier New"/>
                <a:cs typeface="Courier New"/>
              </a:rPr>
              <a:t>min_score</a:t>
            </a:r>
            <a:endParaRPr lang="en-US" b="1" err="1">
              <a:solidFill>
                <a:srgbClr val="ED7D31"/>
              </a:solidFill>
            </a:endParaRPr>
          </a:p>
          <a:p>
            <a:r>
              <a:rPr lang="en-US" sz="1100" b="1">
                <a:solidFill>
                  <a:srgbClr val="ED7D31"/>
                </a:solidFill>
                <a:latin typeface="Courier New"/>
                <a:cs typeface="Courier New"/>
              </a:rPr>
              <a:t>No trusted chunks → abstain</a:t>
            </a:r>
            <a:endParaRPr lang="en-US" b="1">
              <a:solidFill>
                <a:srgbClr val="ED7D31"/>
              </a:solidFill>
            </a:endParaRPr>
          </a:p>
        </p:txBody>
      </p:sp>
      <p:sp>
        <p:nvSpPr>
          <p:cNvPr id="25" name="TextBox 24">
            <a:extLst>
              <a:ext uri="{FF2B5EF4-FFF2-40B4-BE49-F238E27FC236}">
                <a16:creationId xmlns:a16="http://schemas.microsoft.com/office/drawing/2014/main" id="{2BC0CE38-59F6-A487-4E8F-26431D171A4D}"/>
              </a:ext>
            </a:extLst>
          </p:cNvPr>
          <p:cNvSpPr txBox="1"/>
          <p:nvPr/>
        </p:nvSpPr>
        <p:spPr>
          <a:xfrm>
            <a:off x="4985586" y="3752349"/>
            <a:ext cx="3406440" cy="553998"/>
          </a:xfrm>
          <a:prstGeom prst="rect">
            <a:avLst/>
          </a:prstGeom>
          <a:solidFill>
            <a:schemeClr val="accent1">
              <a:lumMod val="5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kern="1200">
                <a:solidFill>
                  <a:schemeClr val="bg1"/>
                </a:solidFill>
                <a:latin typeface="Courier New"/>
                <a:ea typeface="Courier New"/>
                <a:cs typeface="Courier New"/>
              </a:rPr>
              <a:t>trusted = </a:t>
            </a:r>
            <a:endParaRPr lang="en-US">
              <a:solidFill>
                <a:schemeClr val="bg1"/>
              </a:solidFill>
              <a:ea typeface="Calibri"/>
              <a:cs typeface="Calibri"/>
            </a:endParaRPr>
          </a:p>
          <a:p>
            <a:r>
              <a:rPr lang="en-US" sz="1000" kern="1200">
                <a:solidFill>
                  <a:schemeClr val="bg1"/>
                </a:solidFill>
                <a:latin typeface="Courier New"/>
                <a:ea typeface="Courier New"/>
                <a:cs typeface="Courier New"/>
              </a:rPr>
              <a:t>[h for h in hits if </a:t>
            </a:r>
            <a:r>
              <a:rPr lang="en-US" sz="1000" kern="1200" err="1">
                <a:solidFill>
                  <a:schemeClr val="bg1"/>
                </a:solidFill>
                <a:latin typeface="Courier New"/>
                <a:ea typeface="Courier New"/>
                <a:cs typeface="Courier New"/>
              </a:rPr>
              <a:t>h.score</a:t>
            </a:r>
            <a:r>
              <a:rPr lang="en-US" sz="1000" kern="1200">
                <a:solidFill>
                  <a:schemeClr val="bg1"/>
                </a:solidFill>
                <a:latin typeface="Courier New"/>
                <a:ea typeface="Courier New"/>
                <a:cs typeface="Courier New"/>
              </a:rPr>
              <a:t> &gt;=</a:t>
            </a:r>
            <a:r>
              <a:rPr lang="en-US" sz="1000">
                <a:solidFill>
                  <a:schemeClr val="bg1"/>
                </a:solidFill>
                <a:latin typeface="Courier New"/>
                <a:ea typeface="Courier New"/>
                <a:cs typeface="Courier New"/>
              </a:rPr>
              <a:t> </a:t>
            </a:r>
            <a:r>
              <a:rPr lang="en-US" sz="1000" kern="1200" err="1">
                <a:solidFill>
                  <a:schemeClr val="bg1"/>
                </a:solidFill>
                <a:latin typeface="Courier New"/>
                <a:ea typeface="Courier New"/>
                <a:cs typeface="Courier New"/>
              </a:rPr>
              <a:t>min_score</a:t>
            </a:r>
            <a:r>
              <a:rPr lang="en-US" sz="1000" kern="1200">
                <a:solidFill>
                  <a:schemeClr val="bg1"/>
                </a:solidFill>
                <a:latin typeface="Courier New"/>
                <a:ea typeface="Courier New"/>
                <a:cs typeface="Courier New"/>
              </a:rPr>
              <a:t>]</a:t>
            </a:r>
            <a:endParaRPr lang="en-US">
              <a:solidFill>
                <a:schemeClr val="bg1"/>
              </a:solidFill>
              <a:latin typeface="Calibri" panose="020F0502020204030204"/>
              <a:ea typeface="Calibri" panose="020F0502020204030204"/>
              <a:cs typeface="Calibri" panose="020F0502020204030204"/>
            </a:endParaRPr>
          </a:p>
          <a:p>
            <a:r>
              <a:rPr lang="en-US" sz="1000" kern="1200">
                <a:solidFill>
                  <a:schemeClr val="bg1"/>
                </a:solidFill>
                <a:latin typeface="Courier New"/>
                <a:ea typeface="Courier New"/>
                <a:cs typeface="Courier New"/>
              </a:rPr>
              <a:t> →  if empty, </a:t>
            </a:r>
            <a:r>
              <a:rPr lang="en-US" sz="1000">
                <a:solidFill>
                  <a:schemeClr val="bg1"/>
                </a:solidFill>
                <a:latin typeface="Courier New"/>
                <a:ea typeface="Courier New"/>
                <a:cs typeface="Courier New"/>
              </a:rPr>
              <a:t>abstain</a:t>
            </a:r>
            <a:endParaRPr lang="en-US">
              <a:solidFill>
                <a:schemeClr val="bg1"/>
              </a:solidFill>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10896"/>
            <a:ext cx="8138160" cy="219456"/>
          </a:xfrm>
          <a:prstGeom prst="rect">
            <a:avLst/>
          </a:prstGeom>
          <a:noFill/>
          <a:ln/>
        </p:spPr>
        <p:txBody>
          <a:bodyPr wrap="square" lIns="0" tIns="0" rIns="0" bIns="0" rtlCol="0" anchor="ctr"/>
          <a:lstStyle/>
          <a:p>
            <a:r>
              <a:rPr lang="en-US" sz="1100" b="1" kern="0" spc="200">
                <a:solidFill>
                  <a:srgbClr val="FD5000"/>
                </a:solidFill>
                <a:latin typeface="Arial"/>
                <a:ea typeface="Arial" pitchFamily="34" charset="-122"/>
                <a:cs typeface="Arial"/>
              </a:rPr>
              <a:t>EVALUATION</a:t>
            </a:r>
            <a:endParaRPr lang="en-US" sz="1100" b="1" kern="0" spc="200">
              <a:solidFill>
                <a:srgbClr val="FD5000"/>
              </a:solidFill>
              <a:latin typeface="Arial"/>
              <a:cs typeface="Arial"/>
            </a:endParaRPr>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buNone/>
            </a:pPr>
            <a:r>
              <a:rPr lang="en-US" sz="3000" b="1">
                <a:solidFill>
                  <a:srgbClr val="1D252D"/>
                </a:solidFill>
                <a:latin typeface="Arial" pitchFamily="34" charset="0"/>
                <a:ea typeface="Arial" pitchFamily="34" charset="-122"/>
                <a:cs typeface="Arial" pitchFamily="34" charset="-120"/>
              </a:rPr>
              <a:t>We measured it, we didn't assume it</a:t>
            </a:r>
            <a:endParaRPr lang="en-US" sz="3000"/>
          </a:p>
        </p:txBody>
      </p:sp>
      <p:sp>
        <p:nvSpPr>
          <p:cNvPr id="4" name="Text 2"/>
          <p:cNvSpPr/>
          <p:nvPr/>
        </p:nvSpPr>
        <p:spPr>
          <a:xfrm>
            <a:off x="502920" y="1071469"/>
            <a:ext cx="8138160" cy="566928"/>
          </a:xfrm>
          <a:prstGeom prst="rect">
            <a:avLst/>
          </a:prstGeom>
          <a:noFill/>
          <a:ln/>
        </p:spPr>
        <p:txBody>
          <a:bodyPr wrap="square" lIns="0" tIns="0" rIns="0" bIns="0" rtlCol="0" anchor="ctr"/>
          <a:lstStyle/>
          <a:p>
            <a:r>
              <a:rPr lang="en-US" sz="1300">
                <a:solidFill>
                  <a:schemeClr val="tx1">
                    <a:lumMod val="50000"/>
                    <a:lumOff val="50000"/>
                  </a:schemeClr>
                </a:solidFill>
                <a:latin typeface="Arial"/>
                <a:ea typeface="Arial" pitchFamily="34" charset="-122"/>
                <a:cs typeface="Arial"/>
              </a:rPr>
              <a:t>17-case golden set. </a:t>
            </a:r>
            <a:r>
              <a:rPr lang="en-US" sz="1300">
                <a:solidFill>
                  <a:schemeClr val="tx2"/>
                </a:solidFill>
                <a:latin typeface="Arial"/>
                <a:ea typeface="Arial" pitchFamily="34" charset="-122"/>
                <a:cs typeface="Arial"/>
              </a:rPr>
              <a:t>Mean Reciprocal Rank across every chunking strategy (split the documents) </a:t>
            </a:r>
            <a:r>
              <a:rPr lang="en-US" sz="1400">
                <a:solidFill>
                  <a:schemeClr val="tx2"/>
                </a:solidFill>
              </a:rPr>
              <a:t>against every </a:t>
            </a:r>
            <a:r>
              <a:rPr lang="en-US" sz="1400" b="1">
                <a:solidFill>
                  <a:schemeClr val="tx2"/>
                </a:solidFill>
              </a:rPr>
              <a:t>r</a:t>
            </a:r>
            <a:r>
              <a:rPr lang="en-US" sz="1400">
                <a:solidFill>
                  <a:schemeClr val="tx2"/>
                </a:solidFill>
              </a:rPr>
              <a:t>etriever (search them)</a:t>
            </a:r>
            <a:endParaRPr lang="en-US" sz="1300">
              <a:solidFill>
                <a:schemeClr val="tx2"/>
              </a:solidFill>
            </a:endParaRPr>
          </a:p>
        </p:txBody>
      </p:sp>
      <p:graphicFrame>
        <p:nvGraphicFramePr>
          <p:cNvPr id="5" name="Chart 0"/>
          <p:cNvGraphicFramePr/>
          <p:nvPr>
            <p:extLst>
              <p:ext uri="{D42A27DB-BD31-4B8C-83A1-F6EECF244321}">
                <p14:modId xmlns:p14="http://schemas.microsoft.com/office/powerpoint/2010/main" val="1107082517"/>
              </p:ext>
            </p:extLst>
          </p:nvPr>
        </p:nvGraphicFramePr>
        <p:xfrm>
          <a:off x="502920" y="1645920"/>
          <a:ext cx="5029200" cy="26974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806440" y="1664208"/>
            <a:ext cx="310896" cy="310896"/>
          </a:xfrm>
          <a:prstGeom prst="ellipse">
            <a:avLst/>
          </a:prstGeom>
          <a:solidFill>
            <a:srgbClr val="FD5000"/>
          </a:solidFill>
          <a:ln/>
        </p:spPr>
        <p:txBody>
          <a:bodyPr/>
          <a:lstStyle/>
          <a:p>
            <a:endParaRPr lang="en-US"/>
          </a:p>
        </p:txBody>
      </p:sp>
      <p:sp>
        <p:nvSpPr>
          <p:cNvPr id="7" name="Text 4"/>
          <p:cNvSpPr/>
          <p:nvPr/>
        </p:nvSpPr>
        <p:spPr>
          <a:xfrm>
            <a:off x="5806440" y="1664208"/>
            <a:ext cx="310896" cy="310896"/>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1</a:t>
            </a:r>
            <a:endParaRPr lang="en-US" sz="1300"/>
          </a:p>
        </p:txBody>
      </p:sp>
      <p:sp>
        <p:nvSpPr>
          <p:cNvPr id="8" name="Text 5"/>
          <p:cNvSpPr/>
          <p:nvPr/>
        </p:nvSpPr>
        <p:spPr>
          <a:xfrm>
            <a:off x="6236208" y="1645920"/>
            <a:ext cx="2468880" cy="237744"/>
          </a:xfrm>
          <a:prstGeom prst="rect">
            <a:avLst/>
          </a:prstGeom>
          <a:noFill/>
          <a:ln/>
        </p:spPr>
        <p:txBody>
          <a:bodyPr wrap="square" lIns="0" tIns="0" rIns="0" bIns="0" rtlCol="0" anchor="ctr"/>
          <a:lstStyle/>
          <a:p>
            <a:pPr marL="0" indent="0">
              <a:buNone/>
            </a:pPr>
            <a:r>
              <a:rPr lang="en-US" sz="1200" b="1">
                <a:solidFill>
                  <a:srgbClr val="1D252D"/>
                </a:solidFill>
                <a:latin typeface="Arial" pitchFamily="34" charset="0"/>
                <a:ea typeface="Arial" pitchFamily="34" charset="-122"/>
                <a:cs typeface="Arial" pitchFamily="34" charset="-120"/>
              </a:rPr>
              <a:t>Best config</a:t>
            </a:r>
            <a:endParaRPr lang="en-US" sz="1200"/>
          </a:p>
        </p:txBody>
      </p:sp>
      <p:sp>
        <p:nvSpPr>
          <p:cNvPr id="9" name="Text 6"/>
          <p:cNvSpPr/>
          <p:nvPr/>
        </p:nvSpPr>
        <p:spPr>
          <a:xfrm>
            <a:off x="6236208" y="1901952"/>
            <a:ext cx="2514600" cy="566928"/>
          </a:xfrm>
          <a:prstGeom prst="rect">
            <a:avLst/>
          </a:prstGeom>
          <a:noFill/>
          <a:ln/>
        </p:spPr>
        <p:txBody>
          <a:bodyPr wrap="square" lIns="0" tIns="0" rIns="0" bIns="0" rtlCol="0" anchor="ctr"/>
          <a:lstStyle/>
          <a:p>
            <a:pPr marL="0" indent="0">
              <a:buNone/>
            </a:pPr>
            <a:r>
              <a:rPr lang="en-US" sz="1050">
                <a:solidFill>
                  <a:srgbClr val="46555F"/>
                </a:solidFill>
                <a:latin typeface="Arial" pitchFamily="34" charset="0"/>
                <a:ea typeface="Arial" pitchFamily="34" charset="-122"/>
                <a:cs typeface="Arial" pitchFamily="34" charset="-120"/>
              </a:rPr>
              <a:t>metadata_aware chunking</a:t>
            </a:r>
            <a:endParaRPr lang="en-US" sz="1050"/>
          </a:p>
          <a:p>
            <a:pPr marL="0" indent="0">
              <a:buNone/>
            </a:pPr>
            <a:r>
              <a:rPr lang="en-US" sz="1050">
                <a:solidFill>
                  <a:srgbClr val="46555F"/>
                </a:solidFill>
                <a:latin typeface="Arial" pitchFamily="34" charset="0"/>
                <a:ea typeface="Arial" pitchFamily="34" charset="-122"/>
                <a:cs typeface="Arial" pitchFamily="34" charset="-120"/>
              </a:rPr>
              <a:t>+ vector retrieval  →  MRR 0.93</a:t>
            </a:r>
            <a:endParaRPr lang="en-US" sz="1050"/>
          </a:p>
        </p:txBody>
      </p:sp>
      <p:sp>
        <p:nvSpPr>
          <p:cNvPr id="10" name="Shape 7"/>
          <p:cNvSpPr/>
          <p:nvPr/>
        </p:nvSpPr>
        <p:spPr>
          <a:xfrm>
            <a:off x="5806440" y="2596896"/>
            <a:ext cx="310896" cy="310896"/>
          </a:xfrm>
          <a:prstGeom prst="ellipse">
            <a:avLst/>
          </a:prstGeom>
          <a:solidFill>
            <a:srgbClr val="FD5000"/>
          </a:solidFill>
          <a:ln/>
        </p:spPr>
        <p:txBody>
          <a:bodyPr/>
          <a:lstStyle/>
          <a:p>
            <a:endParaRPr lang="en-US"/>
          </a:p>
        </p:txBody>
      </p:sp>
      <p:sp>
        <p:nvSpPr>
          <p:cNvPr id="11" name="Text 8"/>
          <p:cNvSpPr/>
          <p:nvPr/>
        </p:nvSpPr>
        <p:spPr>
          <a:xfrm>
            <a:off x="5806440" y="2596896"/>
            <a:ext cx="310896" cy="310896"/>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2</a:t>
            </a:r>
            <a:endParaRPr lang="en-US" sz="1300"/>
          </a:p>
        </p:txBody>
      </p:sp>
      <p:sp>
        <p:nvSpPr>
          <p:cNvPr id="12" name="Text 9"/>
          <p:cNvSpPr/>
          <p:nvPr/>
        </p:nvSpPr>
        <p:spPr>
          <a:xfrm>
            <a:off x="6236208" y="2578608"/>
            <a:ext cx="2468880" cy="237744"/>
          </a:xfrm>
          <a:prstGeom prst="rect">
            <a:avLst/>
          </a:prstGeom>
          <a:noFill/>
          <a:ln/>
        </p:spPr>
        <p:txBody>
          <a:bodyPr wrap="square" lIns="0" tIns="0" rIns="0" bIns="0" rtlCol="0" anchor="ctr"/>
          <a:lstStyle/>
          <a:p>
            <a:pPr marL="0" indent="0">
              <a:buNone/>
            </a:pPr>
            <a:r>
              <a:rPr lang="en-US" sz="1200" b="1">
                <a:solidFill>
                  <a:srgbClr val="1D252D"/>
                </a:solidFill>
                <a:latin typeface="Arial" pitchFamily="34" charset="0"/>
                <a:ea typeface="Arial" pitchFamily="34" charset="-122"/>
                <a:cs typeface="Arial" pitchFamily="34" charset="-120"/>
              </a:rPr>
              <a:t>Reported as found</a:t>
            </a:r>
            <a:endParaRPr lang="en-US" sz="1200"/>
          </a:p>
        </p:txBody>
      </p:sp>
      <p:sp>
        <p:nvSpPr>
          <p:cNvPr id="13" name="Text 10"/>
          <p:cNvSpPr/>
          <p:nvPr/>
        </p:nvSpPr>
        <p:spPr>
          <a:xfrm>
            <a:off x="6236208" y="2834640"/>
            <a:ext cx="2514600" cy="566928"/>
          </a:xfrm>
          <a:prstGeom prst="rect">
            <a:avLst/>
          </a:prstGeom>
          <a:noFill/>
          <a:ln/>
        </p:spPr>
        <p:txBody>
          <a:bodyPr wrap="square" lIns="0" tIns="0" rIns="0" bIns="0" rtlCol="0" anchor="ctr"/>
          <a:lstStyle/>
          <a:p>
            <a:pPr marL="0" indent="0">
              <a:buNone/>
            </a:pPr>
            <a:r>
              <a:rPr lang="en-US" sz="1050">
                <a:solidFill>
                  <a:srgbClr val="46555F"/>
                </a:solidFill>
                <a:latin typeface="Arial" pitchFamily="34" charset="0"/>
                <a:ea typeface="Arial" pitchFamily="34" charset="-122"/>
                <a:cs typeface="Arial" pitchFamily="34" charset="-120"/>
              </a:rPr>
              <a:t>Hybrid RRF scored WORSE than</a:t>
            </a:r>
            <a:endParaRPr lang="en-US" sz="1050"/>
          </a:p>
          <a:p>
            <a:pPr marL="0" indent="0">
              <a:buNone/>
            </a:pPr>
            <a:r>
              <a:rPr lang="en-US" sz="1050">
                <a:solidFill>
                  <a:srgbClr val="46555F"/>
                </a:solidFill>
                <a:latin typeface="Arial" pitchFamily="34" charset="0"/>
                <a:ea typeface="Arial" pitchFamily="34" charset="-122"/>
                <a:cs typeface="Arial" pitchFamily="34" charset="-120"/>
              </a:rPr>
              <a:t>pure vector (0.88 vs 0.93)</a:t>
            </a:r>
            <a:endParaRPr lang="en-US" sz="1050"/>
          </a:p>
        </p:txBody>
      </p:sp>
      <p:sp>
        <p:nvSpPr>
          <p:cNvPr id="14" name="Shape 11"/>
          <p:cNvSpPr/>
          <p:nvPr/>
        </p:nvSpPr>
        <p:spPr>
          <a:xfrm>
            <a:off x="5806440" y="3529584"/>
            <a:ext cx="310896" cy="310896"/>
          </a:xfrm>
          <a:prstGeom prst="ellipse">
            <a:avLst/>
          </a:prstGeom>
          <a:solidFill>
            <a:srgbClr val="FD5000"/>
          </a:solidFill>
          <a:ln/>
        </p:spPr>
        <p:txBody>
          <a:bodyPr/>
          <a:lstStyle/>
          <a:p>
            <a:endParaRPr lang="en-US"/>
          </a:p>
        </p:txBody>
      </p:sp>
      <p:sp>
        <p:nvSpPr>
          <p:cNvPr id="15" name="Text 12"/>
          <p:cNvSpPr/>
          <p:nvPr/>
        </p:nvSpPr>
        <p:spPr>
          <a:xfrm>
            <a:off x="5806440" y="3529584"/>
            <a:ext cx="310896" cy="310896"/>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3</a:t>
            </a:r>
            <a:endParaRPr lang="en-US" sz="1300"/>
          </a:p>
        </p:txBody>
      </p:sp>
      <p:sp>
        <p:nvSpPr>
          <p:cNvPr id="16" name="Text 13"/>
          <p:cNvSpPr/>
          <p:nvPr/>
        </p:nvSpPr>
        <p:spPr>
          <a:xfrm>
            <a:off x="6236208" y="3511296"/>
            <a:ext cx="2468880" cy="237744"/>
          </a:xfrm>
          <a:prstGeom prst="rect">
            <a:avLst/>
          </a:prstGeom>
          <a:noFill/>
          <a:ln/>
        </p:spPr>
        <p:txBody>
          <a:bodyPr wrap="square" lIns="0" tIns="0" rIns="0" bIns="0" rtlCol="0" anchor="ctr"/>
          <a:lstStyle/>
          <a:p>
            <a:pPr marL="0" indent="0">
              <a:buNone/>
            </a:pPr>
            <a:r>
              <a:rPr lang="en-US" sz="1200" b="1">
                <a:solidFill>
                  <a:srgbClr val="1D252D"/>
                </a:solidFill>
                <a:latin typeface="Arial" pitchFamily="34" charset="0"/>
                <a:ea typeface="Arial" pitchFamily="34" charset="-122"/>
                <a:cs typeface="Arial" pitchFamily="34" charset="-120"/>
              </a:rPr>
              <a:t>Hit@5</a:t>
            </a:r>
            <a:endParaRPr lang="en-US" sz="1200"/>
          </a:p>
        </p:txBody>
      </p:sp>
      <p:sp>
        <p:nvSpPr>
          <p:cNvPr id="17" name="Text 14"/>
          <p:cNvSpPr/>
          <p:nvPr/>
        </p:nvSpPr>
        <p:spPr>
          <a:xfrm>
            <a:off x="6236208" y="3767328"/>
            <a:ext cx="2514600" cy="566928"/>
          </a:xfrm>
          <a:prstGeom prst="rect">
            <a:avLst/>
          </a:prstGeom>
          <a:noFill/>
          <a:ln/>
        </p:spPr>
        <p:txBody>
          <a:bodyPr wrap="square" lIns="0" tIns="0" rIns="0" bIns="0" rtlCol="0" anchor="ctr"/>
          <a:lstStyle/>
          <a:p>
            <a:pPr marL="0" indent="0">
              <a:buNone/>
            </a:pPr>
            <a:r>
              <a:rPr lang="en-US" sz="1050">
                <a:solidFill>
                  <a:srgbClr val="46555F"/>
                </a:solidFill>
                <a:latin typeface="Arial" pitchFamily="34" charset="0"/>
                <a:ea typeface="Arial" pitchFamily="34" charset="-122"/>
                <a:cs typeface="Arial" pitchFamily="34" charset="-120"/>
              </a:rPr>
              <a:t>1.00 across all strategies —</a:t>
            </a:r>
            <a:endParaRPr lang="en-US" sz="1050"/>
          </a:p>
          <a:p>
            <a:pPr marL="0" indent="0">
              <a:buNone/>
            </a:pPr>
            <a:r>
              <a:rPr lang="en-US" sz="1050">
                <a:solidFill>
                  <a:srgbClr val="46555F"/>
                </a:solidFill>
                <a:latin typeface="Arial" pitchFamily="34" charset="0"/>
                <a:ea typeface="Arial" pitchFamily="34" charset="-122"/>
                <a:cs typeface="Arial" pitchFamily="34" charset="-120"/>
              </a:rPr>
              <a:t>the right doc is always retrieved</a:t>
            </a:r>
            <a:endParaRPr lang="en-US" sz="1050"/>
          </a:p>
        </p:txBody>
      </p:sp>
      <p:sp>
        <p:nvSpPr>
          <p:cNvPr id="18" name="Text 15"/>
          <p:cNvSpPr/>
          <p:nvPr/>
        </p:nvSpPr>
        <p:spPr>
          <a:xfrm>
            <a:off x="5998723" y="4690872"/>
            <a:ext cx="3073941" cy="274320"/>
          </a:xfrm>
          <a:prstGeom prst="rect">
            <a:avLst/>
          </a:prstGeom>
          <a:noFill/>
          <a:ln/>
        </p:spPr>
        <p:txBody>
          <a:bodyPr wrap="square" lIns="0" tIns="0" rIns="0" bIns="0" rtlCol="0" anchor="ctr"/>
          <a:lstStyle/>
          <a:p>
            <a:pPr marL="0" indent="0">
              <a:buNone/>
            </a:pPr>
            <a:r>
              <a:rPr lang="en-US" sz="800" i="1">
                <a:solidFill>
                  <a:srgbClr val="1D252D"/>
                </a:solidFill>
                <a:latin typeface="Arial" pitchFamily="34" charset="0"/>
                <a:ea typeface="Arial" pitchFamily="34" charset="-122"/>
                <a:cs typeface="Arial" pitchFamily="34" charset="-120"/>
              </a:rPr>
              <a:t>MRR Mean Reciprocal Rank : how high up the correct document appears in search results.</a:t>
            </a:r>
          </a:p>
          <a:p>
            <a:pPr marL="0" indent="0">
              <a:buNone/>
            </a:pPr>
            <a:endParaRPr lang="en-US" sz="800" i="1">
              <a:solidFill>
                <a:srgbClr val="1D252D"/>
              </a:solidFill>
              <a:latin typeface="Arial" pitchFamily="34" charset="0"/>
              <a:ea typeface="Arial" pitchFamily="34" charset="-122"/>
              <a:cs typeface="Arial" pitchFamily="34" charset="-120"/>
            </a:endParaRPr>
          </a:p>
          <a:p>
            <a:pPr marL="0" indent="0">
              <a:buNone/>
            </a:pPr>
            <a:r>
              <a:rPr lang="en-US" sz="800" i="1">
                <a:solidFill>
                  <a:srgbClr val="1D252D"/>
                </a:solidFill>
                <a:latin typeface="Arial" pitchFamily="34" charset="0"/>
                <a:ea typeface="Arial" pitchFamily="34" charset="-122"/>
                <a:cs typeface="Arial" pitchFamily="34" charset="-120"/>
              </a:rPr>
              <a:t>Hit@5 = was the correct document somewhere in the top 5 retrieved results?</a:t>
            </a:r>
          </a:p>
          <a:p>
            <a:pPr marL="0" indent="0">
              <a:buNone/>
            </a:pPr>
            <a:endParaRPr lang="en-US" sz="900"/>
          </a:p>
        </p:txBody>
      </p:sp>
      <p:sp>
        <p:nvSpPr>
          <p:cNvPr id="19" name="Text 15">
            <a:extLst>
              <a:ext uri="{FF2B5EF4-FFF2-40B4-BE49-F238E27FC236}">
                <a16:creationId xmlns:a16="http://schemas.microsoft.com/office/drawing/2014/main" id="{6C515F7B-826F-1E45-0D0A-11408B6265ED}"/>
              </a:ext>
            </a:extLst>
          </p:cNvPr>
          <p:cNvSpPr/>
          <p:nvPr/>
        </p:nvSpPr>
        <p:spPr>
          <a:xfrm>
            <a:off x="355708" y="4594860"/>
            <a:ext cx="5029200" cy="283464"/>
          </a:xfrm>
          <a:prstGeom prst="rect">
            <a:avLst/>
          </a:prstGeom>
          <a:noFill/>
          <a:ln/>
        </p:spPr>
        <p:txBody>
          <a:bodyPr wrap="square" lIns="0" tIns="0" rIns="0" bIns="0" rtlCol="0" anchor="ctr"/>
          <a:lstStyle/>
          <a:p>
            <a:pPr marL="0" indent="0">
              <a:buNone/>
            </a:pPr>
            <a:r>
              <a:rPr lang="en-US" sz="800" i="1">
                <a:solidFill>
                  <a:schemeClr val="tx1">
                    <a:lumMod val="65000"/>
                    <a:lumOff val="35000"/>
                  </a:schemeClr>
                </a:solidFill>
                <a:latin typeface="Arial" panose="020B0604020202020204" pitchFamily="34" charset="0"/>
                <a:ea typeface="Arial" pitchFamily="34" charset="-122"/>
                <a:cs typeface="Arial" panose="020B0604020202020204" pitchFamily="34" charset="0"/>
              </a:rPr>
              <a:t>BM25: Keyword matching</a:t>
            </a:r>
          </a:p>
          <a:p>
            <a:r>
              <a:rPr lang="en-US" sz="800" i="1">
                <a:solidFill>
                  <a:schemeClr val="tx1">
                    <a:lumMod val="65000"/>
                    <a:lumOff val="35000"/>
                  </a:schemeClr>
                </a:solidFill>
                <a:latin typeface="Arial" panose="020B0604020202020204" pitchFamily="34" charset="0"/>
                <a:cs typeface="Arial" panose="020B0604020202020204" pitchFamily="34" charset="0"/>
              </a:rPr>
              <a:t>Hybrid RRF : V</a:t>
            </a:r>
            <a:r>
              <a:rPr lang="en-US" sz="800">
                <a:solidFill>
                  <a:schemeClr val="tx1">
                    <a:lumMod val="65000"/>
                    <a:lumOff val="35000"/>
                  </a:schemeClr>
                </a:solidFill>
                <a:latin typeface="Arial" panose="020B0604020202020204" pitchFamily="34" charset="0"/>
                <a:cs typeface="Arial" panose="020B0604020202020204" pitchFamily="34" charset="0"/>
              </a:rPr>
              <a:t>ector + keyword</a:t>
            </a:r>
          </a:p>
          <a:p>
            <a:r>
              <a:rPr lang="en-US" sz="800" i="1">
                <a:solidFill>
                  <a:schemeClr val="tx1">
                    <a:lumMod val="65000"/>
                    <a:lumOff val="35000"/>
                  </a:schemeClr>
                </a:solidFill>
                <a:latin typeface="Arial" panose="020B0604020202020204" pitchFamily="34" charset="0"/>
                <a:cs typeface="Arial" panose="020B0604020202020204" pitchFamily="34" charset="0"/>
              </a:rPr>
              <a:t>Recursive</a:t>
            </a:r>
            <a:r>
              <a:rPr lang="en-US" sz="800">
                <a:solidFill>
                  <a:schemeClr val="tx1">
                    <a:lumMod val="65000"/>
                    <a:lumOff val="35000"/>
                  </a:schemeClr>
                </a:solidFill>
                <a:latin typeface="Arial" panose="020B0604020202020204" pitchFamily="34" charset="0"/>
                <a:cs typeface="Arial" panose="020B0604020202020204" pitchFamily="34" charset="0"/>
              </a:rPr>
              <a:t> : Splits along natural structure</a:t>
            </a:r>
          </a:p>
          <a:p>
            <a:r>
              <a:rPr lang="en-US" sz="800" i="1" err="1">
                <a:solidFill>
                  <a:schemeClr val="tx1">
                    <a:lumMod val="65000"/>
                    <a:lumOff val="35000"/>
                  </a:schemeClr>
                </a:solidFill>
                <a:latin typeface="Arial" panose="020B0604020202020204" pitchFamily="34" charset="0"/>
                <a:cs typeface="Arial" panose="020B0604020202020204" pitchFamily="34" charset="0"/>
              </a:rPr>
              <a:t>Metadata_aware</a:t>
            </a:r>
            <a:r>
              <a:rPr lang="en-US" sz="800" i="1">
                <a:solidFill>
                  <a:schemeClr val="tx1">
                    <a:lumMod val="65000"/>
                    <a:lumOff val="35000"/>
                  </a:schemeClr>
                </a:solidFill>
                <a:latin typeface="Arial" panose="020B0604020202020204" pitchFamily="34" charset="0"/>
                <a:cs typeface="Arial" panose="020B0604020202020204" pitchFamily="34" charset="0"/>
              </a:rPr>
              <a:t> </a:t>
            </a:r>
            <a:r>
              <a:rPr lang="en-US" sz="800">
                <a:solidFill>
                  <a:schemeClr val="tx1">
                    <a:lumMod val="65000"/>
                    <a:lumOff val="35000"/>
                  </a:schemeClr>
                </a:solidFill>
                <a:latin typeface="Arial" panose="020B0604020202020204" pitchFamily="34" charset="0"/>
                <a:cs typeface="Arial" panose="020B0604020202020204" pitchFamily="34" charset="0"/>
              </a:rPr>
              <a:t>: Each chunk tagged with its section and page</a:t>
            </a:r>
          </a:p>
          <a:p>
            <a:r>
              <a:rPr lang="en-US" sz="800" i="1">
                <a:solidFill>
                  <a:schemeClr val="tx1">
                    <a:lumMod val="65000"/>
                    <a:lumOff val="35000"/>
                  </a:schemeClr>
                </a:solidFill>
                <a:latin typeface="Arial" panose="020B0604020202020204" pitchFamily="34" charset="0"/>
                <a:cs typeface="Arial" panose="020B0604020202020204" pitchFamily="34" charset="0"/>
              </a:rPr>
              <a:t>Fixed : Equal-size pieces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D252D"/>
        </a:solidFill>
        <a:effectLst/>
      </p:bgPr>
    </p:bg>
    <p:spTree>
      <p:nvGrpSpPr>
        <p:cNvPr id="1" name=""/>
        <p:cNvGrpSpPr/>
        <p:nvPr/>
      </p:nvGrpSpPr>
      <p:grpSpPr>
        <a:xfrm>
          <a:off x="0" y="0"/>
          <a:ext cx="0" cy="0"/>
          <a:chOff x="0" y="0"/>
          <a:chExt cx="0" cy="0"/>
        </a:xfrm>
      </p:grpSpPr>
      <p:sp>
        <p:nvSpPr>
          <p:cNvPr id="2" name="Text 0"/>
          <p:cNvSpPr/>
          <p:nvPr/>
        </p:nvSpPr>
        <p:spPr>
          <a:xfrm>
            <a:off x="502920" y="310896"/>
            <a:ext cx="5486400" cy="219456"/>
          </a:xfrm>
          <a:prstGeom prst="rect">
            <a:avLst/>
          </a:prstGeom>
          <a:noFill/>
          <a:ln/>
        </p:spPr>
        <p:txBody>
          <a:bodyPr wrap="square" lIns="0" tIns="0" rIns="0" bIns="0" rtlCol="0" anchor="ctr"/>
          <a:lstStyle/>
          <a:p>
            <a:pPr marL="0" indent="0">
              <a:buNone/>
            </a:pPr>
            <a:r>
              <a:rPr lang="en-US" sz="1100" b="1" kern="0" spc="200">
                <a:solidFill>
                  <a:srgbClr val="FD5000"/>
                </a:solidFill>
                <a:latin typeface="Arial" pitchFamily="34" charset="0"/>
                <a:ea typeface="Arial" pitchFamily="34" charset="-122"/>
                <a:cs typeface="Arial" pitchFamily="34" charset="-120"/>
              </a:rPr>
              <a:t>GROUNDING</a:t>
            </a:r>
            <a:endParaRPr lang="en-US" sz="110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buNone/>
            </a:pPr>
            <a:r>
              <a:rPr lang="en-US" sz="3000" b="1">
                <a:solidFill>
                  <a:srgbClr val="FFFFFF"/>
                </a:solidFill>
                <a:latin typeface="Arial" pitchFamily="34" charset="0"/>
                <a:ea typeface="Arial" pitchFamily="34" charset="-122"/>
                <a:cs typeface="Arial" pitchFamily="34" charset="-120"/>
              </a:rPr>
              <a:t>Knowing when to say nothing</a:t>
            </a:r>
            <a:endParaRPr lang="en-US" sz="3000"/>
          </a:p>
        </p:txBody>
      </p:sp>
      <p:sp>
        <p:nvSpPr>
          <p:cNvPr id="4" name="Text 2"/>
          <p:cNvSpPr/>
          <p:nvPr/>
        </p:nvSpPr>
        <p:spPr>
          <a:xfrm>
            <a:off x="502920" y="1261872"/>
            <a:ext cx="8138160" cy="274320"/>
          </a:xfrm>
          <a:prstGeom prst="rect">
            <a:avLst/>
          </a:prstGeom>
          <a:noFill/>
          <a:ln/>
        </p:spPr>
        <p:txBody>
          <a:bodyPr wrap="square" lIns="0" tIns="0" rIns="0" bIns="0" rtlCol="0" anchor="ctr"/>
          <a:lstStyle/>
          <a:p>
            <a:pPr marL="0" indent="0">
              <a:buNone/>
            </a:pPr>
            <a:r>
              <a:rPr lang="en-US" sz="1300">
                <a:solidFill>
                  <a:srgbClr val="B9C0CA"/>
                </a:solidFill>
                <a:latin typeface="Arial" pitchFamily="34" charset="0"/>
                <a:ea typeface="Arial" pitchFamily="34" charset="-122"/>
                <a:cs typeface="Arial" pitchFamily="34" charset="-120"/>
              </a:rPr>
              <a:t>Score distributions, measured on our corpus:</a:t>
            </a:r>
            <a:endParaRPr lang="en-US" sz="1300"/>
          </a:p>
        </p:txBody>
      </p:sp>
      <p:sp>
        <p:nvSpPr>
          <p:cNvPr id="5" name="Text 3"/>
          <p:cNvSpPr/>
          <p:nvPr/>
        </p:nvSpPr>
        <p:spPr>
          <a:xfrm>
            <a:off x="502920" y="1664208"/>
            <a:ext cx="2743200" cy="365760"/>
          </a:xfrm>
          <a:prstGeom prst="rect">
            <a:avLst/>
          </a:prstGeom>
          <a:noFill/>
          <a:ln/>
        </p:spPr>
        <p:txBody>
          <a:bodyPr wrap="square" lIns="0" tIns="0" rIns="0" bIns="0" rtlCol="0" anchor="ctr"/>
          <a:lstStyle/>
          <a:p>
            <a:pPr marL="0" indent="0">
              <a:buNone/>
            </a:pPr>
            <a:r>
              <a:rPr lang="en-US" sz="1300">
                <a:solidFill>
                  <a:srgbClr val="FFFFFF"/>
                </a:solidFill>
                <a:latin typeface="Arial" pitchFamily="34" charset="0"/>
                <a:ea typeface="Arial" pitchFamily="34" charset="-122"/>
                <a:cs typeface="Arial" pitchFamily="34" charset="-120"/>
              </a:rPr>
              <a:t>Grounded questions</a:t>
            </a:r>
            <a:endParaRPr lang="en-US" sz="1300"/>
          </a:p>
        </p:txBody>
      </p:sp>
      <p:sp>
        <p:nvSpPr>
          <p:cNvPr id="6" name="Text 4"/>
          <p:cNvSpPr/>
          <p:nvPr/>
        </p:nvSpPr>
        <p:spPr>
          <a:xfrm>
            <a:off x="3291840" y="1664208"/>
            <a:ext cx="2377440" cy="365760"/>
          </a:xfrm>
          <a:prstGeom prst="rect">
            <a:avLst/>
          </a:prstGeom>
          <a:noFill/>
          <a:ln/>
        </p:spPr>
        <p:txBody>
          <a:bodyPr wrap="square" lIns="0" tIns="0" rIns="0" bIns="0" rtlCol="0" anchor="ctr"/>
          <a:lstStyle/>
          <a:p>
            <a:pPr marL="0" indent="0">
              <a:buNone/>
            </a:pPr>
            <a:r>
              <a:rPr lang="en-US" sz="1500" b="1">
                <a:solidFill>
                  <a:srgbClr val="FD5000"/>
                </a:solidFill>
                <a:latin typeface="Courier New" pitchFamily="34" charset="0"/>
                <a:ea typeface="Courier New" pitchFamily="34" charset="-122"/>
                <a:cs typeface="Courier New" pitchFamily="34" charset="-120"/>
              </a:rPr>
              <a:t>0.643  —  0.847</a:t>
            </a:r>
            <a:endParaRPr lang="en-US" sz="1500"/>
          </a:p>
        </p:txBody>
      </p:sp>
      <p:sp>
        <p:nvSpPr>
          <p:cNvPr id="7" name="Text 5"/>
          <p:cNvSpPr/>
          <p:nvPr/>
        </p:nvSpPr>
        <p:spPr>
          <a:xfrm>
            <a:off x="502920" y="2322576"/>
            <a:ext cx="2743200" cy="365760"/>
          </a:xfrm>
          <a:prstGeom prst="rect">
            <a:avLst/>
          </a:prstGeom>
          <a:noFill/>
          <a:ln/>
        </p:spPr>
        <p:txBody>
          <a:bodyPr wrap="square" lIns="0" tIns="0" rIns="0" bIns="0" rtlCol="0" anchor="ctr"/>
          <a:lstStyle/>
          <a:p>
            <a:pPr marL="0" indent="0">
              <a:buNone/>
            </a:pPr>
            <a:r>
              <a:rPr lang="en-US" sz="1300">
                <a:solidFill>
                  <a:srgbClr val="FFFFFF"/>
                </a:solidFill>
                <a:latin typeface="Arial" pitchFamily="34" charset="0"/>
                <a:ea typeface="Arial" pitchFamily="34" charset="-122"/>
                <a:cs typeface="Arial" pitchFamily="34" charset="-120"/>
              </a:rPr>
              <a:t>Adversarial questions</a:t>
            </a:r>
            <a:endParaRPr lang="en-US" sz="1300"/>
          </a:p>
        </p:txBody>
      </p:sp>
      <p:sp>
        <p:nvSpPr>
          <p:cNvPr id="8" name="Text 6"/>
          <p:cNvSpPr/>
          <p:nvPr/>
        </p:nvSpPr>
        <p:spPr>
          <a:xfrm>
            <a:off x="3291840" y="2322576"/>
            <a:ext cx="2377440" cy="365760"/>
          </a:xfrm>
          <a:prstGeom prst="rect">
            <a:avLst/>
          </a:prstGeom>
          <a:noFill/>
          <a:ln/>
        </p:spPr>
        <p:txBody>
          <a:bodyPr wrap="square" lIns="0" tIns="0" rIns="0" bIns="0" rtlCol="0" anchor="ctr"/>
          <a:lstStyle/>
          <a:p>
            <a:pPr marL="0" indent="0">
              <a:buNone/>
            </a:pPr>
            <a:r>
              <a:rPr lang="en-US" sz="1500" b="1">
                <a:solidFill>
                  <a:srgbClr val="9BA6B2"/>
                </a:solidFill>
                <a:latin typeface="Courier New" pitchFamily="34" charset="0"/>
                <a:ea typeface="Courier New" pitchFamily="34" charset="-122"/>
                <a:cs typeface="Courier New" pitchFamily="34" charset="-120"/>
              </a:rPr>
              <a:t>0.500  —  0.673</a:t>
            </a:r>
            <a:endParaRPr lang="en-US" sz="1500"/>
          </a:p>
        </p:txBody>
      </p:sp>
      <p:sp>
        <p:nvSpPr>
          <p:cNvPr id="9" name="Shape 7"/>
          <p:cNvSpPr/>
          <p:nvPr/>
        </p:nvSpPr>
        <p:spPr>
          <a:xfrm>
            <a:off x="5989320" y="1600200"/>
            <a:ext cx="2651760" cy="1325880"/>
          </a:xfrm>
          <a:prstGeom prst="roundRect">
            <a:avLst>
              <a:gd name="adj" fmla="val 4138"/>
            </a:avLst>
          </a:prstGeom>
          <a:solidFill>
            <a:srgbClr val="262A30"/>
          </a:solidFill>
          <a:ln w="12700">
            <a:solidFill>
              <a:srgbClr val="262A30"/>
            </a:solidFill>
            <a:prstDash val="solid"/>
          </a:ln>
        </p:spPr>
        <p:txBody>
          <a:bodyPr/>
          <a:lstStyle/>
          <a:p>
            <a:endParaRPr lang="en-US"/>
          </a:p>
        </p:txBody>
      </p:sp>
      <p:sp>
        <p:nvSpPr>
          <p:cNvPr id="10" name="Text 8"/>
          <p:cNvSpPr/>
          <p:nvPr/>
        </p:nvSpPr>
        <p:spPr>
          <a:xfrm>
            <a:off x="5989320" y="1719072"/>
            <a:ext cx="2651760" cy="548640"/>
          </a:xfrm>
          <a:prstGeom prst="rect">
            <a:avLst/>
          </a:prstGeom>
          <a:noFill/>
          <a:ln/>
        </p:spPr>
        <p:txBody>
          <a:bodyPr wrap="square" lIns="0" tIns="0" rIns="0" bIns="0" rtlCol="0" anchor="ctr"/>
          <a:lstStyle/>
          <a:p>
            <a:pPr marL="0" indent="0" algn="ctr">
              <a:buNone/>
            </a:pPr>
            <a:r>
              <a:rPr lang="en-US" sz="3600" b="1">
                <a:solidFill>
                  <a:srgbClr val="FD5000"/>
                </a:solidFill>
                <a:latin typeface="Arial" pitchFamily="34" charset="0"/>
                <a:ea typeface="Arial" pitchFamily="34" charset="-122"/>
                <a:cs typeface="Arial" pitchFamily="34" charset="-120"/>
              </a:rPr>
              <a:t>0.68</a:t>
            </a:r>
            <a:endParaRPr lang="en-US" sz="3600"/>
          </a:p>
        </p:txBody>
      </p:sp>
      <p:sp>
        <p:nvSpPr>
          <p:cNvPr id="11" name="Text 9"/>
          <p:cNvSpPr/>
          <p:nvPr/>
        </p:nvSpPr>
        <p:spPr>
          <a:xfrm>
            <a:off x="6172200" y="2286000"/>
            <a:ext cx="2286000" cy="502920"/>
          </a:xfrm>
          <a:prstGeom prst="rect">
            <a:avLst/>
          </a:prstGeom>
          <a:noFill/>
          <a:ln/>
        </p:spPr>
        <p:txBody>
          <a:bodyPr wrap="square" lIns="0" tIns="0" rIns="0" bIns="0" rtlCol="0" anchor="ctr"/>
          <a:lstStyle/>
          <a:p>
            <a:pPr marL="0" indent="0" algn="ctr">
              <a:buNone/>
            </a:pPr>
            <a:r>
              <a:rPr lang="en-US" sz="1050">
                <a:solidFill>
                  <a:srgbClr val="B9C0CA"/>
                </a:solidFill>
                <a:latin typeface="Arial" pitchFamily="34" charset="0"/>
                <a:ea typeface="Arial" pitchFamily="34" charset="-122"/>
                <a:cs typeface="Arial" pitchFamily="34" charset="-120"/>
              </a:rPr>
              <a:t>abstain floor</a:t>
            </a:r>
            <a:endParaRPr lang="en-US" sz="1050"/>
          </a:p>
          <a:p>
            <a:pPr marL="0" indent="0" algn="ctr">
              <a:buNone/>
            </a:pPr>
            <a:r>
              <a:rPr lang="en-US" sz="1050">
                <a:solidFill>
                  <a:srgbClr val="B9C0CA"/>
                </a:solidFill>
                <a:latin typeface="Arial" pitchFamily="34" charset="0"/>
                <a:ea typeface="Arial" pitchFamily="34" charset="-122"/>
                <a:cs typeface="Arial" pitchFamily="34" charset="-120"/>
              </a:rPr>
              <a:t>set just above the adversarial ceiling</a:t>
            </a:r>
            <a:endParaRPr lang="en-US" sz="1050"/>
          </a:p>
        </p:txBody>
      </p:sp>
      <p:sp>
        <p:nvSpPr>
          <p:cNvPr id="12" name="Text 10"/>
          <p:cNvSpPr/>
          <p:nvPr/>
        </p:nvSpPr>
        <p:spPr>
          <a:xfrm>
            <a:off x="502920" y="3154680"/>
            <a:ext cx="8138160" cy="292608"/>
          </a:xfrm>
          <a:prstGeom prst="rect">
            <a:avLst/>
          </a:prstGeom>
          <a:noFill/>
          <a:ln/>
        </p:spPr>
        <p:txBody>
          <a:bodyPr wrap="square" lIns="0" tIns="0" rIns="0" bIns="0" rtlCol="0" anchor="ctr"/>
          <a:lstStyle/>
          <a:p>
            <a:pPr marL="0" indent="0">
              <a:buNone/>
            </a:pPr>
            <a:r>
              <a:rPr lang="en-US" sz="1400" b="1">
                <a:solidFill>
                  <a:srgbClr val="FFFFFF"/>
                </a:solidFill>
                <a:latin typeface="Arial" pitchFamily="34" charset="0"/>
                <a:ea typeface="Arial" pitchFamily="34" charset="-122"/>
                <a:cs typeface="Arial" pitchFamily="34" charset="-120"/>
              </a:rPr>
              <a:t>The honest part: these ranges overlap.</a:t>
            </a:r>
            <a:endParaRPr lang="en-US" sz="1400"/>
          </a:p>
        </p:txBody>
      </p:sp>
      <p:sp>
        <p:nvSpPr>
          <p:cNvPr id="13" name="Text 11"/>
          <p:cNvSpPr/>
          <p:nvPr/>
        </p:nvSpPr>
        <p:spPr>
          <a:xfrm>
            <a:off x="502920" y="3474720"/>
            <a:ext cx="8138160" cy="685800"/>
          </a:xfrm>
          <a:prstGeom prst="rect">
            <a:avLst/>
          </a:prstGeom>
          <a:noFill/>
          <a:ln/>
        </p:spPr>
        <p:txBody>
          <a:bodyPr wrap="square" lIns="0" tIns="0" rIns="0" bIns="0" rtlCol="0" anchor="ctr"/>
          <a:lstStyle/>
          <a:p>
            <a:pPr marL="0" indent="0">
              <a:buNone/>
            </a:pPr>
            <a:r>
              <a:rPr lang="en-US" sz="1200">
                <a:solidFill>
                  <a:srgbClr val="B9C0CA"/>
                </a:solidFill>
                <a:latin typeface="Arial" pitchFamily="34" charset="0"/>
                <a:ea typeface="Arial" pitchFamily="34" charset="-122"/>
                <a:cs typeface="Arial" pitchFamily="34" charset="-120"/>
              </a:rPr>
              <a:t>An adversarial question can score 0.673 while a real one scores 0.643. No threshold separates them cleanly — every floor trades false refusals against false answers. We chose the value, and we can defend why.</a:t>
            </a:r>
            <a:endParaRPr lang="en-US" sz="1200"/>
          </a:p>
        </p:txBody>
      </p:sp>
      <p:sp>
        <p:nvSpPr>
          <p:cNvPr id="14" name="Text 12"/>
          <p:cNvSpPr/>
          <p:nvPr/>
        </p:nvSpPr>
        <p:spPr>
          <a:xfrm>
            <a:off x="502920" y="4315968"/>
            <a:ext cx="8138160" cy="292608"/>
          </a:xfrm>
          <a:prstGeom prst="rect">
            <a:avLst/>
          </a:prstGeom>
          <a:noFill/>
          <a:ln/>
        </p:spPr>
        <p:txBody>
          <a:bodyPr wrap="square" lIns="0" tIns="0" rIns="0" bIns="0" rtlCol="0" anchor="ctr"/>
          <a:lstStyle/>
          <a:p>
            <a:pPr marL="0" indent="0">
              <a:buNone/>
            </a:pPr>
            <a:r>
              <a:rPr lang="en-US" sz="1150" i="1">
                <a:solidFill>
                  <a:srgbClr val="FD5000"/>
                </a:solidFill>
                <a:latin typeface="Arial" pitchFamily="34" charset="0"/>
                <a:ea typeface="Arial" pitchFamily="34" charset="-122"/>
                <a:cs typeface="Arial" pitchFamily="34" charset="-120"/>
              </a:rPr>
              <a:t>Live demo:  ask for alarm code Z-999  —  it does not exist  —  the system refuses instead of improvising.</a:t>
            </a:r>
            <a:endParaRPr lang="en-US" sz="11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10896"/>
            <a:ext cx="8138160" cy="219456"/>
          </a:xfrm>
          <a:prstGeom prst="rect">
            <a:avLst/>
          </a:prstGeom>
          <a:noFill/>
          <a:ln/>
        </p:spPr>
        <p:txBody>
          <a:bodyPr wrap="square" lIns="0" tIns="0" rIns="0" bIns="0" rtlCol="0" anchor="ctr"/>
          <a:lstStyle/>
          <a:p>
            <a:r>
              <a:rPr lang="en-US" sz="1100" b="1" kern="0" spc="200">
                <a:solidFill>
                  <a:srgbClr val="FD5000"/>
                </a:solidFill>
                <a:latin typeface="Arial"/>
                <a:cs typeface="Arial"/>
              </a:rPr>
              <a:t>TOOL USE, database query</a:t>
            </a:r>
          </a:p>
        </p:txBody>
      </p:sp>
      <p:sp>
        <p:nvSpPr>
          <p:cNvPr id="3" name="Text 1"/>
          <p:cNvSpPr/>
          <p:nvPr/>
        </p:nvSpPr>
        <p:spPr>
          <a:xfrm>
            <a:off x="502920" y="548640"/>
            <a:ext cx="8138160" cy="566928"/>
          </a:xfrm>
          <a:prstGeom prst="rect">
            <a:avLst/>
          </a:prstGeom>
          <a:noFill/>
          <a:ln/>
        </p:spPr>
        <p:txBody>
          <a:bodyPr wrap="square" lIns="0" tIns="0" rIns="0" bIns="0" rtlCol="0" anchor="ctr"/>
          <a:lstStyle/>
          <a:p>
            <a:r>
              <a:rPr lang="en-US" sz="3000" b="1">
                <a:solidFill>
                  <a:srgbClr val="1D252D"/>
                </a:solidFill>
                <a:latin typeface="Arial"/>
                <a:cs typeface="Arial"/>
              </a:rPr>
              <a:t>Text-to-SQL telemetry agent</a:t>
            </a:r>
            <a:endParaRPr lang="en-US" sz="1100">
              <a:solidFill>
                <a:srgbClr val="1D252D"/>
              </a:solidFill>
              <a:latin typeface="Segoe UI"/>
              <a:ea typeface="Calibri"/>
              <a:cs typeface="Segoe UI"/>
            </a:endParaRPr>
          </a:p>
        </p:txBody>
      </p:sp>
      <p:sp>
        <p:nvSpPr>
          <p:cNvPr id="4" name="Text 2"/>
          <p:cNvSpPr/>
          <p:nvPr/>
        </p:nvSpPr>
        <p:spPr>
          <a:xfrm>
            <a:off x="502920" y="1188720"/>
            <a:ext cx="8138160" cy="292608"/>
          </a:xfrm>
          <a:prstGeom prst="rect">
            <a:avLst/>
          </a:prstGeom>
          <a:noFill/>
          <a:ln/>
        </p:spPr>
        <p:txBody>
          <a:bodyPr wrap="square" lIns="0" tIns="0" rIns="0" bIns="0" rtlCol="0" anchor="ctr"/>
          <a:lstStyle/>
          <a:p>
            <a:pPr marL="0" indent="0">
              <a:buNone/>
            </a:pPr>
            <a:r>
              <a:rPr lang="en-US" sz="1300">
                <a:solidFill>
                  <a:srgbClr val="46555F"/>
                </a:solidFill>
                <a:latin typeface="Arial" pitchFamily="34" charset="0"/>
                <a:ea typeface="Arial" pitchFamily="34" charset="-122"/>
                <a:cs typeface="Arial" pitchFamily="34" charset="-120"/>
              </a:rPr>
              <a:t>2,372 rows of SQL Server session telemetry, loaded into an in-memory SQLite snapshot. Read-only whitelist.</a:t>
            </a:r>
            <a:endParaRPr lang="en-US" sz="1300"/>
          </a:p>
        </p:txBody>
      </p:sp>
      <p:sp>
        <p:nvSpPr>
          <p:cNvPr id="5" name="Shape 3"/>
          <p:cNvSpPr/>
          <p:nvPr/>
        </p:nvSpPr>
        <p:spPr>
          <a:xfrm>
            <a:off x="502920" y="1627632"/>
            <a:ext cx="4892040" cy="1965960"/>
          </a:xfrm>
          <a:prstGeom prst="roundRect">
            <a:avLst>
              <a:gd name="adj" fmla="val 2791"/>
            </a:avLst>
          </a:prstGeom>
          <a:solidFill>
            <a:srgbClr val="1D252D"/>
          </a:solidFill>
          <a:ln w="12700">
            <a:solidFill>
              <a:srgbClr val="1D252D"/>
            </a:solidFill>
            <a:prstDash val="solid"/>
          </a:ln>
        </p:spPr>
        <p:txBody>
          <a:bodyPr/>
          <a:lstStyle/>
          <a:p>
            <a:endParaRPr lang="en-US"/>
          </a:p>
        </p:txBody>
      </p:sp>
      <p:sp>
        <p:nvSpPr>
          <p:cNvPr id="6" name="Text 4"/>
          <p:cNvSpPr/>
          <p:nvPr/>
        </p:nvSpPr>
        <p:spPr>
          <a:xfrm>
            <a:off x="758952" y="1773936"/>
            <a:ext cx="4389120" cy="274320"/>
          </a:xfrm>
          <a:prstGeom prst="rect">
            <a:avLst/>
          </a:prstGeom>
          <a:noFill/>
          <a:ln/>
        </p:spPr>
        <p:txBody>
          <a:bodyPr wrap="square" lIns="0" tIns="0" rIns="0" bIns="0" rtlCol="0" anchor="ctr"/>
          <a:lstStyle/>
          <a:p>
            <a:pPr marL="0" indent="0">
              <a:buNone/>
            </a:pPr>
            <a:r>
              <a:rPr lang="en-US" sz="1200" b="1">
                <a:solidFill>
                  <a:srgbClr val="FFFFFF"/>
                </a:solidFill>
                <a:latin typeface="Arial" pitchFamily="34" charset="0"/>
                <a:ea typeface="Arial" pitchFamily="34" charset="-122"/>
                <a:cs typeface="Arial" pitchFamily="34" charset="-120"/>
              </a:rPr>
              <a:t>“Which database used the most CPU in total?”</a:t>
            </a:r>
            <a:endParaRPr lang="en-US" sz="1200"/>
          </a:p>
        </p:txBody>
      </p:sp>
      <p:sp>
        <p:nvSpPr>
          <p:cNvPr id="7" name="Text 5"/>
          <p:cNvSpPr/>
          <p:nvPr/>
        </p:nvSpPr>
        <p:spPr>
          <a:xfrm>
            <a:off x="758952" y="2103120"/>
            <a:ext cx="4480560" cy="914400"/>
          </a:xfrm>
          <a:prstGeom prst="rect">
            <a:avLst/>
          </a:prstGeom>
          <a:noFill/>
          <a:ln/>
        </p:spPr>
        <p:txBody>
          <a:bodyPr wrap="square" lIns="0" tIns="0" rIns="0" bIns="0" rtlCol="0" anchor="ctr"/>
          <a:lstStyle/>
          <a:p>
            <a:pPr marL="0" indent="0">
              <a:buNone/>
            </a:pPr>
            <a:r>
              <a:rPr lang="en-US" sz="1050">
                <a:solidFill>
                  <a:srgbClr val="FD5000"/>
                </a:solidFill>
                <a:latin typeface="Courier New" pitchFamily="34" charset="0"/>
                <a:ea typeface="Courier New" pitchFamily="34" charset="-122"/>
                <a:cs typeface="Courier New" pitchFamily="34" charset="-120"/>
              </a:rPr>
              <a:t>SELECT DB_NAME, SUM(CPU_TIME) AS total_cpu</a:t>
            </a:r>
            <a:endParaRPr lang="en-US" sz="1050"/>
          </a:p>
          <a:p>
            <a:pPr marL="0" indent="0">
              <a:buNone/>
            </a:pPr>
            <a:r>
              <a:rPr lang="en-US" sz="1050">
                <a:solidFill>
                  <a:srgbClr val="FD5000"/>
                </a:solidFill>
                <a:latin typeface="Courier New" pitchFamily="34" charset="0"/>
                <a:ea typeface="Courier New" pitchFamily="34" charset="-122"/>
                <a:cs typeface="Courier New" pitchFamily="34" charset="-120"/>
              </a:rPr>
              <a:t>FROM sessions</a:t>
            </a:r>
            <a:endParaRPr lang="en-US" sz="1050"/>
          </a:p>
          <a:p>
            <a:pPr marL="0" indent="0">
              <a:buNone/>
            </a:pPr>
            <a:r>
              <a:rPr lang="en-US" sz="1050">
                <a:solidFill>
                  <a:srgbClr val="FD5000"/>
                </a:solidFill>
                <a:latin typeface="Courier New" pitchFamily="34" charset="0"/>
                <a:ea typeface="Courier New" pitchFamily="34" charset="-122"/>
                <a:cs typeface="Courier New" pitchFamily="34" charset="-120"/>
              </a:rPr>
              <a:t>GROUP BY DB_NAME</a:t>
            </a:r>
            <a:endParaRPr lang="en-US" sz="1050"/>
          </a:p>
          <a:p>
            <a:pPr marL="0" indent="0">
              <a:buNone/>
            </a:pPr>
            <a:r>
              <a:rPr lang="en-US" sz="1050">
                <a:solidFill>
                  <a:srgbClr val="FD5000"/>
                </a:solidFill>
                <a:latin typeface="Courier New" pitchFamily="34" charset="0"/>
                <a:ea typeface="Courier New" pitchFamily="34" charset="-122"/>
                <a:cs typeface="Courier New" pitchFamily="34" charset="-120"/>
              </a:rPr>
              <a:t>ORDER BY total_cpu DESC</a:t>
            </a:r>
            <a:endParaRPr lang="en-US" sz="1050"/>
          </a:p>
          <a:p>
            <a:pPr marL="0" indent="0">
              <a:buNone/>
            </a:pPr>
            <a:r>
              <a:rPr lang="en-US" sz="1050">
                <a:solidFill>
                  <a:srgbClr val="FD5000"/>
                </a:solidFill>
                <a:latin typeface="Courier New" pitchFamily="34" charset="0"/>
                <a:ea typeface="Courier New" pitchFamily="34" charset="-122"/>
                <a:cs typeface="Courier New" pitchFamily="34" charset="-120"/>
              </a:rPr>
              <a:t>LIMIT 1;</a:t>
            </a:r>
            <a:endParaRPr lang="en-US" sz="1050"/>
          </a:p>
        </p:txBody>
      </p:sp>
      <p:sp>
        <p:nvSpPr>
          <p:cNvPr id="8" name="Text 6"/>
          <p:cNvSpPr/>
          <p:nvPr/>
        </p:nvSpPr>
        <p:spPr>
          <a:xfrm>
            <a:off x="758952" y="3145536"/>
            <a:ext cx="4480560" cy="274320"/>
          </a:xfrm>
          <a:prstGeom prst="rect">
            <a:avLst/>
          </a:prstGeom>
          <a:noFill/>
          <a:ln/>
        </p:spPr>
        <p:txBody>
          <a:bodyPr wrap="square" lIns="0" tIns="0" rIns="0" bIns="0" rtlCol="0" anchor="ctr"/>
          <a:lstStyle/>
          <a:p>
            <a:pPr marL="0" indent="0">
              <a:buNone/>
            </a:pPr>
            <a:r>
              <a:rPr lang="en-US" sz="1150" b="1">
                <a:solidFill>
                  <a:srgbClr val="FFFFFF"/>
                </a:solidFill>
                <a:latin typeface="Arial" pitchFamily="34" charset="0"/>
                <a:ea typeface="Arial" pitchFamily="34" charset="-122"/>
                <a:cs typeface="Arial" pitchFamily="34" charset="-120"/>
              </a:rPr>
              <a:t>db06  —  60,214,551 ms  across 1,242 sessions</a:t>
            </a:r>
            <a:endParaRPr lang="en-US" sz="1150"/>
          </a:p>
        </p:txBody>
      </p:sp>
      <p:sp>
        <p:nvSpPr>
          <p:cNvPr id="9" name="Shape 7"/>
          <p:cNvSpPr/>
          <p:nvPr/>
        </p:nvSpPr>
        <p:spPr>
          <a:xfrm>
            <a:off x="5715000" y="1664208"/>
            <a:ext cx="310896" cy="310896"/>
          </a:xfrm>
          <a:prstGeom prst="ellipse">
            <a:avLst/>
          </a:prstGeom>
          <a:solidFill>
            <a:srgbClr val="FD5000"/>
          </a:solidFill>
          <a:ln/>
        </p:spPr>
        <p:txBody>
          <a:bodyPr/>
          <a:lstStyle/>
          <a:p>
            <a:endParaRPr lang="en-US"/>
          </a:p>
        </p:txBody>
      </p:sp>
      <p:sp>
        <p:nvSpPr>
          <p:cNvPr id="10" name="Text 8"/>
          <p:cNvSpPr/>
          <p:nvPr/>
        </p:nvSpPr>
        <p:spPr>
          <a:xfrm>
            <a:off x="5715000" y="1664208"/>
            <a:ext cx="310896" cy="310896"/>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1</a:t>
            </a:r>
            <a:endParaRPr lang="en-US" sz="1300"/>
          </a:p>
        </p:txBody>
      </p:sp>
      <p:sp>
        <p:nvSpPr>
          <p:cNvPr id="11" name="Text 9"/>
          <p:cNvSpPr/>
          <p:nvPr/>
        </p:nvSpPr>
        <p:spPr>
          <a:xfrm>
            <a:off x="6144768" y="1645920"/>
            <a:ext cx="2606040" cy="237744"/>
          </a:xfrm>
          <a:prstGeom prst="rect">
            <a:avLst/>
          </a:prstGeom>
          <a:noFill/>
          <a:ln/>
        </p:spPr>
        <p:txBody>
          <a:bodyPr wrap="square" lIns="0" tIns="0" rIns="0" bIns="0" rtlCol="0" anchor="ctr"/>
          <a:lstStyle/>
          <a:p>
            <a:pPr marL="0" indent="0">
              <a:buNone/>
            </a:pPr>
            <a:r>
              <a:rPr lang="en-US" sz="1200" b="1">
                <a:solidFill>
                  <a:srgbClr val="1D252D"/>
                </a:solidFill>
                <a:latin typeface="Arial" pitchFamily="34" charset="0"/>
                <a:ea typeface="Arial" pitchFamily="34" charset="-122"/>
                <a:cs typeface="Arial" pitchFamily="34" charset="-120"/>
              </a:rPr>
              <a:t>Every answer ships its SQL</a:t>
            </a:r>
            <a:endParaRPr lang="en-US" sz="1200"/>
          </a:p>
        </p:txBody>
      </p:sp>
      <p:sp>
        <p:nvSpPr>
          <p:cNvPr id="12" name="Text 10"/>
          <p:cNvSpPr/>
          <p:nvPr/>
        </p:nvSpPr>
        <p:spPr>
          <a:xfrm>
            <a:off x="6144768" y="1883664"/>
            <a:ext cx="2606040" cy="457200"/>
          </a:xfrm>
          <a:prstGeom prst="rect">
            <a:avLst/>
          </a:prstGeom>
          <a:noFill/>
          <a:ln/>
        </p:spPr>
        <p:txBody>
          <a:bodyPr wrap="square" lIns="0" tIns="0" rIns="0" bIns="0" rtlCol="0" anchor="ctr"/>
          <a:lstStyle/>
          <a:p>
            <a:pPr marL="0" indent="0">
              <a:buNone/>
            </a:pPr>
            <a:r>
              <a:rPr lang="en-US" sz="1050">
                <a:solidFill>
                  <a:srgbClr val="46555F"/>
                </a:solidFill>
                <a:latin typeface="Arial"/>
                <a:ea typeface="Arial" pitchFamily="34" charset="-122"/>
                <a:cs typeface="Arial"/>
              </a:rPr>
              <a:t>The number is auditable</a:t>
            </a:r>
            <a:endParaRPr lang="en-US" sz="1050">
              <a:solidFill>
                <a:srgbClr val="46555F"/>
              </a:solidFill>
              <a:latin typeface="Arial"/>
              <a:cs typeface="Arial"/>
            </a:endParaRPr>
          </a:p>
        </p:txBody>
      </p:sp>
      <p:sp>
        <p:nvSpPr>
          <p:cNvPr id="13" name="Shape 11"/>
          <p:cNvSpPr/>
          <p:nvPr/>
        </p:nvSpPr>
        <p:spPr>
          <a:xfrm>
            <a:off x="5715000" y="2350008"/>
            <a:ext cx="310896" cy="310896"/>
          </a:xfrm>
          <a:prstGeom prst="ellipse">
            <a:avLst/>
          </a:prstGeom>
          <a:solidFill>
            <a:srgbClr val="FD5000"/>
          </a:solidFill>
          <a:ln/>
        </p:spPr>
        <p:txBody>
          <a:bodyPr/>
          <a:lstStyle/>
          <a:p>
            <a:endParaRPr lang="en-US"/>
          </a:p>
        </p:txBody>
      </p:sp>
      <p:sp>
        <p:nvSpPr>
          <p:cNvPr id="14" name="Text 12"/>
          <p:cNvSpPr/>
          <p:nvPr/>
        </p:nvSpPr>
        <p:spPr>
          <a:xfrm>
            <a:off x="5715000" y="2350008"/>
            <a:ext cx="310896" cy="310896"/>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2</a:t>
            </a:r>
            <a:endParaRPr lang="en-US" sz="1300"/>
          </a:p>
        </p:txBody>
      </p:sp>
      <p:sp>
        <p:nvSpPr>
          <p:cNvPr id="15" name="Text 13"/>
          <p:cNvSpPr/>
          <p:nvPr/>
        </p:nvSpPr>
        <p:spPr>
          <a:xfrm>
            <a:off x="6144768" y="2331720"/>
            <a:ext cx="2606040" cy="237744"/>
          </a:xfrm>
          <a:prstGeom prst="rect">
            <a:avLst/>
          </a:prstGeom>
          <a:noFill/>
          <a:ln/>
        </p:spPr>
        <p:txBody>
          <a:bodyPr wrap="square" lIns="0" tIns="0" rIns="0" bIns="0" rtlCol="0" anchor="ctr"/>
          <a:lstStyle/>
          <a:p>
            <a:pPr marL="0" indent="0">
              <a:buNone/>
            </a:pPr>
            <a:r>
              <a:rPr lang="en-US" sz="1200" b="1">
                <a:solidFill>
                  <a:srgbClr val="1D252D"/>
                </a:solidFill>
                <a:latin typeface="Arial" pitchFamily="34" charset="0"/>
                <a:ea typeface="Arial" pitchFamily="34" charset="-122"/>
                <a:cs typeface="Arial" pitchFamily="34" charset="-120"/>
              </a:rPr>
              <a:t>Read-only by construction</a:t>
            </a:r>
            <a:endParaRPr lang="en-US" sz="1200"/>
          </a:p>
        </p:txBody>
      </p:sp>
      <p:sp>
        <p:nvSpPr>
          <p:cNvPr id="16" name="Text 14"/>
          <p:cNvSpPr/>
          <p:nvPr/>
        </p:nvSpPr>
        <p:spPr>
          <a:xfrm>
            <a:off x="6144768" y="2569464"/>
            <a:ext cx="2606040" cy="457200"/>
          </a:xfrm>
          <a:prstGeom prst="rect">
            <a:avLst/>
          </a:prstGeom>
          <a:noFill/>
          <a:ln/>
        </p:spPr>
        <p:txBody>
          <a:bodyPr wrap="square" lIns="0" tIns="0" rIns="0" bIns="0" rtlCol="0" anchor="ctr"/>
          <a:lstStyle/>
          <a:p>
            <a:pPr marL="0" indent="0">
              <a:buNone/>
            </a:pPr>
            <a:r>
              <a:rPr lang="en-US" sz="1050">
                <a:solidFill>
                  <a:srgbClr val="46555F"/>
                </a:solidFill>
                <a:latin typeface="Arial" pitchFamily="34" charset="0"/>
                <a:ea typeface="Arial" pitchFamily="34" charset="-122"/>
                <a:cs typeface="Arial" pitchFamily="34" charset="-120"/>
              </a:rPr>
              <a:t>A whitelist rejects anything that is not a SELECT.</a:t>
            </a:r>
            <a:endParaRPr lang="en-US" sz="1050"/>
          </a:p>
        </p:txBody>
      </p:sp>
      <p:sp>
        <p:nvSpPr>
          <p:cNvPr id="17" name="Shape 15"/>
          <p:cNvSpPr/>
          <p:nvPr/>
        </p:nvSpPr>
        <p:spPr>
          <a:xfrm>
            <a:off x="5715000" y="3035808"/>
            <a:ext cx="310896" cy="310896"/>
          </a:xfrm>
          <a:prstGeom prst="ellipse">
            <a:avLst/>
          </a:prstGeom>
          <a:solidFill>
            <a:srgbClr val="FD5000"/>
          </a:solidFill>
          <a:ln/>
        </p:spPr>
        <p:txBody>
          <a:bodyPr/>
          <a:lstStyle/>
          <a:p>
            <a:endParaRPr lang="en-US"/>
          </a:p>
        </p:txBody>
      </p:sp>
      <p:sp>
        <p:nvSpPr>
          <p:cNvPr id="18" name="Text 16"/>
          <p:cNvSpPr/>
          <p:nvPr/>
        </p:nvSpPr>
        <p:spPr>
          <a:xfrm>
            <a:off x="5715000" y="3035808"/>
            <a:ext cx="310896" cy="310896"/>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3</a:t>
            </a:r>
            <a:endParaRPr lang="en-US" sz="1300"/>
          </a:p>
        </p:txBody>
      </p:sp>
      <p:sp>
        <p:nvSpPr>
          <p:cNvPr id="19" name="Text 17"/>
          <p:cNvSpPr/>
          <p:nvPr/>
        </p:nvSpPr>
        <p:spPr>
          <a:xfrm>
            <a:off x="6144768" y="3017520"/>
            <a:ext cx="2606040" cy="237744"/>
          </a:xfrm>
          <a:prstGeom prst="rect">
            <a:avLst/>
          </a:prstGeom>
          <a:noFill/>
          <a:ln/>
        </p:spPr>
        <p:txBody>
          <a:bodyPr wrap="square" lIns="0" tIns="0" rIns="0" bIns="0" rtlCol="0" anchor="ctr"/>
          <a:lstStyle/>
          <a:p>
            <a:pPr marL="0" indent="0">
              <a:buNone/>
            </a:pPr>
            <a:r>
              <a:rPr lang="en-US" sz="1200" b="1">
                <a:solidFill>
                  <a:srgbClr val="1D252D"/>
                </a:solidFill>
                <a:latin typeface="Arial" pitchFamily="34" charset="0"/>
                <a:ea typeface="Arial" pitchFamily="34" charset="-122"/>
                <a:cs typeface="Arial" pitchFamily="34" charset="-120"/>
              </a:rPr>
              <a:t>Two-layer test suite</a:t>
            </a:r>
            <a:endParaRPr lang="en-US" sz="1200"/>
          </a:p>
        </p:txBody>
      </p:sp>
      <p:sp>
        <p:nvSpPr>
          <p:cNvPr id="20" name="Text 18"/>
          <p:cNvSpPr/>
          <p:nvPr/>
        </p:nvSpPr>
        <p:spPr>
          <a:xfrm>
            <a:off x="6144768" y="3255264"/>
            <a:ext cx="2606040" cy="457200"/>
          </a:xfrm>
          <a:prstGeom prst="rect">
            <a:avLst/>
          </a:prstGeom>
          <a:noFill/>
          <a:ln/>
        </p:spPr>
        <p:txBody>
          <a:bodyPr wrap="square" lIns="0" tIns="0" rIns="0" bIns="0" rtlCol="0" anchor="ctr"/>
          <a:lstStyle/>
          <a:p>
            <a:pPr marL="0" indent="0">
              <a:buNone/>
            </a:pPr>
            <a:r>
              <a:rPr lang="en-US" sz="1050">
                <a:solidFill>
                  <a:srgbClr val="46555F"/>
                </a:solidFill>
                <a:latin typeface="Arial" pitchFamily="34" charset="0"/>
                <a:ea typeface="Arial" pitchFamily="34" charset="-122"/>
                <a:cs typeface="Arial" pitchFamily="34" charset="-120"/>
              </a:rPr>
              <a:t>44 deterministic tests with no LLM; 46 end-to-end with one.</a:t>
            </a:r>
            <a:endParaRPr lang="en-US" sz="1050"/>
          </a:p>
        </p:txBody>
      </p:sp>
      <p:sp>
        <p:nvSpPr>
          <p:cNvPr id="21" name="Text 19"/>
          <p:cNvSpPr/>
          <p:nvPr/>
        </p:nvSpPr>
        <p:spPr>
          <a:xfrm>
            <a:off x="502920" y="3840480"/>
            <a:ext cx="8138160" cy="502920"/>
          </a:xfrm>
          <a:prstGeom prst="rect">
            <a:avLst/>
          </a:prstGeom>
          <a:noFill/>
          <a:ln/>
        </p:spPr>
        <p:txBody>
          <a:bodyPr wrap="square" lIns="0" tIns="0" rIns="0" bIns="0" rtlCol="0" anchor="ctr"/>
          <a:lstStyle/>
          <a:p>
            <a:pPr marL="0" indent="0">
              <a:buNone/>
            </a:pPr>
            <a:endParaRPr lang="en-US" sz="1100" i="1">
              <a:solidFill>
                <a:srgbClr val="1D252D"/>
              </a:solidFill>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10896"/>
            <a:ext cx="8138160" cy="219456"/>
          </a:xfrm>
          <a:prstGeom prst="rect">
            <a:avLst/>
          </a:prstGeom>
          <a:noFill/>
          <a:ln/>
        </p:spPr>
        <p:txBody>
          <a:bodyPr wrap="square" lIns="0" tIns="0" rIns="0" bIns="0" rtlCol="0" anchor="ctr"/>
          <a:lstStyle/>
          <a:p>
            <a:r>
              <a:rPr lang="en-US" sz="1100" b="1" kern="0" spc="200">
                <a:solidFill>
                  <a:srgbClr val="FD5000"/>
                </a:solidFill>
                <a:latin typeface="Arial"/>
                <a:ea typeface="Arial" pitchFamily="34" charset="-122"/>
                <a:cs typeface="Arial"/>
              </a:rPr>
              <a:t>LOCAL LLM, DEPLOYMENT</a:t>
            </a:r>
            <a:endParaRPr lang="en-US" sz="110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buNone/>
            </a:pPr>
            <a:r>
              <a:rPr lang="en-US" sz="3000" b="1">
                <a:solidFill>
                  <a:srgbClr val="1D252D"/>
                </a:solidFill>
                <a:latin typeface="Arial" pitchFamily="34" charset="0"/>
                <a:ea typeface="Arial" pitchFamily="34" charset="-122"/>
                <a:cs typeface="Arial" pitchFamily="34" charset="-120"/>
              </a:rPr>
              <a:t>Runs offline. Or on any model you own.</a:t>
            </a:r>
            <a:endParaRPr lang="en-US" sz="3000"/>
          </a:p>
        </p:txBody>
      </p:sp>
      <p:sp>
        <p:nvSpPr>
          <p:cNvPr id="4" name="Shape 2"/>
          <p:cNvSpPr/>
          <p:nvPr/>
        </p:nvSpPr>
        <p:spPr>
          <a:xfrm>
            <a:off x="502920" y="1280160"/>
            <a:ext cx="2606040" cy="438912"/>
          </a:xfrm>
          <a:prstGeom prst="roundRect">
            <a:avLst>
              <a:gd name="adj" fmla="val 12500"/>
            </a:avLst>
          </a:prstGeom>
          <a:solidFill>
            <a:srgbClr val="1D252D"/>
          </a:solidFill>
          <a:ln w="12700">
            <a:solidFill>
              <a:srgbClr val="1D252D"/>
            </a:solidFill>
            <a:prstDash val="solid"/>
          </a:ln>
        </p:spPr>
        <p:txBody>
          <a:bodyPr/>
          <a:lstStyle/>
          <a:p>
            <a:endParaRPr lang="en-US"/>
          </a:p>
        </p:txBody>
      </p:sp>
      <p:sp>
        <p:nvSpPr>
          <p:cNvPr id="5" name="Text 3"/>
          <p:cNvSpPr/>
          <p:nvPr/>
        </p:nvSpPr>
        <p:spPr>
          <a:xfrm>
            <a:off x="502920" y="1280160"/>
            <a:ext cx="2606040" cy="438912"/>
          </a:xfrm>
          <a:prstGeom prst="rect">
            <a:avLst/>
          </a:prstGeom>
          <a:noFill/>
          <a:ln/>
        </p:spPr>
        <p:txBody>
          <a:bodyPr wrap="square" lIns="0" tIns="0" rIns="0" bIns="0" rtlCol="0" anchor="ctr"/>
          <a:lstStyle/>
          <a:p>
            <a:pPr marL="0" indent="0" algn="ctr">
              <a:buNone/>
            </a:pPr>
            <a:r>
              <a:rPr lang="en-US" sz="1200" b="1">
                <a:solidFill>
                  <a:srgbClr val="FFFFFF"/>
                </a:solidFill>
                <a:latin typeface="Arial" pitchFamily="34" charset="0"/>
                <a:ea typeface="Arial" pitchFamily="34" charset="-122"/>
                <a:cs typeface="Arial" pitchFamily="34" charset="-120"/>
              </a:rPr>
              <a:t>Ollama</a:t>
            </a:r>
            <a:endParaRPr lang="en-US" sz="1200"/>
          </a:p>
        </p:txBody>
      </p:sp>
      <p:sp>
        <p:nvSpPr>
          <p:cNvPr id="6" name="Shape 4"/>
          <p:cNvSpPr/>
          <p:nvPr/>
        </p:nvSpPr>
        <p:spPr>
          <a:xfrm>
            <a:off x="3319272" y="1280160"/>
            <a:ext cx="2606040" cy="438912"/>
          </a:xfrm>
          <a:prstGeom prst="roundRect">
            <a:avLst>
              <a:gd name="adj" fmla="val 12500"/>
            </a:avLst>
          </a:prstGeom>
          <a:solidFill>
            <a:srgbClr val="1D252D"/>
          </a:solidFill>
          <a:ln w="12700">
            <a:solidFill>
              <a:srgbClr val="1D252D"/>
            </a:solidFill>
            <a:prstDash val="solid"/>
          </a:ln>
        </p:spPr>
        <p:txBody>
          <a:bodyPr/>
          <a:lstStyle/>
          <a:p>
            <a:endParaRPr lang="en-US"/>
          </a:p>
        </p:txBody>
      </p:sp>
      <p:sp>
        <p:nvSpPr>
          <p:cNvPr id="7" name="Text 5"/>
          <p:cNvSpPr/>
          <p:nvPr/>
        </p:nvSpPr>
        <p:spPr>
          <a:xfrm>
            <a:off x="3319272" y="1280160"/>
            <a:ext cx="2606040" cy="438912"/>
          </a:xfrm>
          <a:prstGeom prst="rect">
            <a:avLst/>
          </a:prstGeom>
          <a:noFill/>
          <a:ln/>
        </p:spPr>
        <p:txBody>
          <a:bodyPr wrap="square" lIns="0" tIns="0" rIns="0" bIns="0" rtlCol="0" anchor="ctr"/>
          <a:lstStyle/>
          <a:p>
            <a:pPr marL="0" indent="0" algn="ctr">
              <a:buNone/>
            </a:pPr>
            <a:r>
              <a:rPr lang="en-US" sz="1200" b="1">
                <a:solidFill>
                  <a:srgbClr val="FFFFFF"/>
                </a:solidFill>
                <a:latin typeface="Arial" pitchFamily="34" charset="0"/>
                <a:ea typeface="Arial" pitchFamily="34" charset="-122"/>
                <a:cs typeface="Arial" pitchFamily="34" charset="-120"/>
              </a:rPr>
              <a:t>LM Studio</a:t>
            </a:r>
            <a:endParaRPr lang="en-US" sz="1200"/>
          </a:p>
        </p:txBody>
      </p:sp>
      <p:sp>
        <p:nvSpPr>
          <p:cNvPr id="8" name="Shape 6"/>
          <p:cNvSpPr/>
          <p:nvPr/>
        </p:nvSpPr>
        <p:spPr>
          <a:xfrm>
            <a:off x="6135624" y="1280160"/>
            <a:ext cx="2606040" cy="438912"/>
          </a:xfrm>
          <a:prstGeom prst="roundRect">
            <a:avLst>
              <a:gd name="adj" fmla="val 12500"/>
            </a:avLst>
          </a:prstGeom>
          <a:solidFill>
            <a:srgbClr val="FDF6F1"/>
          </a:solidFill>
          <a:ln w="12700">
            <a:solidFill>
              <a:srgbClr val="FDF6F1"/>
            </a:solidFill>
            <a:prstDash val="solid"/>
          </a:ln>
        </p:spPr>
        <p:txBody>
          <a:bodyPr/>
          <a:lstStyle/>
          <a:p>
            <a:endParaRPr lang="en-US"/>
          </a:p>
        </p:txBody>
      </p:sp>
      <p:sp>
        <p:nvSpPr>
          <p:cNvPr id="9" name="Text 7"/>
          <p:cNvSpPr/>
          <p:nvPr/>
        </p:nvSpPr>
        <p:spPr>
          <a:xfrm>
            <a:off x="6135624" y="1280160"/>
            <a:ext cx="2606040" cy="438912"/>
          </a:xfrm>
          <a:prstGeom prst="rect">
            <a:avLst/>
          </a:prstGeom>
          <a:noFill/>
          <a:ln/>
        </p:spPr>
        <p:txBody>
          <a:bodyPr wrap="square" lIns="0" tIns="0" rIns="0" bIns="0" rtlCol="0" anchor="ctr"/>
          <a:lstStyle/>
          <a:p>
            <a:pPr marL="0" indent="0" algn="ctr">
              <a:buNone/>
            </a:pPr>
            <a:r>
              <a:rPr lang="en-US" sz="1200" b="1">
                <a:solidFill>
                  <a:srgbClr val="1D252D"/>
                </a:solidFill>
                <a:latin typeface="Arial" pitchFamily="34" charset="0"/>
                <a:ea typeface="Arial" pitchFamily="34" charset="-122"/>
                <a:cs typeface="Arial" pitchFamily="34" charset="-120"/>
              </a:rPr>
              <a:t>OpenAI</a:t>
            </a:r>
            <a:endParaRPr lang="en-US" sz="1200"/>
          </a:p>
        </p:txBody>
      </p:sp>
      <p:sp>
        <p:nvSpPr>
          <p:cNvPr id="10" name="Shape 8"/>
          <p:cNvSpPr/>
          <p:nvPr/>
        </p:nvSpPr>
        <p:spPr>
          <a:xfrm>
            <a:off x="502920" y="1847088"/>
            <a:ext cx="2606040" cy="438912"/>
          </a:xfrm>
          <a:prstGeom prst="roundRect">
            <a:avLst>
              <a:gd name="adj" fmla="val 12500"/>
            </a:avLst>
          </a:prstGeom>
          <a:solidFill>
            <a:srgbClr val="FDF6F1"/>
          </a:solidFill>
          <a:ln w="12700">
            <a:solidFill>
              <a:srgbClr val="FDF6F1"/>
            </a:solidFill>
            <a:prstDash val="solid"/>
          </a:ln>
        </p:spPr>
        <p:txBody>
          <a:bodyPr/>
          <a:lstStyle/>
          <a:p>
            <a:endParaRPr lang="en-US"/>
          </a:p>
        </p:txBody>
      </p:sp>
      <p:sp>
        <p:nvSpPr>
          <p:cNvPr id="11" name="Text 9"/>
          <p:cNvSpPr/>
          <p:nvPr/>
        </p:nvSpPr>
        <p:spPr>
          <a:xfrm>
            <a:off x="502920" y="1847088"/>
            <a:ext cx="2606040" cy="438912"/>
          </a:xfrm>
          <a:prstGeom prst="rect">
            <a:avLst/>
          </a:prstGeom>
          <a:noFill/>
          <a:ln/>
        </p:spPr>
        <p:txBody>
          <a:bodyPr wrap="square" lIns="0" tIns="0" rIns="0" bIns="0" rtlCol="0" anchor="ctr"/>
          <a:lstStyle/>
          <a:p>
            <a:pPr marL="0" indent="0" algn="ctr">
              <a:buNone/>
            </a:pPr>
            <a:r>
              <a:rPr lang="en-US" sz="1200" b="1">
                <a:solidFill>
                  <a:srgbClr val="1D252D"/>
                </a:solidFill>
                <a:latin typeface="Arial" pitchFamily="34" charset="0"/>
                <a:ea typeface="Arial" pitchFamily="34" charset="-122"/>
                <a:cs typeface="Arial" pitchFamily="34" charset="-120"/>
              </a:rPr>
              <a:t>Anthropic</a:t>
            </a:r>
            <a:endParaRPr lang="en-US" sz="1200"/>
          </a:p>
        </p:txBody>
      </p:sp>
      <p:sp>
        <p:nvSpPr>
          <p:cNvPr id="12" name="Shape 10"/>
          <p:cNvSpPr/>
          <p:nvPr/>
        </p:nvSpPr>
        <p:spPr>
          <a:xfrm>
            <a:off x="3319272" y="1847088"/>
            <a:ext cx="2606040" cy="438912"/>
          </a:xfrm>
          <a:prstGeom prst="roundRect">
            <a:avLst>
              <a:gd name="adj" fmla="val 12500"/>
            </a:avLst>
          </a:prstGeom>
          <a:solidFill>
            <a:srgbClr val="FDF6F1"/>
          </a:solidFill>
          <a:ln w="12700">
            <a:solidFill>
              <a:srgbClr val="FDF6F1"/>
            </a:solidFill>
            <a:prstDash val="solid"/>
          </a:ln>
        </p:spPr>
        <p:txBody>
          <a:bodyPr/>
          <a:lstStyle/>
          <a:p>
            <a:endParaRPr lang="en-US"/>
          </a:p>
        </p:txBody>
      </p:sp>
      <p:sp>
        <p:nvSpPr>
          <p:cNvPr id="13" name="Text 11"/>
          <p:cNvSpPr/>
          <p:nvPr/>
        </p:nvSpPr>
        <p:spPr>
          <a:xfrm>
            <a:off x="3319272" y="1847088"/>
            <a:ext cx="2606040" cy="438912"/>
          </a:xfrm>
          <a:prstGeom prst="rect">
            <a:avLst/>
          </a:prstGeom>
          <a:noFill/>
          <a:ln/>
        </p:spPr>
        <p:txBody>
          <a:bodyPr wrap="square" lIns="0" tIns="0" rIns="0" bIns="0" rtlCol="0" anchor="ctr"/>
          <a:lstStyle/>
          <a:p>
            <a:pPr marL="0" indent="0" algn="ctr">
              <a:buNone/>
            </a:pPr>
            <a:r>
              <a:rPr lang="en-US" sz="1200" b="1">
                <a:solidFill>
                  <a:srgbClr val="1D252D"/>
                </a:solidFill>
                <a:latin typeface="Arial" pitchFamily="34" charset="0"/>
                <a:ea typeface="Arial" pitchFamily="34" charset="-122"/>
                <a:cs typeface="Arial" pitchFamily="34" charset="-120"/>
              </a:rPr>
              <a:t>GitHub Copilot</a:t>
            </a:r>
            <a:endParaRPr lang="en-US" sz="1200"/>
          </a:p>
        </p:txBody>
      </p:sp>
      <p:sp>
        <p:nvSpPr>
          <p:cNvPr id="14" name="Shape 12"/>
          <p:cNvSpPr/>
          <p:nvPr/>
        </p:nvSpPr>
        <p:spPr>
          <a:xfrm>
            <a:off x="6135624" y="1847088"/>
            <a:ext cx="2606040" cy="438912"/>
          </a:xfrm>
          <a:prstGeom prst="roundRect">
            <a:avLst>
              <a:gd name="adj" fmla="val 12500"/>
            </a:avLst>
          </a:prstGeom>
          <a:solidFill>
            <a:srgbClr val="FDF6F1"/>
          </a:solidFill>
          <a:ln w="12700">
            <a:solidFill>
              <a:srgbClr val="FDF6F1"/>
            </a:solidFill>
            <a:prstDash val="solid"/>
          </a:ln>
        </p:spPr>
        <p:txBody>
          <a:bodyPr/>
          <a:lstStyle/>
          <a:p>
            <a:endParaRPr lang="en-US"/>
          </a:p>
        </p:txBody>
      </p:sp>
      <p:sp>
        <p:nvSpPr>
          <p:cNvPr id="15" name="Text 13"/>
          <p:cNvSpPr/>
          <p:nvPr/>
        </p:nvSpPr>
        <p:spPr>
          <a:xfrm>
            <a:off x="6135624" y="1847088"/>
            <a:ext cx="2606040" cy="438912"/>
          </a:xfrm>
          <a:prstGeom prst="rect">
            <a:avLst/>
          </a:prstGeom>
          <a:noFill/>
          <a:ln/>
        </p:spPr>
        <p:txBody>
          <a:bodyPr wrap="square" lIns="0" tIns="0" rIns="0" bIns="0" rtlCol="0" anchor="ctr"/>
          <a:lstStyle/>
          <a:p>
            <a:pPr marL="0" indent="0" algn="ctr">
              <a:buNone/>
            </a:pPr>
            <a:r>
              <a:rPr lang="en-US" sz="1200" b="1">
                <a:solidFill>
                  <a:srgbClr val="1D252D"/>
                </a:solidFill>
                <a:latin typeface="Arial" pitchFamily="34" charset="0"/>
                <a:ea typeface="Arial" pitchFamily="34" charset="-122"/>
                <a:cs typeface="Arial" pitchFamily="34" charset="-120"/>
              </a:rPr>
              <a:t>Retrieval-only</a:t>
            </a:r>
            <a:endParaRPr lang="en-US" sz="1200"/>
          </a:p>
        </p:txBody>
      </p:sp>
      <p:sp>
        <p:nvSpPr>
          <p:cNvPr id="16" name="Text 14"/>
          <p:cNvSpPr/>
          <p:nvPr/>
        </p:nvSpPr>
        <p:spPr>
          <a:xfrm>
            <a:off x="551216" y="4334128"/>
            <a:ext cx="8138160" cy="274320"/>
          </a:xfrm>
          <a:prstGeom prst="rect">
            <a:avLst/>
          </a:prstGeom>
          <a:noFill/>
          <a:ln/>
        </p:spPr>
        <p:txBody>
          <a:bodyPr wrap="square" lIns="0" tIns="0" rIns="0" bIns="0" rtlCol="0" anchor="ctr"/>
          <a:lstStyle/>
          <a:p>
            <a:r>
              <a:rPr lang="en-US" sz="1400">
                <a:solidFill>
                  <a:srgbClr val="46555F"/>
                </a:solidFill>
                <a:ea typeface="+mn-lt"/>
                <a:cs typeface="+mn-lt"/>
              </a:rPr>
              <a:t>Deployment : Container build, cross-platform launchers, port-collision guard, public GitHub repository</a:t>
            </a:r>
            <a:endParaRPr lang="en-US" sz="1400" i="1">
              <a:solidFill>
                <a:srgbClr val="46555F"/>
              </a:solidFill>
              <a:latin typeface="Arial"/>
              <a:cs typeface="Arial"/>
            </a:endParaRPr>
          </a:p>
        </p:txBody>
      </p:sp>
      <p:sp>
        <p:nvSpPr>
          <p:cNvPr id="17" name="Shape 15"/>
          <p:cNvSpPr/>
          <p:nvPr/>
        </p:nvSpPr>
        <p:spPr>
          <a:xfrm>
            <a:off x="502920" y="2615828"/>
            <a:ext cx="310896" cy="310896"/>
          </a:xfrm>
          <a:prstGeom prst="ellipse">
            <a:avLst/>
          </a:prstGeom>
          <a:solidFill>
            <a:srgbClr val="FD5000"/>
          </a:solidFill>
          <a:ln/>
        </p:spPr>
        <p:txBody>
          <a:bodyPr/>
          <a:lstStyle/>
          <a:p>
            <a:endParaRPr lang="en-US"/>
          </a:p>
        </p:txBody>
      </p:sp>
      <p:sp>
        <p:nvSpPr>
          <p:cNvPr id="18" name="Text 16"/>
          <p:cNvSpPr/>
          <p:nvPr/>
        </p:nvSpPr>
        <p:spPr>
          <a:xfrm>
            <a:off x="502920" y="2615828"/>
            <a:ext cx="310896" cy="310896"/>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1</a:t>
            </a:r>
            <a:endParaRPr lang="en-US" sz="1300"/>
          </a:p>
        </p:txBody>
      </p:sp>
      <p:sp>
        <p:nvSpPr>
          <p:cNvPr id="19" name="Text 17"/>
          <p:cNvSpPr/>
          <p:nvPr/>
        </p:nvSpPr>
        <p:spPr>
          <a:xfrm>
            <a:off x="932688" y="2597540"/>
            <a:ext cx="2377440" cy="237744"/>
          </a:xfrm>
          <a:prstGeom prst="rect">
            <a:avLst/>
          </a:prstGeom>
          <a:noFill/>
          <a:ln/>
        </p:spPr>
        <p:txBody>
          <a:bodyPr wrap="square" lIns="0" tIns="0" rIns="0" bIns="0" rtlCol="0" anchor="ctr"/>
          <a:lstStyle/>
          <a:p>
            <a:pPr marL="0" indent="0">
              <a:buNone/>
            </a:pPr>
            <a:r>
              <a:rPr lang="en-US" sz="1150" b="1">
                <a:solidFill>
                  <a:srgbClr val="1D252D"/>
                </a:solidFill>
                <a:latin typeface="Arial" pitchFamily="34" charset="0"/>
                <a:ea typeface="Arial" pitchFamily="34" charset="-122"/>
                <a:cs typeface="Arial" pitchFamily="34" charset="-120"/>
              </a:rPr>
              <a:t>Live model discovery</a:t>
            </a:r>
            <a:endParaRPr lang="en-US" sz="1150"/>
          </a:p>
        </p:txBody>
      </p:sp>
      <p:sp>
        <p:nvSpPr>
          <p:cNvPr id="20" name="Text 18"/>
          <p:cNvSpPr/>
          <p:nvPr/>
        </p:nvSpPr>
        <p:spPr>
          <a:xfrm>
            <a:off x="3049395" y="2533146"/>
            <a:ext cx="5760720" cy="475488"/>
          </a:xfrm>
          <a:prstGeom prst="rect">
            <a:avLst/>
          </a:prstGeom>
          <a:noFill/>
          <a:ln/>
        </p:spPr>
        <p:txBody>
          <a:bodyPr wrap="square" lIns="0" tIns="0" rIns="0" bIns="0" rtlCol="0" anchor="ctr"/>
          <a:lstStyle/>
          <a:p>
            <a:pPr marL="0" indent="0">
              <a:buNone/>
            </a:pPr>
            <a:r>
              <a:rPr lang="en-US" sz="1050">
                <a:solidFill>
                  <a:srgbClr val="46555F"/>
                </a:solidFill>
                <a:latin typeface="Arial" pitchFamily="34" charset="0"/>
                <a:ea typeface="Arial" pitchFamily="34" charset="-122"/>
                <a:cs typeface="Arial" pitchFamily="34" charset="-120"/>
              </a:rPr>
              <a:t>Model lists come from each provider's API — never hardcoded. Copilot exposed 38 models, OpenAI 73.</a:t>
            </a:r>
            <a:endParaRPr lang="en-US" sz="1050"/>
          </a:p>
        </p:txBody>
      </p:sp>
      <p:sp>
        <p:nvSpPr>
          <p:cNvPr id="21" name="Shape 19"/>
          <p:cNvSpPr/>
          <p:nvPr/>
        </p:nvSpPr>
        <p:spPr>
          <a:xfrm>
            <a:off x="502920" y="3182756"/>
            <a:ext cx="310896" cy="310896"/>
          </a:xfrm>
          <a:prstGeom prst="ellipse">
            <a:avLst/>
          </a:prstGeom>
          <a:solidFill>
            <a:srgbClr val="FD5000"/>
          </a:solidFill>
          <a:ln/>
        </p:spPr>
        <p:txBody>
          <a:bodyPr/>
          <a:lstStyle/>
          <a:p>
            <a:endParaRPr lang="en-US"/>
          </a:p>
        </p:txBody>
      </p:sp>
      <p:sp>
        <p:nvSpPr>
          <p:cNvPr id="22" name="Text 20"/>
          <p:cNvSpPr/>
          <p:nvPr/>
        </p:nvSpPr>
        <p:spPr>
          <a:xfrm>
            <a:off x="502920" y="3182756"/>
            <a:ext cx="310896" cy="310896"/>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2</a:t>
            </a:r>
            <a:endParaRPr lang="en-US" sz="1300"/>
          </a:p>
        </p:txBody>
      </p:sp>
      <p:sp>
        <p:nvSpPr>
          <p:cNvPr id="23" name="Text 21"/>
          <p:cNvSpPr/>
          <p:nvPr/>
        </p:nvSpPr>
        <p:spPr>
          <a:xfrm>
            <a:off x="932688" y="3164468"/>
            <a:ext cx="2377440" cy="237744"/>
          </a:xfrm>
          <a:prstGeom prst="rect">
            <a:avLst/>
          </a:prstGeom>
          <a:noFill/>
          <a:ln/>
        </p:spPr>
        <p:txBody>
          <a:bodyPr wrap="square" lIns="0" tIns="0" rIns="0" bIns="0" rtlCol="0" anchor="ctr"/>
          <a:lstStyle/>
          <a:p>
            <a:pPr marL="0" indent="0">
              <a:buNone/>
            </a:pPr>
            <a:r>
              <a:rPr lang="en-US" sz="1150" b="1">
                <a:solidFill>
                  <a:srgbClr val="1D252D"/>
                </a:solidFill>
                <a:latin typeface="Arial" pitchFamily="34" charset="0"/>
                <a:ea typeface="Arial" pitchFamily="34" charset="-122"/>
                <a:cs typeface="Arial" pitchFamily="34" charset="-120"/>
              </a:rPr>
              <a:t>Attribution on every reply</a:t>
            </a:r>
            <a:endParaRPr lang="en-US" sz="1150"/>
          </a:p>
        </p:txBody>
      </p:sp>
      <p:sp>
        <p:nvSpPr>
          <p:cNvPr id="24" name="Text 22"/>
          <p:cNvSpPr/>
          <p:nvPr/>
        </p:nvSpPr>
        <p:spPr>
          <a:xfrm>
            <a:off x="3049395" y="3043729"/>
            <a:ext cx="5760720" cy="475488"/>
          </a:xfrm>
          <a:prstGeom prst="rect">
            <a:avLst/>
          </a:prstGeom>
          <a:noFill/>
          <a:ln/>
        </p:spPr>
        <p:txBody>
          <a:bodyPr wrap="square" lIns="0" tIns="0" rIns="0" bIns="0" rtlCol="0" anchor="ctr"/>
          <a:lstStyle/>
          <a:p>
            <a:pPr marL="0" indent="0">
              <a:buNone/>
            </a:pPr>
            <a:r>
              <a:rPr lang="en-US" sz="1050">
                <a:solidFill>
                  <a:srgbClr val="46555F"/>
                </a:solidFill>
                <a:latin typeface="Arial" pitchFamily="34" charset="0"/>
                <a:ea typeface="Arial" pitchFamily="34" charset="-122"/>
                <a:cs typeface="Arial" pitchFamily="34" charset="-120"/>
              </a:rPr>
              <a:t>Each answer names the provider AND model that produced it, so a failure points at one model.</a:t>
            </a:r>
            <a:endParaRPr lang="en-US" sz="1050"/>
          </a:p>
        </p:txBody>
      </p:sp>
      <p:sp>
        <p:nvSpPr>
          <p:cNvPr id="25" name="Shape 23"/>
          <p:cNvSpPr/>
          <p:nvPr/>
        </p:nvSpPr>
        <p:spPr>
          <a:xfrm>
            <a:off x="502920" y="3749684"/>
            <a:ext cx="310896" cy="310896"/>
          </a:xfrm>
          <a:prstGeom prst="ellipse">
            <a:avLst/>
          </a:prstGeom>
          <a:solidFill>
            <a:srgbClr val="FD5000"/>
          </a:solidFill>
          <a:ln/>
        </p:spPr>
        <p:txBody>
          <a:bodyPr/>
          <a:lstStyle/>
          <a:p>
            <a:endParaRPr lang="en-US"/>
          </a:p>
        </p:txBody>
      </p:sp>
      <p:sp>
        <p:nvSpPr>
          <p:cNvPr id="26" name="Text 24"/>
          <p:cNvSpPr/>
          <p:nvPr/>
        </p:nvSpPr>
        <p:spPr>
          <a:xfrm>
            <a:off x="502920" y="3749684"/>
            <a:ext cx="310896" cy="310896"/>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3</a:t>
            </a:r>
            <a:endParaRPr lang="en-US" sz="1300"/>
          </a:p>
        </p:txBody>
      </p:sp>
      <p:sp>
        <p:nvSpPr>
          <p:cNvPr id="27" name="Text 25"/>
          <p:cNvSpPr/>
          <p:nvPr/>
        </p:nvSpPr>
        <p:spPr>
          <a:xfrm>
            <a:off x="932688" y="3731396"/>
            <a:ext cx="2377440" cy="237744"/>
          </a:xfrm>
          <a:prstGeom prst="rect">
            <a:avLst/>
          </a:prstGeom>
          <a:noFill/>
          <a:ln/>
        </p:spPr>
        <p:txBody>
          <a:bodyPr wrap="square" lIns="0" tIns="0" rIns="0" bIns="0" rtlCol="0" anchor="ctr"/>
          <a:lstStyle/>
          <a:p>
            <a:pPr marL="0" indent="0">
              <a:buNone/>
            </a:pPr>
            <a:r>
              <a:rPr lang="en-US" sz="1150" b="1">
                <a:solidFill>
                  <a:srgbClr val="1D252D"/>
                </a:solidFill>
                <a:latin typeface="Arial" pitchFamily="34" charset="0"/>
                <a:ea typeface="Arial" pitchFamily="34" charset="-122"/>
                <a:cs typeface="Arial" pitchFamily="34" charset="-120"/>
              </a:rPr>
              <a:t>Credentials never touch disk</a:t>
            </a:r>
            <a:endParaRPr lang="en-US" sz="1150"/>
          </a:p>
        </p:txBody>
      </p:sp>
      <p:sp>
        <p:nvSpPr>
          <p:cNvPr id="28" name="Text 26"/>
          <p:cNvSpPr/>
          <p:nvPr/>
        </p:nvSpPr>
        <p:spPr>
          <a:xfrm>
            <a:off x="3049395" y="3610657"/>
            <a:ext cx="5760720" cy="475488"/>
          </a:xfrm>
          <a:prstGeom prst="rect">
            <a:avLst/>
          </a:prstGeom>
          <a:noFill/>
          <a:ln/>
        </p:spPr>
        <p:txBody>
          <a:bodyPr wrap="square" lIns="0" tIns="0" rIns="0" bIns="0" rtlCol="0" anchor="ctr"/>
          <a:lstStyle/>
          <a:p>
            <a:pPr marL="0" indent="0">
              <a:buNone/>
            </a:pPr>
            <a:r>
              <a:rPr lang="en-US" sz="1050">
                <a:solidFill>
                  <a:srgbClr val="46555F"/>
                </a:solidFill>
                <a:latin typeface="Arial" pitchFamily="34" charset="0"/>
                <a:ea typeface="Arial" pitchFamily="34" charset="-122"/>
                <a:cs typeface="Arial" pitchFamily="34" charset="-120"/>
              </a:rPr>
              <a:t>Keys entered in the sidebar, held in process. Copilot uses browser device-flow sign-in.</a:t>
            </a:r>
            <a:endParaRPr lang="en-US" sz="10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10896"/>
            <a:ext cx="8138160" cy="219456"/>
          </a:xfrm>
          <a:prstGeom prst="rect">
            <a:avLst/>
          </a:prstGeom>
          <a:noFill/>
          <a:ln/>
        </p:spPr>
        <p:txBody>
          <a:bodyPr wrap="square" lIns="0" tIns="0" rIns="0" bIns="0" rtlCol="0" anchor="ctr"/>
          <a:lstStyle/>
          <a:p>
            <a:pPr marL="0" indent="0">
              <a:buNone/>
            </a:pPr>
            <a:r>
              <a:rPr lang="en-US" sz="1100" b="1" kern="0" spc="200">
                <a:solidFill>
                  <a:srgbClr val="FD5000"/>
                </a:solidFill>
                <a:latin typeface="Arial" pitchFamily="34" charset="0"/>
                <a:ea typeface="Arial" pitchFamily="34" charset="-122"/>
                <a:cs typeface="Arial" pitchFamily="34" charset="-120"/>
              </a:rPr>
              <a:t>SCOPE</a:t>
            </a:r>
            <a:endParaRPr lang="en-US" sz="110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buNone/>
            </a:pPr>
            <a:r>
              <a:rPr lang="en-US" sz="3000" b="1">
                <a:solidFill>
                  <a:srgbClr val="1D252D"/>
                </a:solidFill>
                <a:latin typeface="Arial" pitchFamily="34" charset="0"/>
                <a:ea typeface="Arial" pitchFamily="34" charset="-122"/>
                <a:cs typeface="Arial" pitchFamily="34" charset="-120"/>
              </a:rPr>
              <a:t>Nine categories, minimum was five</a:t>
            </a:r>
            <a:endParaRPr lang="en-US" sz="3000"/>
          </a:p>
        </p:txBody>
      </p:sp>
      <p:sp>
        <p:nvSpPr>
          <p:cNvPr id="4" name="Shape 2"/>
          <p:cNvSpPr/>
          <p:nvPr/>
        </p:nvSpPr>
        <p:spPr>
          <a:xfrm>
            <a:off x="502920" y="1261872"/>
            <a:ext cx="2606040" cy="713232"/>
          </a:xfrm>
          <a:prstGeom prst="roundRect">
            <a:avLst>
              <a:gd name="adj" fmla="val 7692"/>
            </a:avLst>
          </a:prstGeom>
          <a:solidFill>
            <a:srgbClr val="FDF6F1"/>
          </a:solidFill>
          <a:ln w="12700">
            <a:solidFill>
              <a:srgbClr val="FDF6F1"/>
            </a:solidFill>
            <a:prstDash val="solid"/>
          </a:ln>
        </p:spPr>
        <p:txBody>
          <a:bodyPr/>
          <a:lstStyle/>
          <a:p>
            <a:endParaRPr lang="en-US"/>
          </a:p>
        </p:txBody>
      </p:sp>
      <p:sp>
        <p:nvSpPr>
          <p:cNvPr id="5" name="Text 3"/>
          <p:cNvSpPr/>
          <p:nvPr/>
        </p:nvSpPr>
        <p:spPr>
          <a:xfrm>
            <a:off x="630936" y="1380744"/>
            <a:ext cx="384048" cy="475488"/>
          </a:xfrm>
          <a:prstGeom prst="rect">
            <a:avLst/>
          </a:prstGeom>
          <a:noFill/>
          <a:ln/>
        </p:spPr>
        <p:txBody>
          <a:bodyPr wrap="square" lIns="0" tIns="0" rIns="0" bIns="0" rtlCol="0" anchor="ctr"/>
          <a:lstStyle/>
          <a:p>
            <a:pPr marL="0" indent="0" algn="ctr">
              <a:buNone/>
            </a:pPr>
            <a:r>
              <a:rPr lang="en-US" sz="1900" b="1">
                <a:solidFill>
                  <a:srgbClr val="FD5000"/>
                </a:solidFill>
                <a:latin typeface="Arial" pitchFamily="34" charset="0"/>
                <a:ea typeface="Arial" pitchFamily="34" charset="-122"/>
                <a:cs typeface="Arial" pitchFamily="34" charset="-120"/>
              </a:rPr>
              <a:t>1</a:t>
            </a:r>
            <a:endParaRPr lang="en-US" sz="1900"/>
          </a:p>
        </p:txBody>
      </p:sp>
      <p:sp>
        <p:nvSpPr>
          <p:cNvPr id="6" name="Text 4"/>
          <p:cNvSpPr/>
          <p:nvPr/>
        </p:nvSpPr>
        <p:spPr>
          <a:xfrm>
            <a:off x="1069848" y="1362456"/>
            <a:ext cx="1920240" cy="237744"/>
          </a:xfrm>
          <a:prstGeom prst="rect">
            <a:avLst/>
          </a:prstGeom>
          <a:noFill/>
          <a:ln/>
        </p:spPr>
        <p:txBody>
          <a:bodyPr wrap="square" lIns="0" tIns="0" rIns="0" bIns="0" rtlCol="0" anchor="ctr"/>
          <a:lstStyle/>
          <a:p>
            <a:pPr marL="0" indent="0">
              <a:buNone/>
            </a:pPr>
            <a:r>
              <a:rPr lang="en-US" sz="1100" b="1">
                <a:solidFill>
                  <a:srgbClr val="1D252D"/>
                </a:solidFill>
                <a:latin typeface="Arial" pitchFamily="34" charset="0"/>
                <a:ea typeface="Arial" pitchFamily="34" charset="-122"/>
                <a:cs typeface="Arial" pitchFamily="34" charset="-120"/>
              </a:rPr>
              <a:t>Working Prototype</a:t>
            </a:r>
            <a:endParaRPr lang="en-US" sz="1100"/>
          </a:p>
        </p:txBody>
      </p:sp>
      <p:sp>
        <p:nvSpPr>
          <p:cNvPr id="7" name="Text 5"/>
          <p:cNvSpPr/>
          <p:nvPr/>
        </p:nvSpPr>
        <p:spPr>
          <a:xfrm>
            <a:off x="1069848" y="1600200"/>
            <a:ext cx="1965960" cy="310896"/>
          </a:xfrm>
          <a:prstGeom prst="rect">
            <a:avLst/>
          </a:prstGeom>
          <a:noFill/>
          <a:ln/>
        </p:spPr>
        <p:txBody>
          <a:bodyPr wrap="square" lIns="0" tIns="0" rIns="0" bIns="0" rtlCol="0" anchor="ctr"/>
          <a:lstStyle/>
          <a:p>
            <a:pPr marL="0" indent="0">
              <a:buNone/>
            </a:pPr>
            <a:r>
              <a:rPr lang="en-US" sz="950">
                <a:solidFill>
                  <a:srgbClr val="46555F"/>
                </a:solidFill>
                <a:latin typeface="Arial"/>
                <a:ea typeface="Arial" pitchFamily="34" charset="-122"/>
                <a:cs typeface="Arial"/>
                <a:hlinkClick r:id="rId3"/>
              </a:rPr>
              <a:t>Streamlit app</a:t>
            </a:r>
            <a:r>
              <a:rPr lang="en-US" sz="950">
                <a:solidFill>
                  <a:srgbClr val="46555F"/>
                </a:solidFill>
                <a:latin typeface="Arial"/>
                <a:ea typeface="Arial" pitchFamily="34" charset="-122"/>
                <a:cs typeface="Arial"/>
              </a:rPr>
              <a:t>, live demo</a:t>
            </a:r>
            <a:endParaRPr lang="en-US" sz="950">
              <a:latin typeface="Arial"/>
              <a:cs typeface="Arial"/>
            </a:endParaRPr>
          </a:p>
        </p:txBody>
      </p:sp>
      <p:sp>
        <p:nvSpPr>
          <p:cNvPr id="8" name="Shape 6"/>
          <p:cNvSpPr/>
          <p:nvPr/>
        </p:nvSpPr>
        <p:spPr>
          <a:xfrm>
            <a:off x="3319272" y="1261872"/>
            <a:ext cx="2606040" cy="713232"/>
          </a:xfrm>
          <a:prstGeom prst="roundRect">
            <a:avLst>
              <a:gd name="adj" fmla="val 7692"/>
            </a:avLst>
          </a:prstGeom>
          <a:solidFill>
            <a:srgbClr val="FDF6F1"/>
          </a:solidFill>
          <a:ln w="12700">
            <a:solidFill>
              <a:srgbClr val="FDF6F1"/>
            </a:solidFill>
            <a:prstDash val="solid"/>
          </a:ln>
        </p:spPr>
        <p:txBody>
          <a:bodyPr/>
          <a:lstStyle/>
          <a:p>
            <a:endParaRPr lang="en-US"/>
          </a:p>
        </p:txBody>
      </p:sp>
      <p:sp>
        <p:nvSpPr>
          <p:cNvPr id="9" name="Text 7"/>
          <p:cNvSpPr/>
          <p:nvPr/>
        </p:nvSpPr>
        <p:spPr>
          <a:xfrm>
            <a:off x="3447288" y="1380744"/>
            <a:ext cx="384048" cy="475488"/>
          </a:xfrm>
          <a:prstGeom prst="rect">
            <a:avLst/>
          </a:prstGeom>
          <a:noFill/>
          <a:ln/>
        </p:spPr>
        <p:txBody>
          <a:bodyPr wrap="square" lIns="0" tIns="0" rIns="0" bIns="0" rtlCol="0" anchor="ctr"/>
          <a:lstStyle/>
          <a:p>
            <a:pPr marL="0" indent="0" algn="ctr">
              <a:buNone/>
            </a:pPr>
            <a:r>
              <a:rPr lang="en-US" sz="1900" b="1">
                <a:solidFill>
                  <a:srgbClr val="FD5000"/>
                </a:solidFill>
                <a:latin typeface="Arial" pitchFamily="34" charset="0"/>
                <a:ea typeface="Arial" pitchFamily="34" charset="-122"/>
                <a:cs typeface="Arial" pitchFamily="34" charset="-120"/>
              </a:rPr>
              <a:t>2</a:t>
            </a:r>
            <a:endParaRPr lang="en-US" sz="1900"/>
          </a:p>
        </p:txBody>
      </p:sp>
      <p:sp>
        <p:nvSpPr>
          <p:cNvPr id="10" name="Text 8"/>
          <p:cNvSpPr/>
          <p:nvPr/>
        </p:nvSpPr>
        <p:spPr>
          <a:xfrm>
            <a:off x="3886200" y="1362456"/>
            <a:ext cx="1920240" cy="237744"/>
          </a:xfrm>
          <a:prstGeom prst="rect">
            <a:avLst/>
          </a:prstGeom>
          <a:noFill/>
          <a:ln/>
        </p:spPr>
        <p:txBody>
          <a:bodyPr wrap="square" lIns="0" tIns="0" rIns="0" bIns="0" rtlCol="0" anchor="ctr"/>
          <a:lstStyle/>
          <a:p>
            <a:pPr marL="0" indent="0">
              <a:buNone/>
            </a:pPr>
            <a:r>
              <a:rPr lang="en-US" sz="1100" b="1">
                <a:solidFill>
                  <a:srgbClr val="1D252D"/>
                </a:solidFill>
                <a:latin typeface="Arial" pitchFamily="34" charset="0"/>
                <a:ea typeface="Arial" pitchFamily="34" charset="-122"/>
                <a:cs typeface="Arial" pitchFamily="34" charset="-120"/>
              </a:rPr>
              <a:t>RAG</a:t>
            </a:r>
            <a:endParaRPr lang="en-US" sz="1100"/>
          </a:p>
        </p:txBody>
      </p:sp>
      <p:sp>
        <p:nvSpPr>
          <p:cNvPr id="11" name="Text 9"/>
          <p:cNvSpPr/>
          <p:nvPr/>
        </p:nvSpPr>
        <p:spPr>
          <a:xfrm>
            <a:off x="3886200" y="1600200"/>
            <a:ext cx="1965960" cy="310896"/>
          </a:xfrm>
          <a:prstGeom prst="rect">
            <a:avLst/>
          </a:prstGeom>
          <a:noFill/>
          <a:ln/>
        </p:spPr>
        <p:txBody>
          <a:bodyPr wrap="square" lIns="0" tIns="0" rIns="0" bIns="0" rtlCol="0" anchor="ctr"/>
          <a:lstStyle/>
          <a:p>
            <a:pPr marL="0" indent="0">
              <a:buNone/>
            </a:pPr>
            <a:r>
              <a:rPr lang="en-US" sz="950">
                <a:solidFill>
                  <a:srgbClr val="46555F"/>
                </a:solidFill>
                <a:latin typeface="Arial" pitchFamily="34" charset="0"/>
                <a:ea typeface="Arial" pitchFamily="34" charset="-122"/>
                <a:cs typeface="Arial" pitchFamily="34" charset="-120"/>
              </a:rPr>
              <a:t>Chroma, citations, abstention</a:t>
            </a:r>
            <a:endParaRPr lang="en-US" sz="950"/>
          </a:p>
        </p:txBody>
      </p:sp>
      <p:sp>
        <p:nvSpPr>
          <p:cNvPr id="12" name="Shape 10"/>
          <p:cNvSpPr/>
          <p:nvPr/>
        </p:nvSpPr>
        <p:spPr>
          <a:xfrm>
            <a:off x="6135624" y="1261872"/>
            <a:ext cx="2606040" cy="713232"/>
          </a:xfrm>
          <a:prstGeom prst="roundRect">
            <a:avLst>
              <a:gd name="adj" fmla="val 7692"/>
            </a:avLst>
          </a:prstGeom>
          <a:solidFill>
            <a:srgbClr val="FDF6F1"/>
          </a:solidFill>
          <a:ln w="12700">
            <a:solidFill>
              <a:srgbClr val="FDF6F1"/>
            </a:solidFill>
            <a:prstDash val="solid"/>
          </a:ln>
        </p:spPr>
        <p:txBody>
          <a:bodyPr/>
          <a:lstStyle/>
          <a:p>
            <a:endParaRPr lang="en-US"/>
          </a:p>
        </p:txBody>
      </p:sp>
      <p:sp>
        <p:nvSpPr>
          <p:cNvPr id="13" name="Text 11"/>
          <p:cNvSpPr/>
          <p:nvPr/>
        </p:nvSpPr>
        <p:spPr>
          <a:xfrm>
            <a:off x="6263640" y="1380744"/>
            <a:ext cx="384048" cy="475488"/>
          </a:xfrm>
          <a:prstGeom prst="rect">
            <a:avLst/>
          </a:prstGeom>
          <a:noFill/>
          <a:ln/>
        </p:spPr>
        <p:txBody>
          <a:bodyPr wrap="square" lIns="0" tIns="0" rIns="0" bIns="0" rtlCol="0" anchor="ctr"/>
          <a:lstStyle/>
          <a:p>
            <a:pPr marL="0" indent="0" algn="ctr">
              <a:buNone/>
            </a:pPr>
            <a:r>
              <a:rPr lang="en-US" sz="1900" b="1">
                <a:solidFill>
                  <a:srgbClr val="FD5000"/>
                </a:solidFill>
                <a:latin typeface="Arial" pitchFamily="34" charset="0"/>
                <a:ea typeface="Arial" pitchFamily="34" charset="-122"/>
                <a:cs typeface="Arial" pitchFamily="34" charset="-120"/>
              </a:rPr>
              <a:t>3</a:t>
            </a:r>
            <a:endParaRPr lang="en-US" sz="1900"/>
          </a:p>
        </p:txBody>
      </p:sp>
      <p:sp>
        <p:nvSpPr>
          <p:cNvPr id="14" name="Text 12"/>
          <p:cNvSpPr/>
          <p:nvPr/>
        </p:nvSpPr>
        <p:spPr>
          <a:xfrm>
            <a:off x="6702552" y="1362456"/>
            <a:ext cx="1920240" cy="237744"/>
          </a:xfrm>
          <a:prstGeom prst="rect">
            <a:avLst/>
          </a:prstGeom>
          <a:noFill/>
          <a:ln/>
        </p:spPr>
        <p:txBody>
          <a:bodyPr wrap="square" lIns="0" tIns="0" rIns="0" bIns="0" rtlCol="0" anchor="ctr"/>
          <a:lstStyle/>
          <a:p>
            <a:pPr marL="0" indent="0">
              <a:buNone/>
            </a:pPr>
            <a:r>
              <a:rPr lang="en-US" sz="1100" b="1">
                <a:solidFill>
                  <a:srgbClr val="1D252D"/>
                </a:solidFill>
                <a:latin typeface="Arial" pitchFamily="34" charset="0"/>
                <a:ea typeface="Arial" pitchFamily="34" charset="-122"/>
                <a:cs typeface="Arial" pitchFamily="34" charset="-120"/>
              </a:rPr>
              <a:t>Advanced Chunking</a:t>
            </a:r>
            <a:endParaRPr lang="en-US" sz="1100"/>
          </a:p>
        </p:txBody>
      </p:sp>
      <p:sp>
        <p:nvSpPr>
          <p:cNvPr id="15" name="Text 13"/>
          <p:cNvSpPr/>
          <p:nvPr/>
        </p:nvSpPr>
        <p:spPr>
          <a:xfrm>
            <a:off x="6702552" y="1600200"/>
            <a:ext cx="1965960" cy="310896"/>
          </a:xfrm>
          <a:prstGeom prst="rect">
            <a:avLst/>
          </a:prstGeom>
          <a:noFill/>
          <a:ln/>
        </p:spPr>
        <p:txBody>
          <a:bodyPr wrap="square" lIns="0" tIns="0" rIns="0" bIns="0" rtlCol="0" anchor="ctr"/>
          <a:lstStyle/>
          <a:p>
            <a:pPr marL="0" indent="0">
              <a:buNone/>
            </a:pPr>
            <a:r>
              <a:rPr lang="en-US" sz="950">
                <a:solidFill>
                  <a:srgbClr val="46555F"/>
                </a:solidFill>
                <a:latin typeface="Arial" pitchFamily="34" charset="0"/>
                <a:ea typeface="Arial" pitchFamily="34" charset="-122"/>
                <a:cs typeface="Arial" pitchFamily="34" charset="-120"/>
              </a:rPr>
              <a:t>4 strategies, benchmarked</a:t>
            </a:r>
            <a:endParaRPr lang="en-US" sz="950"/>
          </a:p>
        </p:txBody>
      </p:sp>
      <p:sp>
        <p:nvSpPr>
          <p:cNvPr id="16" name="Shape 14"/>
          <p:cNvSpPr/>
          <p:nvPr/>
        </p:nvSpPr>
        <p:spPr>
          <a:xfrm>
            <a:off x="502920" y="2103120"/>
            <a:ext cx="2606040" cy="713232"/>
          </a:xfrm>
          <a:prstGeom prst="roundRect">
            <a:avLst>
              <a:gd name="adj" fmla="val 7692"/>
            </a:avLst>
          </a:prstGeom>
          <a:solidFill>
            <a:srgbClr val="FDF6F1"/>
          </a:solidFill>
          <a:ln w="12700">
            <a:solidFill>
              <a:srgbClr val="FDF6F1"/>
            </a:solidFill>
            <a:prstDash val="solid"/>
          </a:ln>
        </p:spPr>
        <p:txBody>
          <a:bodyPr/>
          <a:lstStyle/>
          <a:p>
            <a:endParaRPr lang="en-US"/>
          </a:p>
        </p:txBody>
      </p:sp>
      <p:sp>
        <p:nvSpPr>
          <p:cNvPr id="17" name="Text 15"/>
          <p:cNvSpPr/>
          <p:nvPr/>
        </p:nvSpPr>
        <p:spPr>
          <a:xfrm>
            <a:off x="630936" y="2221992"/>
            <a:ext cx="384048" cy="475488"/>
          </a:xfrm>
          <a:prstGeom prst="rect">
            <a:avLst/>
          </a:prstGeom>
          <a:noFill/>
          <a:ln/>
        </p:spPr>
        <p:txBody>
          <a:bodyPr wrap="square" lIns="0" tIns="0" rIns="0" bIns="0" rtlCol="0" anchor="ctr"/>
          <a:lstStyle/>
          <a:p>
            <a:pPr marL="0" indent="0" algn="ctr">
              <a:buNone/>
            </a:pPr>
            <a:r>
              <a:rPr lang="en-US" sz="1900" b="1">
                <a:solidFill>
                  <a:srgbClr val="FD5000"/>
                </a:solidFill>
                <a:latin typeface="Arial" pitchFamily="34" charset="0"/>
                <a:ea typeface="Arial" pitchFamily="34" charset="-122"/>
                <a:cs typeface="Arial" pitchFamily="34" charset="-120"/>
              </a:rPr>
              <a:t>5</a:t>
            </a:r>
            <a:endParaRPr lang="en-US" sz="1900"/>
          </a:p>
        </p:txBody>
      </p:sp>
      <p:sp>
        <p:nvSpPr>
          <p:cNvPr id="18" name="Text 16"/>
          <p:cNvSpPr/>
          <p:nvPr/>
        </p:nvSpPr>
        <p:spPr>
          <a:xfrm>
            <a:off x="1069848" y="2203704"/>
            <a:ext cx="1920240" cy="237744"/>
          </a:xfrm>
          <a:prstGeom prst="rect">
            <a:avLst/>
          </a:prstGeom>
          <a:noFill/>
          <a:ln/>
        </p:spPr>
        <p:txBody>
          <a:bodyPr wrap="square" lIns="0" tIns="0" rIns="0" bIns="0" rtlCol="0" anchor="ctr"/>
          <a:lstStyle/>
          <a:p>
            <a:pPr marL="0" indent="0">
              <a:buNone/>
            </a:pPr>
            <a:r>
              <a:rPr lang="en-US" sz="1100" b="1">
                <a:solidFill>
                  <a:srgbClr val="1D252D"/>
                </a:solidFill>
                <a:latin typeface="Arial" pitchFamily="34" charset="0"/>
                <a:ea typeface="Arial" pitchFamily="34" charset="-122"/>
                <a:cs typeface="Arial" pitchFamily="34" charset="-120"/>
              </a:rPr>
              <a:t>Memory</a:t>
            </a:r>
            <a:endParaRPr lang="en-US" sz="1100"/>
          </a:p>
        </p:txBody>
      </p:sp>
      <p:sp>
        <p:nvSpPr>
          <p:cNvPr id="19" name="Text 17"/>
          <p:cNvSpPr/>
          <p:nvPr/>
        </p:nvSpPr>
        <p:spPr>
          <a:xfrm>
            <a:off x="1069848" y="2441448"/>
            <a:ext cx="1965960" cy="310896"/>
          </a:xfrm>
          <a:prstGeom prst="rect">
            <a:avLst/>
          </a:prstGeom>
          <a:noFill/>
          <a:ln/>
        </p:spPr>
        <p:txBody>
          <a:bodyPr wrap="square" lIns="0" tIns="0" rIns="0" bIns="0" rtlCol="0" anchor="ctr"/>
          <a:lstStyle/>
          <a:p>
            <a:pPr marL="0" indent="0">
              <a:buNone/>
            </a:pPr>
            <a:r>
              <a:rPr lang="en-US" sz="950">
                <a:solidFill>
                  <a:srgbClr val="46555F"/>
                </a:solidFill>
                <a:latin typeface="Arial" pitchFamily="34" charset="0"/>
                <a:ea typeface="Arial" pitchFamily="34" charset="-122"/>
                <a:cs typeface="Arial" pitchFamily="34" charset="-120"/>
              </a:rPr>
              <a:t>6 turns fed back into the prompt</a:t>
            </a:r>
            <a:endParaRPr lang="en-US" sz="950"/>
          </a:p>
        </p:txBody>
      </p:sp>
      <p:sp>
        <p:nvSpPr>
          <p:cNvPr id="20" name="Shape 18"/>
          <p:cNvSpPr/>
          <p:nvPr/>
        </p:nvSpPr>
        <p:spPr>
          <a:xfrm>
            <a:off x="3319272" y="2103120"/>
            <a:ext cx="2606040" cy="713232"/>
          </a:xfrm>
          <a:prstGeom prst="roundRect">
            <a:avLst>
              <a:gd name="adj" fmla="val 7692"/>
            </a:avLst>
          </a:prstGeom>
          <a:solidFill>
            <a:srgbClr val="FDF6F1"/>
          </a:solidFill>
          <a:ln w="12700">
            <a:solidFill>
              <a:srgbClr val="FDF6F1"/>
            </a:solidFill>
            <a:prstDash val="solid"/>
          </a:ln>
        </p:spPr>
        <p:txBody>
          <a:bodyPr/>
          <a:lstStyle/>
          <a:p>
            <a:endParaRPr lang="en-US"/>
          </a:p>
        </p:txBody>
      </p:sp>
      <p:sp>
        <p:nvSpPr>
          <p:cNvPr id="21" name="Text 19"/>
          <p:cNvSpPr/>
          <p:nvPr/>
        </p:nvSpPr>
        <p:spPr>
          <a:xfrm>
            <a:off x="3447288" y="2221992"/>
            <a:ext cx="384048" cy="475488"/>
          </a:xfrm>
          <a:prstGeom prst="rect">
            <a:avLst/>
          </a:prstGeom>
          <a:noFill/>
          <a:ln/>
        </p:spPr>
        <p:txBody>
          <a:bodyPr wrap="square" lIns="0" tIns="0" rIns="0" bIns="0" rtlCol="0" anchor="ctr"/>
          <a:lstStyle/>
          <a:p>
            <a:pPr marL="0" indent="0" algn="ctr">
              <a:buNone/>
            </a:pPr>
            <a:r>
              <a:rPr lang="en-US" sz="1900" b="1">
                <a:solidFill>
                  <a:srgbClr val="FD5000"/>
                </a:solidFill>
                <a:latin typeface="Arial" pitchFamily="34" charset="0"/>
                <a:ea typeface="Arial" pitchFamily="34" charset="-122"/>
                <a:cs typeface="Arial" pitchFamily="34" charset="-120"/>
              </a:rPr>
              <a:t>6</a:t>
            </a:r>
            <a:endParaRPr lang="en-US" sz="1900"/>
          </a:p>
        </p:txBody>
      </p:sp>
      <p:sp>
        <p:nvSpPr>
          <p:cNvPr id="22" name="Text 20"/>
          <p:cNvSpPr/>
          <p:nvPr/>
        </p:nvSpPr>
        <p:spPr>
          <a:xfrm>
            <a:off x="3886200" y="2203704"/>
            <a:ext cx="1920240" cy="237744"/>
          </a:xfrm>
          <a:prstGeom prst="rect">
            <a:avLst/>
          </a:prstGeom>
          <a:noFill/>
          <a:ln/>
        </p:spPr>
        <p:txBody>
          <a:bodyPr wrap="square" lIns="0" tIns="0" rIns="0" bIns="0" rtlCol="0" anchor="ctr"/>
          <a:lstStyle/>
          <a:p>
            <a:pPr marL="0" indent="0">
              <a:buNone/>
            </a:pPr>
            <a:r>
              <a:rPr lang="en-US" sz="1100" b="1">
                <a:solidFill>
                  <a:srgbClr val="1D252D"/>
                </a:solidFill>
                <a:latin typeface="Arial" pitchFamily="34" charset="0"/>
                <a:ea typeface="Arial" pitchFamily="34" charset="-122"/>
                <a:cs typeface="Arial" pitchFamily="34" charset="-120"/>
              </a:rPr>
              <a:t>Tool Use</a:t>
            </a:r>
            <a:endParaRPr lang="en-US" sz="1100"/>
          </a:p>
        </p:txBody>
      </p:sp>
      <p:sp>
        <p:nvSpPr>
          <p:cNvPr id="23" name="Text 21"/>
          <p:cNvSpPr/>
          <p:nvPr/>
        </p:nvSpPr>
        <p:spPr>
          <a:xfrm>
            <a:off x="3886200" y="2441448"/>
            <a:ext cx="1965960" cy="310896"/>
          </a:xfrm>
          <a:prstGeom prst="rect">
            <a:avLst/>
          </a:prstGeom>
          <a:noFill/>
          <a:ln/>
        </p:spPr>
        <p:txBody>
          <a:bodyPr wrap="square" lIns="0" tIns="0" rIns="0" bIns="0" rtlCol="0" anchor="ctr"/>
          <a:lstStyle/>
          <a:p>
            <a:pPr marL="0" indent="0">
              <a:buNone/>
            </a:pPr>
            <a:r>
              <a:rPr lang="en-US" sz="950">
                <a:solidFill>
                  <a:srgbClr val="46555F"/>
                </a:solidFill>
                <a:latin typeface="Arial" pitchFamily="34" charset="0"/>
                <a:ea typeface="Arial" pitchFamily="34" charset="-122"/>
                <a:cs typeface="Arial" pitchFamily="34" charset="-120"/>
              </a:rPr>
              <a:t>Text-to-SQL over telemetry</a:t>
            </a:r>
            <a:endParaRPr lang="en-US" sz="950"/>
          </a:p>
        </p:txBody>
      </p:sp>
      <p:sp>
        <p:nvSpPr>
          <p:cNvPr id="24" name="Shape 22"/>
          <p:cNvSpPr/>
          <p:nvPr/>
        </p:nvSpPr>
        <p:spPr>
          <a:xfrm>
            <a:off x="6135624" y="2103120"/>
            <a:ext cx="2606040" cy="713232"/>
          </a:xfrm>
          <a:prstGeom prst="roundRect">
            <a:avLst>
              <a:gd name="adj" fmla="val 7692"/>
            </a:avLst>
          </a:prstGeom>
          <a:solidFill>
            <a:srgbClr val="FDF6F1"/>
          </a:solidFill>
          <a:ln w="12700">
            <a:solidFill>
              <a:srgbClr val="FDF6F1"/>
            </a:solidFill>
            <a:prstDash val="solid"/>
          </a:ln>
        </p:spPr>
        <p:txBody>
          <a:bodyPr/>
          <a:lstStyle/>
          <a:p>
            <a:endParaRPr lang="en-US"/>
          </a:p>
        </p:txBody>
      </p:sp>
      <p:sp>
        <p:nvSpPr>
          <p:cNvPr id="25" name="Text 23"/>
          <p:cNvSpPr/>
          <p:nvPr/>
        </p:nvSpPr>
        <p:spPr>
          <a:xfrm>
            <a:off x="6263640" y="2221992"/>
            <a:ext cx="384048" cy="475488"/>
          </a:xfrm>
          <a:prstGeom prst="rect">
            <a:avLst/>
          </a:prstGeom>
          <a:noFill/>
          <a:ln/>
        </p:spPr>
        <p:txBody>
          <a:bodyPr wrap="square" lIns="0" tIns="0" rIns="0" bIns="0" rtlCol="0" anchor="ctr"/>
          <a:lstStyle/>
          <a:p>
            <a:pPr marL="0" indent="0" algn="ctr">
              <a:buNone/>
            </a:pPr>
            <a:r>
              <a:rPr lang="en-US" sz="1900" b="1">
                <a:solidFill>
                  <a:srgbClr val="FD5000"/>
                </a:solidFill>
                <a:latin typeface="Arial" pitchFamily="34" charset="0"/>
                <a:ea typeface="Arial" pitchFamily="34" charset="-122"/>
                <a:cs typeface="Arial" pitchFamily="34" charset="-120"/>
              </a:rPr>
              <a:t>8</a:t>
            </a:r>
            <a:endParaRPr lang="en-US" sz="1900"/>
          </a:p>
        </p:txBody>
      </p:sp>
      <p:sp>
        <p:nvSpPr>
          <p:cNvPr id="26" name="Text 24"/>
          <p:cNvSpPr/>
          <p:nvPr/>
        </p:nvSpPr>
        <p:spPr>
          <a:xfrm>
            <a:off x="6702552" y="2203704"/>
            <a:ext cx="1920240" cy="237744"/>
          </a:xfrm>
          <a:prstGeom prst="rect">
            <a:avLst/>
          </a:prstGeom>
          <a:noFill/>
          <a:ln/>
        </p:spPr>
        <p:txBody>
          <a:bodyPr wrap="square" lIns="0" tIns="0" rIns="0" bIns="0" rtlCol="0" anchor="ctr"/>
          <a:lstStyle/>
          <a:p>
            <a:pPr marL="0" indent="0">
              <a:buNone/>
            </a:pPr>
            <a:r>
              <a:rPr lang="en-US" sz="1100" b="1">
                <a:solidFill>
                  <a:srgbClr val="1D252D"/>
                </a:solidFill>
                <a:latin typeface="Arial" pitchFamily="34" charset="0"/>
                <a:ea typeface="Arial" pitchFamily="34" charset="-122"/>
                <a:cs typeface="Arial" pitchFamily="34" charset="-120"/>
              </a:rPr>
              <a:t>Local LLM</a:t>
            </a:r>
            <a:endParaRPr lang="en-US" sz="1100"/>
          </a:p>
        </p:txBody>
      </p:sp>
      <p:sp>
        <p:nvSpPr>
          <p:cNvPr id="27" name="Text 25"/>
          <p:cNvSpPr/>
          <p:nvPr/>
        </p:nvSpPr>
        <p:spPr>
          <a:xfrm>
            <a:off x="6702552" y="2441448"/>
            <a:ext cx="1965960" cy="310896"/>
          </a:xfrm>
          <a:prstGeom prst="rect">
            <a:avLst/>
          </a:prstGeom>
          <a:noFill/>
          <a:ln/>
        </p:spPr>
        <p:txBody>
          <a:bodyPr wrap="square" lIns="0" tIns="0" rIns="0" bIns="0" rtlCol="0" anchor="ctr"/>
          <a:lstStyle/>
          <a:p>
            <a:pPr marL="0" indent="0">
              <a:buNone/>
            </a:pPr>
            <a:r>
              <a:rPr lang="en-US" sz="950">
                <a:solidFill>
                  <a:srgbClr val="46555F"/>
                </a:solidFill>
                <a:latin typeface="Arial" pitchFamily="34" charset="0"/>
                <a:ea typeface="Arial" pitchFamily="34" charset="-122"/>
                <a:cs typeface="Arial" pitchFamily="34" charset="-120"/>
              </a:rPr>
              <a:t>Ollama + LM Studio</a:t>
            </a:r>
            <a:endParaRPr lang="en-US" sz="950"/>
          </a:p>
        </p:txBody>
      </p:sp>
      <p:sp>
        <p:nvSpPr>
          <p:cNvPr id="28" name="Shape 26"/>
          <p:cNvSpPr/>
          <p:nvPr/>
        </p:nvSpPr>
        <p:spPr>
          <a:xfrm>
            <a:off x="502920" y="2944368"/>
            <a:ext cx="2606040" cy="713232"/>
          </a:xfrm>
          <a:prstGeom prst="roundRect">
            <a:avLst>
              <a:gd name="adj" fmla="val 7692"/>
            </a:avLst>
          </a:prstGeom>
          <a:solidFill>
            <a:srgbClr val="FDF6F1"/>
          </a:solidFill>
          <a:ln w="12700">
            <a:solidFill>
              <a:srgbClr val="FDF6F1"/>
            </a:solidFill>
            <a:prstDash val="solid"/>
          </a:ln>
        </p:spPr>
        <p:txBody>
          <a:bodyPr/>
          <a:lstStyle/>
          <a:p>
            <a:endParaRPr lang="en-US"/>
          </a:p>
        </p:txBody>
      </p:sp>
      <p:sp>
        <p:nvSpPr>
          <p:cNvPr id="29" name="Text 27"/>
          <p:cNvSpPr/>
          <p:nvPr/>
        </p:nvSpPr>
        <p:spPr>
          <a:xfrm>
            <a:off x="630936" y="3063240"/>
            <a:ext cx="384048" cy="475488"/>
          </a:xfrm>
          <a:prstGeom prst="rect">
            <a:avLst/>
          </a:prstGeom>
          <a:noFill/>
          <a:ln/>
        </p:spPr>
        <p:txBody>
          <a:bodyPr wrap="square" lIns="0" tIns="0" rIns="0" bIns="0" rtlCol="0" anchor="ctr"/>
          <a:lstStyle/>
          <a:p>
            <a:pPr marL="0" indent="0" algn="ctr">
              <a:buNone/>
            </a:pPr>
            <a:r>
              <a:rPr lang="en-US" sz="1900" b="1">
                <a:solidFill>
                  <a:srgbClr val="FD5000"/>
                </a:solidFill>
                <a:latin typeface="Arial" pitchFamily="34" charset="0"/>
                <a:ea typeface="Arial" pitchFamily="34" charset="-122"/>
                <a:cs typeface="Arial" pitchFamily="34" charset="-120"/>
              </a:rPr>
              <a:t>10</a:t>
            </a:r>
            <a:endParaRPr lang="en-US" sz="1900"/>
          </a:p>
        </p:txBody>
      </p:sp>
      <p:sp>
        <p:nvSpPr>
          <p:cNvPr id="30" name="Text 28"/>
          <p:cNvSpPr/>
          <p:nvPr/>
        </p:nvSpPr>
        <p:spPr>
          <a:xfrm>
            <a:off x="1069848" y="3044952"/>
            <a:ext cx="1920240" cy="237744"/>
          </a:xfrm>
          <a:prstGeom prst="rect">
            <a:avLst/>
          </a:prstGeom>
          <a:noFill/>
          <a:ln/>
        </p:spPr>
        <p:txBody>
          <a:bodyPr wrap="square" lIns="0" tIns="0" rIns="0" bIns="0" rtlCol="0" anchor="ctr"/>
          <a:lstStyle/>
          <a:p>
            <a:pPr marL="0" indent="0">
              <a:buNone/>
            </a:pPr>
            <a:r>
              <a:rPr lang="en-US" sz="1100" b="1">
                <a:solidFill>
                  <a:srgbClr val="1D252D"/>
                </a:solidFill>
                <a:latin typeface="Arial" pitchFamily="34" charset="0"/>
                <a:ea typeface="Arial" pitchFamily="34" charset="-122"/>
                <a:cs typeface="Arial" pitchFamily="34" charset="-120"/>
              </a:rPr>
              <a:t>Multiple Sources</a:t>
            </a:r>
            <a:endParaRPr lang="en-US" sz="1100"/>
          </a:p>
        </p:txBody>
      </p:sp>
      <p:sp>
        <p:nvSpPr>
          <p:cNvPr id="31" name="Text 29"/>
          <p:cNvSpPr/>
          <p:nvPr/>
        </p:nvSpPr>
        <p:spPr>
          <a:xfrm>
            <a:off x="1069848" y="3282696"/>
            <a:ext cx="1965960" cy="310896"/>
          </a:xfrm>
          <a:prstGeom prst="rect">
            <a:avLst/>
          </a:prstGeom>
          <a:noFill/>
          <a:ln/>
        </p:spPr>
        <p:txBody>
          <a:bodyPr wrap="square" lIns="0" tIns="0" rIns="0" bIns="0" rtlCol="0" anchor="ctr"/>
          <a:lstStyle/>
          <a:p>
            <a:pPr marL="0" indent="0">
              <a:buNone/>
            </a:pPr>
            <a:r>
              <a:rPr lang="en-US" sz="950">
                <a:solidFill>
                  <a:srgbClr val="46555F"/>
                </a:solidFill>
                <a:latin typeface="Arial" pitchFamily="34" charset="0"/>
                <a:ea typeface="Arial" pitchFamily="34" charset="-122"/>
                <a:cs typeface="Arial" pitchFamily="34" charset="-120"/>
              </a:rPr>
              <a:t>16 docs, 3 corpora, + XLSX</a:t>
            </a:r>
            <a:endParaRPr lang="en-US" sz="950"/>
          </a:p>
        </p:txBody>
      </p:sp>
      <p:sp>
        <p:nvSpPr>
          <p:cNvPr id="32" name="Shape 30"/>
          <p:cNvSpPr/>
          <p:nvPr/>
        </p:nvSpPr>
        <p:spPr>
          <a:xfrm>
            <a:off x="3319272" y="2944368"/>
            <a:ext cx="2606040" cy="713232"/>
          </a:xfrm>
          <a:prstGeom prst="roundRect">
            <a:avLst>
              <a:gd name="adj" fmla="val 7692"/>
            </a:avLst>
          </a:prstGeom>
          <a:solidFill>
            <a:srgbClr val="FDF6F1"/>
          </a:solidFill>
          <a:ln w="12700">
            <a:solidFill>
              <a:srgbClr val="FDF6F1"/>
            </a:solidFill>
            <a:prstDash val="solid"/>
          </a:ln>
        </p:spPr>
        <p:txBody>
          <a:bodyPr/>
          <a:lstStyle/>
          <a:p>
            <a:endParaRPr lang="en-US"/>
          </a:p>
        </p:txBody>
      </p:sp>
      <p:sp>
        <p:nvSpPr>
          <p:cNvPr id="33" name="Text 31"/>
          <p:cNvSpPr/>
          <p:nvPr/>
        </p:nvSpPr>
        <p:spPr>
          <a:xfrm>
            <a:off x="3447288" y="3063240"/>
            <a:ext cx="384048" cy="475488"/>
          </a:xfrm>
          <a:prstGeom prst="rect">
            <a:avLst/>
          </a:prstGeom>
          <a:noFill/>
          <a:ln/>
        </p:spPr>
        <p:txBody>
          <a:bodyPr wrap="square" lIns="0" tIns="0" rIns="0" bIns="0" rtlCol="0" anchor="ctr"/>
          <a:lstStyle/>
          <a:p>
            <a:pPr marL="0" indent="0" algn="ctr">
              <a:buNone/>
            </a:pPr>
            <a:r>
              <a:rPr lang="en-US" sz="1900" b="1">
                <a:solidFill>
                  <a:srgbClr val="FD5000"/>
                </a:solidFill>
                <a:latin typeface="Arial" pitchFamily="34" charset="0"/>
                <a:ea typeface="Arial" pitchFamily="34" charset="-122"/>
                <a:cs typeface="Arial" pitchFamily="34" charset="-120"/>
              </a:rPr>
              <a:t>12</a:t>
            </a:r>
            <a:endParaRPr lang="en-US" sz="1900"/>
          </a:p>
        </p:txBody>
      </p:sp>
      <p:sp>
        <p:nvSpPr>
          <p:cNvPr id="34" name="Text 32"/>
          <p:cNvSpPr/>
          <p:nvPr/>
        </p:nvSpPr>
        <p:spPr>
          <a:xfrm>
            <a:off x="3886200" y="3044952"/>
            <a:ext cx="1920240" cy="237744"/>
          </a:xfrm>
          <a:prstGeom prst="rect">
            <a:avLst/>
          </a:prstGeom>
          <a:noFill/>
          <a:ln/>
        </p:spPr>
        <p:txBody>
          <a:bodyPr wrap="square" lIns="0" tIns="0" rIns="0" bIns="0" rtlCol="0" anchor="ctr"/>
          <a:lstStyle/>
          <a:p>
            <a:pPr marL="0" indent="0">
              <a:buNone/>
            </a:pPr>
            <a:r>
              <a:rPr lang="en-US" sz="1100" b="1">
                <a:solidFill>
                  <a:srgbClr val="1D252D"/>
                </a:solidFill>
                <a:latin typeface="Arial" pitchFamily="34" charset="0"/>
                <a:ea typeface="Arial" pitchFamily="34" charset="-122"/>
                <a:cs typeface="Arial" pitchFamily="34" charset="-120"/>
              </a:rPr>
              <a:t>Evaluation</a:t>
            </a:r>
            <a:endParaRPr lang="en-US" sz="1100"/>
          </a:p>
        </p:txBody>
      </p:sp>
      <p:sp>
        <p:nvSpPr>
          <p:cNvPr id="35" name="Text 33"/>
          <p:cNvSpPr/>
          <p:nvPr/>
        </p:nvSpPr>
        <p:spPr>
          <a:xfrm>
            <a:off x="3886200" y="3282696"/>
            <a:ext cx="1965960" cy="310896"/>
          </a:xfrm>
          <a:prstGeom prst="rect">
            <a:avLst/>
          </a:prstGeom>
          <a:noFill/>
          <a:ln/>
        </p:spPr>
        <p:txBody>
          <a:bodyPr wrap="square" lIns="0" tIns="0" rIns="0" bIns="0" rtlCol="0" anchor="ctr"/>
          <a:lstStyle/>
          <a:p>
            <a:pPr marL="0" indent="0">
              <a:buNone/>
            </a:pPr>
            <a:r>
              <a:rPr lang="en-US" sz="950">
                <a:solidFill>
                  <a:srgbClr val="46555F"/>
                </a:solidFill>
                <a:latin typeface="Arial" pitchFamily="34" charset="0"/>
                <a:ea typeface="Arial" pitchFamily="34" charset="-122"/>
                <a:cs typeface="Arial" pitchFamily="34" charset="-120"/>
              </a:rPr>
              <a:t>17-case golden set, MRR</a:t>
            </a:r>
            <a:endParaRPr lang="en-US" sz="950"/>
          </a:p>
        </p:txBody>
      </p:sp>
      <p:sp>
        <p:nvSpPr>
          <p:cNvPr id="36" name="Shape 34"/>
          <p:cNvSpPr/>
          <p:nvPr/>
        </p:nvSpPr>
        <p:spPr>
          <a:xfrm>
            <a:off x="6135624" y="2944368"/>
            <a:ext cx="2606040" cy="713232"/>
          </a:xfrm>
          <a:prstGeom prst="roundRect">
            <a:avLst>
              <a:gd name="adj" fmla="val 7692"/>
            </a:avLst>
          </a:prstGeom>
          <a:solidFill>
            <a:srgbClr val="FDF6F1"/>
          </a:solidFill>
          <a:ln w="12700">
            <a:solidFill>
              <a:srgbClr val="FDF6F1"/>
            </a:solidFill>
            <a:prstDash val="solid"/>
          </a:ln>
        </p:spPr>
        <p:txBody>
          <a:bodyPr/>
          <a:lstStyle/>
          <a:p>
            <a:endParaRPr lang="en-US" sz="1400"/>
          </a:p>
        </p:txBody>
      </p:sp>
      <p:sp>
        <p:nvSpPr>
          <p:cNvPr id="37" name="Text 35"/>
          <p:cNvSpPr/>
          <p:nvPr/>
        </p:nvSpPr>
        <p:spPr>
          <a:xfrm>
            <a:off x="6263640" y="3063240"/>
            <a:ext cx="384048" cy="475488"/>
          </a:xfrm>
          <a:prstGeom prst="rect">
            <a:avLst/>
          </a:prstGeom>
          <a:noFill/>
          <a:ln/>
        </p:spPr>
        <p:txBody>
          <a:bodyPr wrap="square" lIns="0" tIns="0" rIns="0" bIns="0" rtlCol="0" anchor="ctr"/>
          <a:lstStyle/>
          <a:p>
            <a:pPr marL="0" indent="0" algn="ctr">
              <a:buNone/>
            </a:pPr>
            <a:r>
              <a:rPr lang="en-US" sz="1900" b="1">
                <a:solidFill>
                  <a:srgbClr val="FD5000"/>
                </a:solidFill>
                <a:latin typeface="Arial" pitchFamily="34" charset="0"/>
                <a:ea typeface="Arial" pitchFamily="34" charset="-122"/>
                <a:cs typeface="Arial" pitchFamily="34" charset="-120"/>
              </a:rPr>
              <a:t>13</a:t>
            </a:r>
            <a:endParaRPr lang="en-US" sz="1900"/>
          </a:p>
        </p:txBody>
      </p:sp>
      <p:sp>
        <p:nvSpPr>
          <p:cNvPr id="38" name="Text 36"/>
          <p:cNvSpPr/>
          <p:nvPr/>
        </p:nvSpPr>
        <p:spPr>
          <a:xfrm>
            <a:off x="6702552" y="3044952"/>
            <a:ext cx="1920240" cy="237744"/>
          </a:xfrm>
          <a:prstGeom prst="rect">
            <a:avLst/>
          </a:prstGeom>
          <a:noFill/>
          <a:ln/>
        </p:spPr>
        <p:txBody>
          <a:bodyPr wrap="square" lIns="0" tIns="0" rIns="0" bIns="0" rtlCol="0" anchor="ctr"/>
          <a:lstStyle/>
          <a:p>
            <a:pPr marL="0" indent="0">
              <a:buNone/>
            </a:pPr>
            <a:r>
              <a:rPr lang="en-US" sz="1100" b="1">
                <a:solidFill>
                  <a:srgbClr val="1D252D"/>
                </a:solidFill>
                <a:latin typeface="Arial" pitchFamily="34" charset="0"/>
                <a:ea typeface="Arial" pitchFamily="34" charset="-122"/>
                <a:cs typeface="Arial" pitchFamily="34" charset="-120"/>
              </a:rPr>
              <a:t>Deployment</a:t>
            </a:r>
            <a:endParaRPr lang="en-US" sz="1100"/>
          </a:p>
        </p:txBody>
      </p:sp>
      <p:sp>
        <p:nvSpPr>
          <p:cNvPr id="39" name="Text 37"/>
          <p:cNvSpPr/>
          <p:nvPr/>
        </p:nvSpPr>
        <p:spPr>
          <a:xfrm>
            <a:off x="6702552" y="3282696"/>
            <a:ext cx="1965960" cy="310896"/>
          </a:xfrm>
          <a:prstGeom prst="rect">
            <a:avLst/>
          </a:prstGeom>
          <a:noFill/>
          <a:ln/>
        </p:spPr>
        <p:txBody>
          <a:bodyPr wrap="square" lIns="0" tIns="0" rIns="0" bIns="0" rtlCol="0" anchor="ctr"/>
          <a:lstStyle/>
          <a:p>
            <a:r>
              <a:rPr lang="en-US" sz="950">
                <a:solidFill>
                  <a:srgbClr val="46555F"/>
                </a:solidFill>
                <a:latin typeface="Arial"/>
                <a:ea typeface="Arial" pitchFamily="34" charset="-122"/>
                <a:cs typeface="Arial"/>
                <a:hlinkClick r:id="rId4"/>
              </a:rPr>
              <a:t>GitHub</a:t>
            </a:r>
            <a:endParaRPr lang="en-US" sz="950">
              <a:solidFill>
                <a:srgbClr val="46555F"/>
              </a:solidFill>
              <a:latin typeface="Arial"/>
              <a:ea typeface="Calibri"/>
              <a:cs typeface="Arial"/>
            </a:endParaRPr>
          </a:p>
        </p:txBody>
      </p:sp>
      <p:sp>
        <p:nvSpPr>
          <p:cNvPr id="40" name="Shape 38"/>
          <p:cNvSpPr/>
          <p:nvPr/>
        </p:nvSpPr>
        <p:spPr>
          <a:xfrm>
            <a:off x="502920" y="3913632"/>
            <a:ext cx="8138160" cy="749808"/>
          </a:xfrm>
          <a:prstGeom prst="roundRect">
            <a:avLst>
              <a:gd name="adj" fmla="val 7317"/>
            </a:avLst>
          </a:prstGeom>
          <a:solidFill>
            <a:srgbClr val="1D252D"/>
          </a:solidFill>
          <a:ln w="12700">
            <a:solidFill>
              <a:srgbClr val="1D252D"/>
            </a:solidFill>
            <a:prstDash val="solid"/>
          </a:ln>
        </p:spPr>
        <p:txBody>
          <a:bodyPr/>
          <a:lstStyle/>
          <a:p>
            <a:endParaRPr lang="en-US"/>
          </a:p>
        </p:txBody>
      </p:sp>
      <p:sp>
        <p:nvSpPr>
          <p:cNvPr id="41" name="Text 39"/>
          <p:cNvSpPr/>
          <p:nvPr/>
        </p:nvSpPr>
        <p:spPr>
          <a:xfrm>
            <a:off x="777240" y="4023360"/>
            <a:ext cx="4023360" cy="256032"/>
          </a:xfrm>
          <a:prstGeom prst="rect">
            <a:avLst/>
          </a:prstGeom>
          <a:noFill/>
          <a:ln/>
        </p:spPr>
        <p:txBody>
          <a:bodyPr wrap="square" lIns="0" tIns="0" rIns="0" bIns="0" rtlCol="0" anchor="ctr"/>
          <a:lstStyle/>
          <a:p>
            <a:pPr marL="0" indent="0">
              <a:buNone/>
            </a:pPr>
            <a:r>
              <a:rPr lang="en-US" sz="1200" b="1">
                <a:solidFill>
                  <a:srgbClr val="FD5000"/>
                </a:solidFill>
                <a:latin typeface="Arial" pitchFamily="34" charset="0"/>
                <a:ea typeface="Arial" pitchFamily="34" charset="-122"/>
                <a:cs typeface="Arial" pitchFamily="34" charset="-120"/>
              </a:rPr>
              <a:t>Not claimed:  Category 4, Agent / LangGraph</a:t>
            </a:r>
            <a:endParaRPr lang="en-US" sz="1200"/>
          </a:p>
        </p:txBody>
      </p:sp>
      <p:sp>
        <p:nvSpPr>
          <p:cNvPr id="42" name="Text 40"/>
          <p:cNvSpPr/>
          <p:nvPr/>
        </p:nvSpPr>
        <p:spPr>
          <a:xfrm>
            <a:off x="777240" y="4261104"/>
            <a:ext cx="7863840" cy="310896"/>
          </a:xfrm>
          <a:prstGeom prst="rect">
            <a:avLst/>
          </a:prstGeom>
          <a:noFill/>
          <a:ln/>
        </p:spPr>
        <p:txBody>
          <a:bodyPr wrap="square" lIns="0" tIns="0" rIns="0" bIns="0" rtlCol="0" anchor="ctr"/>
          <a:lstStyle/>
          <a:p>
            <a:pPr marL="0" indent="0">
              <a:buNone/>
            </a:pPr>
            <a:r>
              <a:rPr lang="en-US" sz="1050">
                <a:solidFill>
                  <a:srgbClr val="B9C0CA"/>
                </a:solidFill>
                <a:latin typeface="Arial" pitchFamily="34" charset="0"/>
                <a:ea typeface="Arial" pitchFamily="34" charset="-122"/>
                <a:cs typeface="Arial" pitchFamily="34" charset="-120"/>
              </a:rPr>
              <a:t>This is a router + RAG + text-to-SQL system. The router picks a persona; it does not plan, loop, or act. We built the grounding properly rather than an agent layer on top of it.</a:t>
            </a:r>
            <a:endParaRPr lang="en-US" sz="10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10896"/>
            <a:ext cx="8138160" cy="219456"/>
          </a:xfrm>
          <a:prstGeom prst="rect">
            <a:avLst/>
          </a:prstGeom>
          <a:noFill/>
          <a:ln/>
        </p:spPr>
        <p:txBody>
          <a:bodyPr wrap="square" lIns="0" tIns="0" rIns="0" bIns="0" rtlCol="0" anchor="ctr"/>
          <a:lstStyle/>
          <a:p>
            <a:pPr marL="0" indent="0">
              <a:buNone/>
            </a:pPr>
            <a:r>
              <a:rPr lang="en-US" sz="1100" b="1" kern="0" spc="200">
                <a:solidFill>
                  <a:srgbClr val="FD5000"/>
                </a:solidFill>
                <a:latin typeface="Arial" pitchFamily="34" charset="0"/>
                <a:ea typeface="Arial" pitchFamily="34" charset="-122"/>
                <a:cs typeface="Arial" pitchFamily="34" charset="-120"/>
              </a:rPr>
              <a:t>TEAM</a:t>
            </a:r>
            <a:endParaRPr lang="en-US" sz="1100"/>
          </a:p>
        </p:txBody>
      </p:sp>
      <p:sp>
        <p:nvSpPr>
          <p:cNvPr id="3" name="Text 1"/>
          <p:cNvSpPr/>
          <p:nvPr/>
        </p:nvSpPr>
        <p:spPr>
          <a:xfrm>
            <a:off x="502920" y="548640"/>
            <a:ext cx="8138160" cy="566928"/>
          </a:xfrm>
          <a:prstGeom prst="rect">
            <a:avLst/>
          </a:prstGeom>
          <a:noFill/>
          <a:ln/>
        </p:spPr>
        <p:txBody>
          <a:bodyPr wrap="square" lIns="0" tIns="0" rIns="0" bIns="0" rtlCol="0" anchor="ctr"/>
          <a:lstStyle/>
          <a:p>
            <a:pPr marL="0" indent="0">
              <a:buNone/>
            </a:pPr>
            <a:r>
              <a:rPr lang="en-US" sz="3000" b="1">
                <a:solidFill>
                  <a:srgbClr val="1D252D"/>
                </a:solidFill>
                <a:latin typeface="Arial" pitchFamily="34" charset="0"/>
                <a:ea typeface="Arial" pitchFamily="34" charset="-122"/>
                <a:cs typeface="Arial" pitchFamily="34" charset="-120"/>
              </a:rPr>
              <a:t>Who built what</a:t>
            </a:r>
            <a:endParaRPr lang="en-US" sz="3000"/>
          </a:p>
        </p:txBody>
      </p:sp>
      <p:sp>
        <p:nvSpPr>
          <p:cNvPr id="4" name="Shape 2"/>
          <p:cNvSpPr/>
          <p:nvPr/>
        </p:nvSpPr>
        <p:spPr>
          <a:xfrm>
            <a:off x="502920" y="1298448"/>
            <a:ext cx="8138160" cy="493776"/>
          </a:xfrm>
          <a:prstGeom prst="roundRect">
            <a:avLst>
              <a:gd name="adj" fmla="val 11111"/>
            </a:avLst>
          </a:prstGeom>
          <a:solidFill>
            <a:srgbClr val="FDF6F1"/>
          </a:solidFill>
          <a:ln w="12700">
            <a:solidFill>
              <a:srgbClr val="FDF6F1"/>
            </a:solidFill>
            <a:prstDash val="solid"/>
          </a:ln>
        </p:spPr>
        <p:txBody>
          <a:bodyPr/>
          <a:lstStyle/>
          <a:p>
            <a:endParaRPr lang="en-US"/>
          </a:p>
        </p:txBody>
      </p:sp>
      <p:sp>
        <p:nvSpPr>
          <p:cNvPr id="5" name="Shape 3"/>
          <p:cNvSpPr/>
          <p:nvPr/>
        </p:nvSpPr>
        <p:spPr>
          <a:xfrm>
            <a:off x="649224" y="1389888"/>
            <a:ext cx="310896" cy="310896"/>
          </a:xfrm>
          <a:prstGeom prst="ellipse">
            <a:avLst/>
          </a:prstGeom>
          <a:solidFill>
            <a:srgbClr val="FD5000"/>
          </a:solidFill>
          <a:ln/>
        </p:spPr>
        <p:txBody>
          <a:bodyPr/>
          <a:lstStyle/>
          <a:p>
            <a:endParaRPr lang="en-US"/>
          </a:p>
        </p:txBody>
      </p:sp>
      <p:sp>
        <p:nvSpPr>
          <p:cNvPr id="6" name="Text 4"/>
          <p:cNvSpPr/>
          <p:nvPr/>
        </p:nvSpPr>
        <p:spPr>
          <a:xfrm>
            <a:off x="649224" y="1389888"/>
            <a:ext cx="310896" cy="310896"/>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1</a:t>
            </a:r>
            <a:endParaRPr lang="en-US" sz="1300"/>
          </a:p>
        </p:txBody>
      </p:sp>
      <p:sp>
        <p:nvSpPr>
          <p:cNvPr id="7" name="Text 5"/>
          <p:cNvSpPr/>
          <p:nvPr/>
        </p:nvSpPr>
        <p:spPr>
          <a:xfrm>
            <a:off x="1106424" y="1298448"/>
            <a:ext cx="4023360" cy="493776"/>
          </a:xfrm>
          <a:prstGeom prst="rect">
            <a:avLst/>
          </a:prstGeom>
          <a:noFill/>
          <a:ln/>
        </p:spPr>
        <p:txBody>
          <a:bodyPr wrap="square" lIns="0" tIns="0" rIns="0" bIns="0" rtlCol="0" anchor="ctr"/>
          <a:lstStyle/>
          <a:p>
            <a:pPr marL="0" indent="0">
              <a:buNone/>
            </a:pPr>
            <a:r>
              <a:rPr lang="en-US" sz="1300" b="1">
                <a:solidFill>
                  <a:srgbClr val="1D252D"/>
                </a:solidFill>
                <a:latin typeface="Arial" pitchFamily="34" charset="0"/>
                <a:ea typeface="Arial" pitchFamily="34" charset="-122"/>
                <a:cs typeface="Arial" pitchFamily="34" charset="-120"/>
              </a:rPr>
              <a:t>Sylvia Wong Shiau Ching</a:t>
            </a:r>
            <a:endParaRPr lang="en-US" sz="1300"/>
          </a:p>
        </p:txBody>
      </p:sp>
      <p:sp>
        <p:nvSpPr>
          <p:cNvPr id="8" name="Text 6"/>
          <p:cNvSpPr/>
          <p:nvPr/>
        </p:nvSpPr>
        <p:spPr>
          <a:xfrm>
            <a:off x="4937760" y="1298448"/>
            <a:ext cx="3703320" cy="493776"/>
          </a:xfrm>
          <a:prstGeom prst="rect">
            <a:avLst/>
          </a:prstGeom>
          <a:noFill/>
          <a:ln/>
        </p:spPr>
        <p:txBody>
          <a:bodyPr wrap="square" lIns="0" tIns="0" rIns="0" bIns="0" rtlCol="0" anchor="ctr"/>
          <a:lstStyle/>
          <a:p>
            <a:r>
              <a:rPr lang="en-US" sz="1200">
                <a:solidFill>
                  <a:srgbClr val="46555F"/>
                </a:solidFill>
                <a:latin typeface="Arial"/>
                <a:ea typeface="Arial" pitchFamily="34" charset="-122"/>
                <a:cs typeface="Arial"/>
              </a:rPr>
              <a:t>Working prototype, RAG</a:t>
            </a:r>
            <a:endParaRPr lang="en-US" sz="1200">
              <a:latin typeface="Arial"/>
              <a:ea typeface="Calibri" panose="020F0502020204030204"/>
              <a:cs typeface="Calibri" panose="020F0502020204030204"/>
            </a:endParaRPr>
          </a:p>
        </p:txBody>
      </p:sp>
      <p:sp>
        <p:nvSpPr>
          <p:cNvPr id="9" name="Shape 7"/>
          <p:cNvSpPr/>
          <p:nvPr/>
        </p:nvSpPr>
        <p:spPr>
          <a:xfrm>
            <a:off x="502920" y="1901952"/>
            <a:ext cx="8138160" cy="493776"/>
          </a:xfrm>
          <a:prstGeom prst="roundRect">
            <a:avLst>
              <a:gd name="adj" fmla="val 11111"/>
            </a:avLst>
          </a:prstGeom>
          <a:solidFill>
            <a:srgbClr val="FFFFFF"/>
          </a:solidFill>
          <a:ln w="12700">
            <a:solidFill>
              <a:srgbClr val="FFFFFF"/>
            </a:solidFill>
            <a:prstDash val="solid"/>
          </a:ln>
        </p:spPr>
        <p:txBody>
          <a:bodyPr/>
          <a:lstStyle/>
          <a:p>
            <a:endParaRPr lang="en-US"/>
          </a:p>
        </p:txBody>
      </p:sp>
      <p:sp>
        <p:nvSpPr>
          <p:cNvPr id="10" name="Shape 8"/>
          <p:cNvSpPr/>
          <p:nvPr/>
        </p:nvSpPr>
        <p:spPr>
          <a:xfrm>
            <a:off x="649224" y="1993392"/>
            <a:ext cx="310896" cy="310896"/>
          </a:xfrm>
          <a:prstGeom prst="ellipse">
            <a:avLst/>
          </a:prstGeom>
          <a:solidFill>
            <a:srgbClr val="FD5000"/>
          </a:solidFill>
          <a:ln/>
        </p:spPr>
        <p:txBody>
          <a:bodyPr/>
          <a:lstStyle/>
          <a:p>
            <a:endParaRPr lang="en-US"/>
          </a:p>
        </p:txBody>
      </p:sp>
      <p:sp>
        <p:nvSpPr>
          <p:cNvPr id="11" name="Text 9"/>
          <p:cNvSpPr/>
          <p:nvPr/>
        </p:nvSpPr>
        <p:spPr>
          <a:xfrm>
            <a:off x="649224" y="1993392"/>
            <a:ext cx="310896" cy="310896"/>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2</a:t>
            </a:r>
            <a:endParaRPr lang="en-US" sz="1300"/>
          </a:p>
        </p:txBody>
      </p:sp>
      <p:sp>
        <p:nvSpPr>
          <p:cNvPr id="12" name="Text 10"/>
          <p:cNvSpPr/>
          <p:nvPr/>
        </p:nvSpPr>
        <p:spPr>
          <a:xfrm>
            <a:off x="1106424" y="1901952"/>
            <a:ext cx="4023360" cy="493776"/>
          </a:xfrm>
          <a:prstGeom prst="rect">
            <a:avLst/>
          </a:prstGeom>
          <a:noFill/>
          <a:ln/>
        </p:spPr>
        <p:txBody>
          <a:bodyPr wrap="square" lIns="0" tIns="0" rIns="0" bIns="0" rtlCol="0" anchor="ctr"/>
          <a:lstStyle/>
          <a:p>
            <a:pPr marL="0" indent="0">
              <a:buNone/>
            </a:pPr>
            <a:r>
              <a:rPr lang="en-US" sz="1300" b="1">
                <a:solidFill>
                  <a:srgbClr val="1D252D"/>
                </a:solidFill>
                <a:latin typeface="Arial" pitchFamily="34" charset="0"/>
                <a:ea typeface="Arial" pitchFamily="34" charset="-122"/>
                <a:cs typeface="Arial" pitchFamily="34" charset="-120"/>
              </a:rPr>
              <a:t>Chin Ee Mei</a:t>
            </a:r>
            <a:endParaRPr lang="en-US" sz="1300"/>
          </a:p>
        </p:txBody>
      </p:sp>
      <p:sp>
        <p:nvSpPr>
          <p:cNvPr id="13" name="Text 11"/>
          <p:cNvSpPr/>
          <p:nvPr/>
        </p:nvSpPr>
        <p:spPr>
          <a:xfrm>
            <a:off x="4937760" y="1901952"/>
            <a:ext cx="3703320" cy="493776"/>
          </a:xfrm>
          <a:prstGeom prst="rect">
            <a:avLst/>
          </a:prstGeom>
          <a:noFill/>
          <a:ln/>
        </p:spPr>
        <p:txBody>
          <a:bodyPr wrap="square" lIns="0" tIns="0" rIns="0" bIns="0" rtlCol="0" anchor="ctr"/>
          <a:lstStyle/>
          <a:p>
            <a:pPr marL="0" indent="0">
              <a:buNone/>
            </a:pPr>
            <a:r>
              <a:rPr lang="en-US" sz="1200">
                <a:solidFill>
                  <a:srgbClr val="46555F"/>
                </a:solidFill>
                <a:latin typeface="Arial"/>
                <a:ea typeface="Arial" pitchFamily="34" charset="-122"/>
                <a:cs typeface="Arial"/>
              </a:rPr>
              <a:t>Evaluation</a:t>
            </a:r>
            <a:endParaRPr lang="en-US" sz="1200">
              <a:solidFill>
                <a:srgbClr val="46555F"/>
              </a:solidFill>
              <a:latin typeface="Arial"/>
              <a:cs typeface="Arial"/>
            </a:endParaRPr>
          </a:p>
        </p:txBody>
      </p:sp>
      <p:sp>
        <p:nvSpPr>
          <p:cNvPr id="14" name="Shape 12"/>
          <p:cNvSpPr/>
          <p:nvPr/>
        </p:nvSpPr>
        <p:spPr>
          <a:xfrm>
            <a:off x="502920" y="2505456"/>
            <a:ext cx="8138160" cy="493776"/>
          </a:xfrm>
          <a:prstGeom prst="roundRect">
            <a:avLst>
              <a:gd name="adj" fmla="val 11111"/>
            </a:avLst>
          </a:prstGeom>
          <a:solidFill>
            <a:srgbClr val="FDF6F1"/>
          </a:solidFill>
          <a:ln w="12700">
            <a:solidFill>
              <a:srgbClr val="FDF6F1"/>
            </a:solidFill>
            <a:prstDash val="solid"/>
          </a:ln>
        </p:spPr>
        <p:txBody>
          <a:bodyPr/>
          <a:lstStyle/>
          <a:p>
            <a:endParaRPr lang="en-US"/>
          </a:p>
        </p:txBody>
      </p:sp>
      <p:sp>
        <p:nvSpPr>
          <p:cNvPr id="15" name="Shape 13"/>
          <p:cNvSpPr/>
          <p:nvPr/>
        </p:nvSpPr>
        <p:spPr>
          <a:xfrm>
            <a:off x="649224" y="2596896"/>
            <a:ext cx="310896" cy="310896"/>
          </a:xfrm>
          <a:prstGeom prst="ellipse">
            <a:avLst/>
          </a:prstGeom>
          <a:solidFill>
            <a:srgbClr val="FD5000"/>
          </a:solidFill>
          <a:ln/>
        </p:spPr>
        <p:txBody>
          <a:bodyPr/>
          <a:lstStyle/>
          <a:p>
            <a:endParaRPr lang="en-US"/>
          </a:p>
        </p:txBody>
      </p:sp>
      <p:sp>
        <p:nvSpPr>
          <p:cNvPr id="16" name="Text 14"/>
          <p:cNvSpPr/>
          <p:nvPr/>
        </p:nvSpPr>
        <p:spPr>
          <a:xfrm>
            <a:off x="649224" y="2596896"/>
            <a:ext cx="310896" cy="310896"/>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3</a:t>
            </a:r>
            <a:endParaRPr lang="en-US" sz="1300"/>
          </a:p>
        </p:txBody>
      </p:sp>
      <p:sp>
        <p:nvSpPr>
          <p:cNvPr id="17" name="Text 15"/>
          <p:cNvSpPr/>
          <p:nvPr/>
        </p:nvSpPr>
        <p:spPr>
          <a:xfrm>
            <a:off x="1106424" y="2505456"/>
            <a:ext cx="4023360" cy="493776"/>
          </a:xfrm>
          <a:prstGeom prst="rect">
            <a:avLst/>
          </a:prstGeom>
          <a:noFill/>
          <a:ln/>
        </p:spPr>
        <p:txBody>
          <a:bodyPr wrap="square" lIns="0" tIns="0" rIns="0" bIns="0" rtlCol="0" anchor="ctr"/>
          <a:lstStyle/>
          <a:p>
            <a:pPr marL="0" indent="0">
              <a:buNone/>
            </a:pPr>
            <a:r>
              <a:rPr lang="en-US" sz="1300" b="1">
                <a:solidFill>
                  <a:srgbClr val="1D252D"/>
                </a:solidFill>
                <a:latin typeface="Arial" pitchFamily="34" charset="0"/>
                <a:ea typeface="Arial" pitchFamily="34" charset="-122"/>
                <a:cs typeface="Arial" pitchFamily="34" charset="-120"/>
              </a:rPr>
              <a:t>Khoo Yeong Kang</a:t>
            </a:r>
            <a:endParaRPr lang="en-US" sz="1300"/>
          </a:p>
        </p:txBody>
      </p:sp>
      <p:sp>
        <p:nvSpPr>
          <p:cNvPr id="18" name="Text 16"/>
          <p:cNvSpPr/>
          <p:nvPr/>
        </p:nvSpPr>
        <p:spPr>
          <a:xfrm>
            <a:off x="4937760" y="2505456"/>
            <a:ext cx="3703320" cy="493776"/>
          </a:xfrm>
          <a:prstGeom prst="rect">
            <a:avLst/>
          </a:prstGeom>
          <a:noFill/>
          <a:ln/>
        </p:spPr>
        <p:txBody>
          <a:bodyPr wrap="square" lIns="0" tIns="0" rIns="0" bIns="0" rtlCol="0" anchor="ctr"/>
          <a:lstStyle/>
          <a:p>
            <a:r>
              <a:rPr lang="en-US" sz="1200">
                <a:solidFill>
                  <a:srgbClr val="46555F"/>
                </a:solidFill>
                <a:latin typeface="Arial"/>
                <a:ea typeface="Arial" pitchFamily="34" charset="-122"/>
                <a:cs typeface="Arial"/>
              </a:rPr>
              <a:t>Tool Use, Deployment</a:t>
            </a:r>
            <a:endParaRPr lang="en-US" sz="1200"/>
          </a:p>
        </p:txBody>
      </p:sp>
      <p:sp>
        <p:nvSpPr>
          <p:cNvPr id="19" name="Shape 17"/>
          <p:cNvSpPr/>
          <p:nvPr/>
        </p:nvSpPr>
        <p:spPr>
          <a:xfrm>
            <a:off x="502920" y="3108960"/>
            <a:ext cx="8138160" cy="493776"/>
          </a:xfrm>
          <a:prstGeom prst="roundRect">
            <a:avLst>
              <a:gd name="adj" fmla="val 11111"/>
            </a:avLst>
          </a:prstGeom>
          <a:solidFill>
            <a:srgbClr val="FFFFFF"/>
          </a:solidFill>
          <a:ln w="12700">
            <a:solidFill>
              <a:srgbClr val="FFFFFF"/>
            </a:solidFill>
            <a:prstDash val="solid"/>
          </a:ln>
        </p:spPr>
        <p:txBody>
          <a:bodyPr/>
          <a:lstStyle/>
          <a:p>
            <a:endParaRPr lang="en-US"/>
          </a:p>
        </p:txBody>
      </p:sp>
      <p:sp>
        <p:nvSpPr>
          <p:cNvPr id="20" name="Shape 18"/>
          <p:cNvSpPr/>
          <p:nvPr/>
        </p:nvSpPr>
        <p:spPr>
          <a:xfrm>
            <a:off x="649224" y="3200400"/>
            <a:ext cx="310896" cy="310896"/>
          </a:xfrm>
          <a:prstGeom prst="ellipse">
            <a:avLst/>
          </a:prstGeom>
          <a:solidFill>
            <a:srgbClr val="FD5000"/>
          </a:solidFill>
          <a:ln/>
        </p:spPr>
        <p:txBody>
          <a:bodyPr/>
          <a:lstStyle/>
          <a:p>
            <a:endParaRPr lang="en-US"/>
          </a:p>
        </p:txBody>
      </p:sp>
      <p:sp>
        <p:nvSpPr>
          <p:cNvPr id="21" name="Text 19"/>
          <p:cNvSpPr/>
          <p:nvPr/>
        </p:nvSpPr>
        <p:spPr>
          <a:xfrm>
            <a:off x="649224" y="3200400"/>
            <a:ext cx="310896" cy="310896"/>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4</a:t>
            </a:r>
            <a:endParaRPr lang="en-US" sz="1300"/>
          </a:p>
        </p:txBody>
      </p:sp>
      <p:sp>
        <p:nvSpPr>
          <p:cNvPr id="22" name="Text 20"/>
          <p:cNvSpPr/>
          <p:nvPr/>
        </p:nvSpPr>
        <p:spPr>
          <a:xfrm>
            <a:off x="1106424" y="3108960"/>
            <a:ext cx="4023360" cy="493776"/>
          </a:xfrm>
          <a:prstGeom prst="rect">
            <a:avLst/>
          </a:prstGeom>
          <a:noFill/>
          <a:ln/>
        </p:spPr>
        <p:txBody>
          <a:bodyPr wrap="square" lIns="0" tIns="0" rIns="0" bIns="0" rtlCol="0" anchor="ctr"/>
          <a:lstStyle/>
          <a:p>
            <a:pPr marL="0" indent="0">
              <a:buNone/>
            </a:pPr>
            <a:r>
              <a:rPr lang="en-US" sz="1300" b="1">
                <a:solidFill>
                  <a:srgbClr val="1D252D"/>
                </a:solidFill>
                <a:latin typeface="Arial" pitchFamily="34" charset="0"/>
                <a:ea typeface="Arial" pitchFamily="34" charset="-122"/>
                <a:cs typeface="Arial" pitchFamily="34" charset="-120"/>
              </a:rPr>
              <a:t>Muhammad Muzzammil Bin Mohd Salahudin</a:t>
            </a:r>
            <a:endParaRPr lang="en-US" sz="1300"/>
          </a:p>
        </p:txBody>
      </p:sp>
      <p:sp>
        <p:nvSpPr>
          <p:cNvPr id="23" name="Text 21"/>
          <p:cNvSpPr/>
          <p:nvPr/>
        </p:nvSpPr>
        <p:spPr>
          <a:xfrm>
            <a:off x="4937760" y="3108960"/>
            <a:ext cx="3703320" cy="493776"/>
          </a:xfrm>
          <a:prstGeom prst="rect">
            <a:avLst/>
          </a:prstGeom>
          <a:noFill/>
          <a:ln/>
        </p:spPr>
        <p:txBody>
          <a:bodyPr wrap="square" lIns="0" tIns="0" rIns="0" bIns="0" rtlCol="0" anchor="ctr"/>
          <a:lstStyle/>
          <a:p>
            <a:r>
              <a:rPr lang="en-US" sz="1200">
                <a:solidFill>
                  <a:srgbClr val="46555F"/>
                </a:solidFill>
                <a:latin typeface="Arial"/>
                <a:ea typeface="Arial" pitchFamily="34" charset="-122"/>
                <a:cs typeface="Arial"/>
              </a:rPr>
              <a:t>Memory, Multiple data sources</a:t>
            </a:r>
            <a:endParaRPr lang="en-US" sz="1200"/>
          </a:p>
        </p:txBody>
      </p:sp>
      <p:sp>
        <p:nvSpPr>
          <p:cNvPr id="24" name="Shape 22"/>
          <p:cNvSpPr/>
          <p:nvPr/>
        </p:nvSpPr>
        <p:spPr>
          <a:xfrm>
            <a:off x="502920" y="3712464"/>
            <a:ext cx="8138160" cy="493776"/>
          </a:xfrm>
          <a:prstGeom prst="roundRect">
            <a:avLst>
              <a:gd name="adj" fmla="val 11111"/>
            </a:avLst>
          </a:prstGeom>
          <a:solidFill>
            <a:srgbClr val="FDF6F1"/>
          </a:solidFill>
          <a:ln w="12700">
            <a:solidFill>
              <a:srgbClr val="FDF6F1"/>
            </a:solidFill>
            <a:prstDash val="solid"/>
          </a:ln>
        </p:spPr>
        <p:txBody>
          <a:bodyPr/>
          <a:lstStyle/>
          <a:p>
            <a:endParaRPr lang="en-US"/>
          </a:p>
        </p:txBody>
      </p:sp>
      <p:sp>
        <p:nvSpPr>
          <p:cNvPr id="25" name="Shape 23"/>
          <p:cNvSpPr/>
          <p:nvPr/>
        </p:nvSpPr>
        <p:spPr>
          <a:xfrm>
            <a:off x="649224" y="3803904"/>
            <a:ext cx="310896" cy="310896"/>
          </a:xfrm>
          <a:prstGeom prst="ellipse">
            <a:avLst/>
          </a:prstGeom>
          <a:solidFill>
            <a:srgbClr val="FD5000"/>
          </a:solidFill>
          <a:ln/>
        </p:spPr>
        <p:txBody>
          <a:bodyPr/>
          <a:lstStyle/>
          <a:p>
            <a:endParaRPr lang="en-US"/>
          </a:p>
        </p:txBody>
      </p:sp>
      <p:sp>
        <p:nvSpPr>
          <p:cNvPr id="26" name="Text 24"/>
          <p:cNvSpPr/>
          <p:nvPr/>
        </p:nvSpPr>
        <p:spPr>
          <a:xfrm>
            <a:off x="649224" y="3803904"/>
            <a:ext cx="310896" cy="310896"/>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5</a:t>
            </a:r>
            <a:endParaRPr lang="en-US" sz="1300"/>
          </a:p>
        </p:txBody>
      </p:sp>
      <p:sp>
        <p:nvSpPr>
          <p:cNvPr id="27" name="Text 25"/>
          <p:cNvSpPr/>
          <p:nvPr/>
        </p:nvSpPr>
        <p:spPr>
          <a:xfrm>
            <a:off x="1106424" y="3712464"/>
            <a:ext cx="4023360" cy="493776"/>
          </a:xfrm>
          <a:prstGeom prst="rect">
            <a:avLst/>
          </a:prstGeom>
          <a:noFill/>
          <a:ln/>
        </p:spPr>
        <p:txBody>
          <a:bodyPr wrap="square" lIns="0" tIns="0" rIns="0" bIns="0" rtlCol="0" anchor="ctr"/>
          <a:lstStyle/>
          <a:p>
            <a:pPr marL="0" indent="0">
              <a:buNone/>
            </a:pPr>
            <a:r>
              <a:rPr lang="en-US" sz="1300" b="1">
                <a:solidFill>
                  <a:srgbClr val="1D252D"/>
                </a:solidFill>
                <a:latin typeface="Arial" pitchFamily="34" charset="0"/>
                <a:ea typeface="Arial" pitchFamily="34" charset="-122"/>
                <a:cs typeface="Arial" pitchFamily="34" charset="-120"/>
              </a:rPr>
              <a:t>Phuah Hong</a:t>
            </a:r>
            <a:endParaRPr lang="en-US" sz="1300"/>
          </a:p>
        </p:txBody>
      </p:sp>
      <p:sp>
        <p:nvSpPr>
          <p:cNvPr id="28" name="Text 26"/>
          <p:cNvSpPr/>
          <p:nvPr/>
        </p:nvSpPr>
        <p:spPr>
          <a:xfrm>
            <a:off x="4937760" y="3712464"/>
            <a:ext cx="3703320" cy="493776"/>
          </a:xfrm>
          <a:prstGeom prst="rect">
            <a:avLst/>
          </a:prstGeom>
          <a:noFill/>
          <a:ln/>
        </p:spPr>
        <p:txBody>
          <a:bodyPr wrap="square" lIns="0" tIns="0" rIns="0" bIns="0" rtlCol="0" anchor="ctr"/>
          <a:lstStyle/>
          <a:p>
            <a:r>
              <a:rPr lang="en-US" sz="1200">
                <a:solidFill>
                  <a:srgbClr val="46555F"/>
                </a:solidFill>
                <a:latin typeface="Arial"/>
                <a:ea typeface="Arial" pitchFamily="34" charset="-122"/>
                <a:cs typeface="Arial"/>
              </a:rPr>
              <a:t>Advanced Chunking, Local LLM</a:t>
            </a:r>
            <a:endParaRPr lang="en-US" sz="120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D252D"/>
        </a:solidFill>
        <a:effectLst/>
      </p:bgPr>
    </p:bg>
    <p:spTree>
      <p:nvGrpSpPr>
        <p:cNvPr id="1" name=""/>
        <p:cNvGrpSpPr/>
        <p:nvPr/>
      </p:nvGrpSpPr>
      <p:grpSpPr>
        <a:xfrm>
          <a:off x="0" y="0"/>
          <a:ext cx="0" cy="0"/>
          <a:chOff x="0" y="0"/>
          <a:chExt cx="0" cy="0"/>
        </a:xfrm>
      </p:grpSpPr>
      <p:sp>
        <p:nvSpPr>
          <p:cNvPr id="2" name="Text 0"/>
          <p:cNvSpPr/>
          <p:nvPr/>
        </p:nvSpPr>
        <p:spPr>
          <a:xfrm>
            <a:off x="502920" y="822960"/>
            <a:ext cx="5486400" cy="219456"/>
          </a:xfrm>
          <a:prstGeom prst="rect">
            <a:avLst/>
          </a:prstGeom>
          <a:noFill/>
          <a:ln/>
        </p:spPr>
        <p:txBody>
          <a:bodyPr wrap="square" lIns="0" tIns="0" rIns="0" bIns="0" rtlCol="0" anchor="ctr"/>
          <a:lstStyle/>
          <a:p>
            <a:pPr marL="0" indent="0">
              <a:buNone/>
            </a:pPr>
            <a:r>
              <a:rPr lang="en-US" sz="1100" b="1" kern="0" spc="200">
                <a:solidFill>
                  <a:srgbClr val="FD5000"/>
                </a:solidFill>
                <a:latin typeface="Arial" pitchFamily="34" charset="0"/>
                <a:ea typeface="Arial" pitchFamily="34" charset="-122"/>
                <a:cs typeface="Arial" pitchFamily="34" charset="-120"/>
              </a:rPr>
              <a:t>DEMO</a:t>
            </a:r>
            <a:endParaRPr lang="en-US" sz="1100"/>
          </a:p>
        </p:txBody>
      </p:sp>
      <p:sp>
        <p:nvSpPr>
          <p:cNvPr id="3" name="Text 1"/>
          <p:cNvSpPr/>
          <p:nvPr/>
        </p:nvSpPr>
        <p:spPr>
          <a:xfrm>
            <a:off x="502920" y="1097280"/>
            <a:ext cx="5120640" cy="1188720"/>
          </a:xfrm>
          <a:prstGeom prst="rect">
            <a:avLst/>
          </a:prstGeom>
          <a:noFill/>
          <a:ln/>
        </p:spPr>
        <p:txBody>
          <a:bodyPr wrap="square" lIns="0" tIns="0" rIns="0" bIns="0" rtlCol="0" anchor="ctr"/>
          <a:lstStyle/>
          <a:p>
            <a:pPr marL="0" indent="0">
              <a:lnSpc>
                <a:spcPts val="3800"/>
              </a:lnSpc>
              <a:buNone/>
            </a:pPr>
            <a:r>
              <a:rPr lang="en-US" sz="3400" b="1">
                <a:solidFill>
                  <a:srgbClr val="FFFFFF"/>
                </a:solidFill>
                <a:latin typeface="Arial" pitchFamily="34" charset="0"/>
                <a:ea typeface="Arial" pitchFamily="34" charset="-122"/>
                <a:cs typeface="Arial" pitchFamily="34" charset="-120"/>
              </a:rPr>
              <a:t>Three questions,</a:t>
            </a:r>
            <a:endParaRPr lang="en-US" sz="3400"/>
          </a:p>
          <a:p>
            <a:pPr marL="0" indent="0">
              <a:lnSpc>
                <a:spcPts val="3800"/>
              </a:lnSpc>
              <a:buNone/>
            </a:pPr>
            <a:r>
              <a:rPr lang="en-US" sz="3400" b="1">
                <a:solidFill>
                  <a:srgbClr val="FFFFFF"/>
                </a:solidFill>
                <a:latin typeface="Arial" pitchFamily="34" charset="0"/>
                <a:ea typeface="Arial" pitchFamily="34" charset="-122"/>
                <a:cs typeface="Arial" pitchFamily="34" charset="-120"/>
              </a:rPr>
              <a:t>three behaviours</a:t>
            </a:r>
            <a:endParaRPr lang="en-US" sz="3400"/>
          </a:p>
        </p:txBody>
      </p:sp>
      <p:sp>
        <p:nvSpPr>
          <p:cNvPr id="4" name="Shape 2"/>
          <p:cNvSpPr/>
          <p:nvPr/>
        </p:nvSpPr>
        <p:spPr>
          <a:xfrm>
            <a:off x="502920" y="2468880"/>
            <a:ext cx="310896" cy="310896"/>
          </a:xfrm>
          <a:prstGeom prst="ellipse">
            <a:avLst/>
          </a:prstGeom>
          <a:solidFill>
            <a:srgbClr val="FD5000"/>
          </a:solidFill>
          <a:ln/>
        </p:spPr>
        <p:txBody>
          <a:bodyPr/>
          <a:lstStyle/>
          <a:p>
            <a:endParaRPr lang="en-US"/>
          </a:p>
        </p:txBody>
      </p:sp>
      <p:sp>
        <p:nvSpPr>
          <p:cNvPr id="5" name="Text 3"/>
          <p:cNvSpPr/>
          <p:nvPr/>
        </p:nvSpPr>
        <p:spPr>
          <a:xfrm>
            <a:off x="502920" y="2468880"/>
            <a:ext cx="310896" cy="310896"/>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1</a:t>
            </a:r>
            <a:endParaRPr lang="en-US" sz="1300"/>
          </a:p>
        </p:txBody>
      </p:sp>
      <p:sp>
        <p:nvSpPr>
          <p:cNvPr id="6" name="Text 4"/>
          <p:cNvSpPr/>
          <p:nvPr/>
        </p:nvSpPr>
        <p:spPr>
          <a:xfrm>
            <a:off x="932688" y="2441448"/>
            <a:ext cx="1371600" cy="237744"/>
          </a:xfrm>
          <a:prstGeom prst="rect">
            <a:avLst/>
          </a:prstGeom>
          <a:noFill/>
          <a:ln/>
        </p:spPr>
        <p:txBody>
          <a:bodyPr wrap="square" lIns="0" tIns="0" rIns="0" bIns="0" rtlCol="0" anchor="ctr"/>
          <a:lstStyle/>
          <a:p>
            <a:pPr marL="0" indent="0">
              <a:buNone/>
            </a:pPr>
            <a:r>
              <a:rPr lang="en-US" sz="1100" b="1">
                <a:solidFill>
                  <a:srgbClr val="FD5000"/>
                </a:solidFill>
                <a:latin typeface="Arial" pitchFamily="34" charset="0"/>
                <a:ea typeface="Arial" pitchFamily="34" charset="-122"/>
                <a:cs typeface="Arial" pitchFamily="34" charset="-120"/>
              </a:rPr>
              <a:t>Documented</a:t>
            </a:r>
            <a:endParaRPr lang="en-US" sz="1100"/>
          </a:p>
        </p:txBody>
      </p:sp>
      <p:sp>
        <p:nvSpPr>
          <p:cNvPr id="7" name="Text 5"/>
          <p:cNvSpPr/>
          <p:nvPr/>
        </p:nvSpPr>
        <p:spPr>
          <a:xfrm>
            <a:off x="932688" y="2679192"/>
            <a:ext cx="3931920" cy="256032"/>
          </a:xfrm>
          <a:prstGeom prst="rect">
            <a:avLst/>
          </a:prstGeom>
          <a:noFill/>
          <a:ln/>
        </p:spPr>
        <p:txBody>
          <a:bodyPr wrap="square" lIns="0" tIns="0" rIns="0" bIns="0" rtlCol="0" anchor="ctr"/>
          <a:lstStyle/>
          <a:p>
            <a:pPr marL="0" indent="0">
              <a:buNone/>
            </a:pPr>
            <a:r>
              <a:rPr lang="en-US" sz="1200">
                <a:solidFill>
                  <a:srgbClr val="FFFFFF"/>
                </a:solidFill>
                <a:latin typeface="Arial" pitchFamily="34" charset="0"/>
                <a:ea typeface="Arial" pitchFamily="34" charset="-122"/>
                <a:cs typeface="Arial" pitchFamily="34" charset="-120"/>
              </a:rPr>
              <a:t>“What does alarm code E-204 mean?”</a:t>
            </a:r>
            <a:endParaRPr lang="en-US" sz="1200"/>
          </a:p>
        </p:txBody>
      </p:sp>
      <p:sp>
        <p:nvSpPr>
          <p:cNvPr id="8" name="Text 6"/>
          <p:cNvSpPr/>
          <p:nvPr/>
        </p:nvSpPr>
        <p:spPr>
          <a:xfrm>
            <a:off x="4892040" y="2514600"/>
            <a:ext cx="1737360" cy="256032"/>
          </a:xfrm>
          <a:prstGeom prst="rect">
            <a:avLst/>
          </a:prstGeom>
          <a:noFill/>
          <a:ln/>
        </p:spPr>
        <p:txBody>
          <a:bodyPr wrap="square" lIns="0" tIns="0" rIns="0" bIns="0" rtlCol="0" anchor="ctr"/>
          <a:lstStyle/>
          <a:p>
            <a:pPr marL="0" indent="0">
              <a:buNone/>
            </a:pPr>
            <a:r>
              <a:rPr lang="en-US" sz="1100" i="1">
                <a:solidFill>
                  <a:srgbClr val="8C95A1"/>
                </a:solidFill>
                <a:latin typeface="Arial" pitchFamily="34" charset="0"/>
                <a:ea typeface="Arial" pitchFamily="34" charset="-122"/>
                <a:cs typeface="Arial" pitchFamily="34" charset="-120"/>
              </a:rPr>
              <a:t>answers with a citation</a:t>
            </a:r>
            <a:endParaRPr lang="en-US" sz="1100"/>
          </a:p>
        </p:txBody>
      </p:sp>
      <p:sp>
        <p:nvSpPr>
          <p:cNvPr id="9" name="Shape 7"/>
          <p:cNvSpPr/>
          <p:nvPr/>
        </p:nvSpPr>
        <p:spPr>
          <a:xfrm>
            <a:off x="502920" y="3127248"/>
            <a:ext cx="310896" cy="310896"/>
          </a:xfrm>
          <a:prstGeom prst="ellipse">
            <a:avLst/>
          </a:prstGeom>
          <a:solidFill>
            <a:srgbClr val="FD5000"/>
          </a:solidFill>
          <a:ln/>
        </p:spPr>
        <p:txBody>
          <a:bodyPr/>
          <a:lstStyle/>
          <a:p>
            <a:endParaRPr lang="en-US"/>
          </a:p>
        </p:txBody>
      </p:sp>
      <p:sp>
        <p:nvSpPr>
          <p:cNvPr id="10" name="Text 8"/>
          <p:cNvSpPr/>
          <p:nvPr/>
        </p:nvSpPr>
        <p:spPr>
          <a:xfrm>
            <a:off x="502920" y="3127248"/>
            <a:ext cx="310896" cy="310896"/>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2</a:t>
            </a:r>
            <a:endParaRPr lang="en-US" sz="1300"/>
          </a:p>
        </p:txBody>
      </p:sp>
      <p:sp>
        <p:nvSpPr>
          <p:cNvPr id="11" name="Text 9"/>
          <p:cNvSpPr/>
          <p:nvPr/>
        </p:nvSpPr>
        <p:spPr>
          <a:xfrm>
            <a:off x="932688" y="3099816"/>
            <a:ext cx="1371600" cy="237744"/>
          </a:xfrm>
          <a:prstGeom prst="rect">
            <a:avLst/>
          </a:prstGeom>
          <a:noFill/>
          <a:ln/>
        </p:spPr>
        <p:txBody>
          <a:bodyPr wrap="square" lIns="0" tIns="0" rIns="0" bIns="0" rtlCol="0" anchor="ctr"/>
          <a:lstStyle/>
          <a:p>
            <a:pPr marL="0" indent="0">
              <a:buNone/>
            </a:pPr>
            <a:r>
              <a:rPr lang="en-US" sz="1100" b="1">
                <a:solidFill>
                  <a:srgbClr val="FD5000"/>
                </a:solidFill>
                <a:latin typeface="Arial" pitchFamily="34" charset="0"/>
                <a:ea typeface="Arial" pitchFamily="34" charset="-122"/>
                <a:cs typeface="Arial" pitchFamily="34" charset="-120"/>
              </a:rPr>
              <a:t>Computed</a:t>
            </a:r>
            <a:endParaRPr lang="en-US" sz="1100"/>
          </a:p>
        </p:txBody>
      </p:sp>
      <p:sp>
        <p:nvSpPr>
          <p:cNvPr id="12" name="Text 10"/>
          <p:cNvSpPr/>
          <p:nvPr/>
        </p:nvSpPr>
        <p:spPr>
          <a:xfrm>
            <a:off x="932688" y="3337560"/>
            <a:ext cx="3931920" cy="256032"/>
          </a:xfrm>
          <a:prstGeom prst="rect">
            <a:avLst/>
          </a:prstGeom>
          <a:noFill/>
          <a:ln/>
        </p:spPr>
        <p:txBody>
          <a:bodyPr wrap="square" lIns="0" tIns="0" rIns="0" bIns="0" rtlCol="0" anchor="ctr"/>
          <a:lstStyle/>
          <a:p>
            <a:pPr marL="0" indent="0">
              <a:buNone/>
            </a:pPr>
            <a:r>
              <a:rPr lang="en-US" sz="1200">
                <a:solidFill>
                  <a:srgbClr val="FFFFFF"/>
                </a:solidFill>
                <a:latin typeface="Arial" pitchFamily="34" charset="0"/>
                <a:ea typeface="Arial" pitchFamily="34" charset="-122"/>
                <a:cs typeface="Arial" pitchFamily="34" charset="-120"/>
              </a:rPr>
              <a:t>“Which database used the most CPU?”</a:t>
            </a:r>
            <a:endParaRPr lang="en-US" sz="1200"/>
          </a:p>
        </p:txBody>
      </p:sp>
      <p:sp>
        <p:nvSpPr>
          <p:cNvPr id="13" name="Text 11"/>
          <p:cNvSpPr/>
          <p:nvPr/>
        </p:nvSpPr>
        <p:spPr>
          <a:xfrm>
            <a:off x="4892040" y="3172968"/>
            <a:ext cx="1737360" cy="256032"/>
          </a:xfrm>
          <a:prstGeom prst="rect">
            <a:avLst/>
          </a:prstGeom>
          <a:noFill/>
          <a:ln/>
        </p:spPr>
        <p:txBody>
          <a:bodyPr wrap="square" lIns="0" tIns="0" rIns="0" bIns="0" rtlCol="0" anchor="ctr"/>
          <a:lstStyle/>
          <a:p>
            <a:pPr marL="0" indent="0">
              <a:buNone/>
            </a:pPr>
            <a:r>
              <a:rPr lang="en-US" sz="1100" i="1">
                <a:solidFill>
                  <a:srgbClr val="8C95A1"/>
                </a:solidFill>
                <a:latin typeface="Arial" pitchFamily="34" charset="0"/>
                <a:ea typeface="Arial" pitchFamily="34" charset="-122"/>
                <a:cs typeface="Arial" pitchFamily="34" charset="-120"/>
              </a:rPr>
              <a:t>answers with its SQL</a:t>
            </a:r>
            <a:endParaRPr lang="en-US" sz="1100"/>
          </a:p>
        </p:txBody>
      </p:sp>
      <p:sp>
        <p:nvSpPr>
          <p:cNvPr id="14" name="Shape 12"/>
          <p:cNvSpPr/>
          <p:nvPr/>
        </p:nvSpPr>
        <p:spPr>
          <a:xfrm>
            <a:off x="502920" y="3785616"/>
            <a:ext cx="310896" cy="310896"/>
          </a:xfrm>
          <a:prstGeom prst="ellipse">
            <a:avLst/>
          </a:prstGeom>
          <a:solidFill>
            <a:srgbClr val="FD5000"/>
          </a:solidFill>
          <a:ln/>
        </p:spPr>
        <p:txBody>
          <a:bodyPr/>
          <a:lstStyle/>
          <a:p>
            <a:endParaRPr lang="en-US"/>
          </a:p>
        </p:txBody>
      </p:sp>
      <p:sp>
        <p:nvSpPr>
          <p:cNvPr id="15" name="Text 13"/>
          <p:cNvSpPr/>
          <p:nvPr/>
        </p:nvSpPr>
        <p:spPr>
          <a:xfrm>
            <a:off x="502920" y="3785616"/>
            <a:ext cx="310896" cy="310896"/>
          </a:xfrm>
          <a:prstGeom prst="rect">
            <a:avLst/>
          </a:prstGeom>
          <a:noFill/>
          <a:ln/>
        </p:spPr>
        <p:txBody>
          <a:bodyPr wrap="square" lIns="0" tIns="0" rIns="0" bIns="0" rtlCol="0" anchor="ctr"/>
          <a:lstStyle/>
          <a:p>
            <a:pPr marL="0" indent="0" algn="ctr">
              <a:buNone/>
            </a:pPr>
            <a:r>
              <a:rPr lang="en-US" sz="1300" b="1">
                <a:solidFill>
                  <a:srgbClr val="FFFFFF"/>
                </a:solidFill>
                <a:latin typeface="Arial" pitchFamily="34" charset="0"/>
                <a:ea typeface="Arial" pitchFamily="34" charset="-122"/>
                <a:cs typeface="Arial" pitchFamily="34" charset="-120"/>
              </a:rPr>
              <a:t>3</a:t>
            </a:r>
            <a:endParaRPr lang="en-US" sz="1300"/>
          </a:p>
        </p:txBody>
      </p:sp>
      <p:sp>
        <p:nvSpPr>
          <p:cNvPr id="16" name="Text 14"/>
          <p:cNvSpPr/>
          <p:nvPr/>
        </p:nvSpPr>
        <p:spPr>
          <a:xfrm>
            <a:off x="932688" y="3758184"/>
            <a:ext cx="1371600" cy="237744"/>
          </a:xfrm>
          <a:prstGeom prst="rect">
            <a:avLst/>
          </a:prstGeom>
          <a:noFill/>
          <a:ln/>
        </p:spPr>
        <p:txBody>
          <a:bodyPr wrap="square" lIns="0" tIns="0" rIns="0" bIns="0" rtlCol="0" anchor="ctr"/>
          <a:lstStyle/>
          <a:p>
            <a:pPr marL="0" indent="0">
              <a:buNone/>
            </a:pPr>
            <a:r>
              <a:rPr lang="en-US" sz="1100" b="1">
                <a:solidFill>
                  <a:srgbClr val="FD5000"/>
                </a:solidFill>
                <a:latin typeface="Arial" pitchFamily="34" charset="0"/>
                <a:ea typeface="Arial" pitchFamily="34" charset="-122"/>
                <a:cs typeface="Arial" pitchFamily="34" charset="-120"/>
              </a:rPr>
              <a:t>Unknowable</a:t>
            </a:r>
            <a:endParaRPr lang="en-US" sz="1100"/>
          </a:p>
        </p:txBody>
      </p:sp>
      <p:sp>
        <p:nvSpPr>
          <p:cNvPr id="17" name="Text 15"/>
          <p:cNvSpPr/>
          <p:nvPr/>
        </p:nvSpPr>
        <p:spPr>
          <a:xfrm>
            <a:off x="932688" y="3995928"/>
            <a:ext cx="3931920" cy="256032"/>
          </a:xfrm>
          <a:prstGeom prst="rect">
            <a:avLst/>
          </a:prstGeom>
          <a:noFill/>
          <a:ln/>
        </p:spPr>
        <p:txBody>
          <a:bodyPr wrap="square" lIns="0" tIns="0" rIns="0" bIns="0" rtlCol="0" anchor="ctr"/>
          <a:lstStyle/>
          <a:p>
            <a:pPr marL="0" indent="0">
              <a:buNone/>
            </a:pPr>
            <a:r>
              <a:rPr lang="en-US" sz="1200">
                <a:solidFill>
                  <a:srgbClr val="FFFFFF"/>
                </a:solidFill>
                <a:latin typeface="Arial" pitchFamily="34" charset="0"/>
                <a:ea typeface="Arial" pitchFamily="34" charset="-122"/>
                <a:cs typeface="Arial" pitchFamily="34" charset="-120"/>
              </a:rPr>
              <a:t>“What does alarm code Z-999 mean?”</a:t>
            </a:r>
            <a:endParaRPr lang="en-US" sz="1200"/>
          </a:p>
        </p:txBody>
      </p:sp>
      <p:sp>
        <p:nvSpPr>
          <p:cNvPr id="18" name="Text 16"/>
          <p:cNvSpPr/>
          <p:nvPr/>
        </p:nvSpPr>
        <p:spPr>
          <a:xfrm>
            <a:off x="4892040" y="3831336"/>
            <a:ext cx="1737360" cy="256032"/>
          </a:xfrm>
          <a:prstGeom prst="rect">
            <a:avLst/>
          </a:prstGeom>
          <a:noFill/>
          <a:ln/>
        </p:spPr>
        <p:txBody>
          <a:bodyPr wrap="square" lIns="0" tIns="0" rIns="0" bIns="0" rtlCol="0" anchor="ctr"/>
          <a:lstStyle/>
          <a:p>
            <a:pPr marL="0" indent="0">
              <a:buNone/>
            </a:pPr>
            <a:r>
              <a:rPr lang="en-US" sz="1100" i="1">
                <a:solidFill>
                  <a:srgbClr val="8C95A1"/>
                </a:solidFill>
                <a:latin typeface="Arial" pitchFamily="34" charset="0"/>
                <a:ea typeface="Arial" pitchFamily="34" charset="-122"/>
                <a:cs typeface="Arial" pitchFamily="34" charset="-120"/>
              </a:rPr>
              <a:t>refuses</a:t>
            </a:r>
            <a:endParaRPr lang="en-US" sz="1100"/>
          </a:p>
        </p:txBody>
      </p:sp>
      <p:sp>
        <p:nvSpPr>
          <p:cNvPr id="19" name="Shape 17"/>
          <p:cNvSpPr/>
          <p:nvPr/>
        </p:nvSpPr>
        <p:spPr>
          <a:xfrm>
            <a:off x="6812280" y="2395728"/>
            <a:ext cx="1828800" cy="1847088"/>
          </a:xfrm>
          <a:prstGeom prst="roundRect">
            <a:avLst>
              <a:gd name="adj" fmla="val 3000"/>
            </a:avLst>
          </a:prstGeom>
          <a:solidFill>
            <a:srgbClr val="262A30"/>
          </a:solidFill>
          <a:ln w="12700">
            <a:solidFill>
              <a:srgbClr val="262A30"/>
            </a:solidFill>
            <a:prstDash val="solid"/>
          </a:ln>
        </p:spPr>
        <p:txBody>
          <a:bodyPr/>
          <a:lstStyle/>
          <a:p>
            <a:endParaRPr lang="en-US"/>
          </a:p>
        </p:txBody>
      </p:sp>
      <p:sp>
        <p:nvSpPr>
          <p:cNvPr id="20" name="Text 18"/>
          <p:cNvSpPr/>
          <p:nvPr/>
        </p:nvSpPr>
        <p:spPr>
          <a:xfrm>
            <a:off x="6812280" y="2560320"/>
            <a:ext cx="1828800" cy="237744"/>
          </a:xfrm>
          <a:prstGeom prst="rect">
            <a:avLst/>
          </a:prstGeom>
          <a:noFill/>
          <a:ln/>
        </p:spPr>
        <p:txBody>
          <a:bodyPr wrap="square" lIns="0" tIns="0" rIns="0" bIns="0" rtlCol="0" anchor="ctr"/>
          <a:lstStyle/>
          <a:p>
            <a:pPr marL="0" indent="0" algn="ctr">
              <a:buNone/>
            </a:pPr>
            <a:r>
              <a:rPr lang="en-US" sz="1100" b="1">
                <a:solidFill>
                  <a:srgbClr val="FD5000"/>
                </a:solidFill>
                <a:latin typeface="Arial" pitchFamily="34" charset="0"/>
                <a:ea typeface="Arial" pitchFamily="34" charset="-122"/>
                <a:cs typeface="Arial" pitchFamily="34" charset="-120"/>
              </a:rPr>
              <a:t>The point</a:t>
            </a:r>
            <a:endParaRPr lang="en-US" sz="1100"/>
          </a:p>
        </p:txBody>
      </p:sp>
      <p:sp>
        <p:nvSpPr>
          <p:cNvPr id="21" name="Text 19"/>
          <p:cNvSpPr/>
          <p:nvPr/>
        </p:nvSpPr>
        <p:spPr>
          <a:xfrm>
            <a:off x="6949440" y="2880360"/>
            <a:ext cx="1600200" cy="1005840"/>
          </a:xfrm>
          <a:prstGeom prst="rect">
            <a:avLst/>
          </a:prstGeom>
          <a:noFill/>
          <a:ln/>
        </p:spPr>
        <p:txBody>
          <a:bodyPr wrap="square" lIns="0" tIns="0" rIns="0" bIns="0" rtlCol="0" anchor="ctr"/>
          <a:lstStyle/>
          <a:p>
            <a:pPr marL="0" indent="0" algn="ctr">
              <a:buNone/>
            </a:pPr>
            <a:r>
              <a:rPr lang="en-US" sz="1300">
                <a:solidFill>
                  <a:srgbClr val="FFFFFF"/>
                </a:solidFill>
                <a:latin typeface="Arial" pitchFamily="34" charset="0"/>
                <a:ea typeface="Arial" pitchFamily="34" charset="-122"/>
                <a:cs typeface="Arial" pitchFamily="34" charset="-120"/>
              </a:rPr>
              <a:t>A system that</a:t>
            </a:r>
            <a:endParaRPr lang="en-US" sz="1300"/>
          </a:p>
          <a:p>
            <a:pPr marL="0" indent="0" algn="ctr">
              <a:buNone/>
            </a:pPr>
            <a:r>
              <a:rPr lang="en-US" sz="1300">
                <a:solidFill>
                  <a:srgbClr val="FFFFFF"/>
                </a:solidFill>
                <a:latin typeface="Arial" pitchFamily="34" charset="0"/>
                <a:ea typeface="Arial" pitchFamily="34" charset="-122"/>
                <a:cs typeface="Arial" pitchFamily="34" charset="-120"/>
              </a:rPr>
              <a:t>refuses is more</a:t>
            </a:r>
            <a:endParaRPr lang="en-US" sz="1300"/>
          </a:p>
          <a:p>
            <a:pPr marL="0" indent="0" algn="ctr">
              <a:buNone/>
            </a:pPr>
            <a:r>
              <a:rPr lang="en-US" sz="1300">
                <a:solidFill>
                  <a:srgbClr val="FFFFFF"/>
                </a:solidFill>
                <a:latin typeface="Arial" pitchFamily="34" charset="0"/>
                <a:ea typeface="Arial" pitchFamily="34" charset="-122"/>
                <a:cs typeface="Arial" pitchFamily="34" charset="-120"/>
              </a:rPr>
              <a:t>useful than one</a:t>
            </a:r>
            <a:endParaRPr lang="en-US" sz="1300"/>
          </a:p>
          <a:p>
            <a:pPr marL="0" indent="0" algn="ctr">
              <a:buNone/>
            </a:pPr>
            <a:r>
              <a:rPr lang="en-US" sz="1300">
                <a:solidFill>
                  <a:srgbClr val="FFFFFF"/>
                </a:solidFill>
                <a:latin typeface="Arial" pitchFamily="34" charset="0"/>
                <a:ea typeface="Arial" pitchFamily="34" charset="-122"/>
                <a:cs typeface="Arial" pitchFamily="34" charset="-120"/>
              </a:rPr>
              <a:t>that guesses.</a:t>
            </a:r>
            <a:endParaRPr lang="en-US" sz="1300"/>
          </a:p>
        </p:txBody>
      </p:sp>
      <p:sp>
        <p:nvSpPr>
          <p:cNvPr id="22" name="Text 20"/>
          <p:cNvSpPr/>
          <p:nvPr/>
        </p:nvSpPr>
        <p:spPr>
          <a:xfrm>
            <a:off x="502920" y="4498848"/>
            <a:ext cx="8138160" cy="274320"/>
          </a:xfrm>
          <a:prstGeom prst="rect">
            <a:avLst/>
          </a:prstGeom>
          <a:noFill/>
          <a:ln/>
        </p:spPr>
        <p:txBody>
          <a:bodyPr wrap="square" lIns="0" tIns="0" rIns="0" bIns="0" rtlCol="0" anchor="ctr"/>
          <a:lstStyle/>
          <a:p>
            <a:r>
              <a:rPr lang="en-US" sz="1050">
                <a:solidFill>
                  <a:srgbClr val="46555F"/>
                </a:solidFill>
                <a:latin typeface="Arial"/>
                <a:ea typeface="+mn-lt"/>
                <a:cs typeface="Arial"/>
                <a:hlinkClick r:id="rId3"/>
              </a:rPr>
              <a:t>Repository URL</a:t>
            </a:r>
            <a:endParaRPr lang="en-US" sz="1050">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9dda1df-3fca-45c7-91be-5629a3733338}" enabled="1" method="Standard" siteId="{ec1ca250-c234-4d56-a76b-7dfb9eee0c46}"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Knowledge Assistant</dc:title>
  <dc:subject>PptxGenJS Presentation</dc:subject>
  <dc:creator>Capstone Team</dc:creator>
  <cp:revision>3</cp:revision>
  <dcterms:created xsi:type="dcterms:W3CDTF">2026-08-05T02:04:29Z</dcterms:created>
  <dcterms:modified xsi:type="dcterms:W3CDTF">2026-08-07T03:55:33Z</dcterms:modified>
</cp:coreProperties>
</file>