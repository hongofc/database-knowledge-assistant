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MRR</c:v>
                </c:pt>
              </c:strCache>
            </c:strRef>
          </c:tx>
          <c:spPr>
            <a:solidFill>
              <a:srgbClr val="FD5000"/>
            </a:solidFill>
            <a:effectLst/>
          </c:spPr>
          <c:invertIfNegative val="0"/>
          <c:dLbls>
            <c:numFmt formatCode="0.00" sourceLinked="0"/>
            <c:txPr>
              <a:bodyPr/>
              <a:lstStyle/>
              <a:p>
                <a:pPr>
                  <a:defRPr b="0" i="0" strike="noStrike" sz="1000" u="none">
                    <a:solidFill>
                      <a:srgbClr val="1D252D"/>
                    </a:solidFill>
                    <a:latin typeface="Arial"/>
                  </a:defRPr>
                </a:pPr>
              </a:p>
            </c:txPr>
            <c:showLegendKey val="0"/>
            <c:showVal val="1"/>
            <c:showCatName val="0"/>
            <c:showSerName val="0"/>
            <c:showPercent val="0"/>
            <c:showBubbleSize val="0"/>
            <c:showLeaderLines val="0"/>
          </c:dLbls>
          <c:dPt>
            <c:idx val="0"/>
            <c:invertIfNegative val="0"/>
            <c:bubble3D val="0"/>
            <c:spPr>
              <a:solidFill>
                <a:srgbClr val="FD5000"/>
              </a:solidFill>
              <a:effectLst/>
            </c:spPr>
          </c:dPt>
          <c:dPt>
            <c:idx val="1"/>
            <c:invertIfNegative val="0"/>
            <c:bubble3D val="0"/>
            <c:spPr>
              <a:solidFill>
                <a:srgbClr val="C8CDD4"/>
              </a:solidFill>
              <a:effectLst/>
            </c:spPr>
          </c:dPt>
          <c:dPt>
            <c:idx val="2"/>
            <c:invertIfNegative val="0"/>
            <c:bubble3D val="0"/>
            <c:spPr>
              <a:solidFill>
                <a:srgbClr val="C8CDD4"/>
              </a:solidFill>
              <a:effectLst/>
            </c:spPr>
          </c:dPt>
          <c:dPt>
            <c:idx val="3"/>
            <c:invertIfNegative val="0"/>
            <c:bubble3D val="0"/>
            <c:spPr>
              <a:solidFill>
                <a:srgbClr val="C8CDD4"/>
              </a:solidFill>
              <a:effectLst/>
            </c:spPr>
          </c:dPt>
          <c:dPt>
            <c:idx val="4"/>
            <c:invertIfNegative val="0"/>
            <c:bubble3D val="0"/>
            <c:spPr>
              <a:solidFill>
                <a:srgbClr val="C8CDD4"/>
              </a:solidFill>
              <a:effectLst/>
            </c:spPr>
          </c:dPt>
          <c:cat>
            <c:multiLvlStrRef>
              <c:f>Sheet1!$A$2:$A$6</c:f>
              <c:multiLvlStrCache>
                <c:ptCount val="5"/>
                <c:lvl>
                  <c:pt idx="0">
                    <c:v>metadata_aware</c:v>
                  </c:pt>
                  <c:pt idx="1">
                    <c:v>fixed</c:v>
                  </c:pt>
                  <c:pt idx="2">
                    <c:v>recursive</c:v>
                  </c:pt>
                  <c:pt idx="3">
                    <c:v>hybrid RRF</c:v>
                  </c:pt>
                  <c:pt idx="4">
                    <c:v>BM25</c:v>
                  </c:pt>
                </c:lvl>
              </c:multiLvlStrCache>
            </c:multiLvlStrRef>
          </c:cat>
          <c:val>
            <c:numRef>
              <c:f>Sheet1!$B$2:$B$6</c:f>
              <c:numCache>
                <c:formatCode>General</c:formatCode>
                <c:ptCount val="5"/>
                <c:pt idx="0">
                  <c:v>0.93</c:v>
                </c:pt>
                <c:pt idx="1">
                  <c:v>0.92</c:v>
                </c:pt>
                <c:pt idx="2">
                  <c:v>0.88</c:v>
                </c:pt>
                <c:pt idx="3">
                  <c:v>0.88</c:v>
                </c:pt>
                <c:pt idx="4">
                  <c:v>0.7</c:v>
                </c:pt>
              </c:numCache>
            </c:numRef>
          </c:val>
        </c:ser>
        <c:dLbls>
          <c:numFmt formatCode="0.00" sourceLinked="0"/>
          <c:txPr>
            <a:bodyPr/>
            <a:lstStyle/>
            <a:p>
              <a:pPr>
                <a:defRPr b="0" i="0" strike="noStrike" sz="1000" u="none">
                  <a:solidFill>
                    <a:srgbClr val="1D252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D252D"/>
                </a:solidFill>
                <a:latin typeface="Arial"/>
              </a:defRPr>
            </a:pPr>
            <a:endParaRPr lang="en-US"/>
          </a:p>
        </c:txPr>
        <c:crossAx val="2094734552"/>
        <c:crosses val="autoZero"/>
        <c:auto val="1"/>
        <c:lblAlgn val="ctr"/>
        <c:noMultiLvlLbl val="1"/>
      </c:catAx>
      <c:valAx>
        <c:axId val="2094734552"/>
        <c:scaling>
          <c:orientation val="minMax"/>
          <c:max val="1"/>
        </c:scaling>
        <c:delete val="0"/>
        <c:axPos val="b"/>
        <c:majorGridlines>
          <c:spPr>
            <a:ln w="12700" cap="flat">
              <a:solidFill>
                <a:srgbClr val="E6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6555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 Knowledge Assistant — a grounded QA system for factory operations. Built on the Capstone Level 2 Factory Knowledge kit and extended with a text-to-SQL agent, six LLM providers, and a measured evaluation harness. Headline: 9 of 15 categories against a minimum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this: the trainer asked us not to simply follow the provided example. The kit gives you RAG over documents. Our DBA-team member brought real SQL Server session telemetry and the questions that go with it - and those questions cannot be answered by retrieval at all. 'Which database used the most CPU' requires aggregating 2,372 rows — retrieval physically cannot do that. So we route: documents to RAG, telemetry to text-to-SQL. Each answer type gets the tool that can actually produce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hits the router, which picks the engine. RAG path: one of three specialists, each with its own isolated vector collection. SQL path: the telemetry agent. The critical detail is the guardrail — it is deterministic Python that runs BEFORE the LLM is called. If no chunk clears the score floor, we refuse. The model never gets the chance to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design choice here is backed by a number. We built a 17-case golden set and benchmarked all four chunking strategies against all three retrievers. metadata_aware plus vector won at 0.93 MRR. Note the second finding: hybrid RRF is the textbook recommendation and it scored worse than plain vector on our corpus. We kept the result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We measured what grounded and adversarial questions actually score. The floor at 0.68 sits just above where fake questions top out. But be honest: the ranges overlap, so no threshold is perfect. Any floor trades false refusals against false answers. Demo: ask about alarm code Z-999, which does not exist, and watch it refuse.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telemetry agent. Natural language in, SQL out, and crucially the SQL is shown with every answer so any number can be verified. Read-only whitelist. And a real finding from testing: the small local model qwen2.5:3b fails one case by hallucinating a WHERE status='running' filter — right database, wrong number. That is why we route SQL to a stronger model and keep local models for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providers behind one interface. The two highlighted are local — the system runs fully offline, which matters because factory documentation is confidential. Engineering detail worth mentioning: we fetch model lists live from each provider. A hardcoded list caused an HTTP 400 because it named models the account was not entitled to. Live discovery found 38 on Copilot and 73 on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of fifteen categories against a minimum of five. And one deliberate omission, stated up front: we do not claim Category 4. There is no LangGraph, no planning loop, no agent that takes actions. The router selects a persona. We would rather build the grounding properly and say so than bolt on a state machine we cannot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fill in each member's feature before presenting. Ten feature areas are listed in the README: RAG core, chunking, retrievers, evaluation harness, text-to-SQL agent, provider routing, UI and branding, session persistence, test suites, deployment. Whoever owns an area must be able to open those files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live demo. Three questions that show three different behaviours: one answered from documents with a citation, one computed with SQL shown, and one refused because the answer does not exist. That third one is the whole thesis — a system that refuses is more useful than one that guesses. Remember to put the GitHub URL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52D"/>
        </a:solidFill>
      </p:bgPr>
    </p:bg>
    <p:spTree>
      <p:nvGrpSpPr>
        <p:cNvPr id="1" name=""/>
        <p:cNvGrpSpPr/>
        <p:nvPr/>
      </p:nvGrpSpPr>
      <p:grpSpPr>
        <a:xfrm>
          <a:off x="0" y="0"/>
          <a:ext cx="0" cy="0"/>
          <a:chOff x="0" y="0"/>
          <a:chExt cx="0" cy="0"/>
        </a:xfrm>
      </p:grpSpPr>
      <p:pic>
        <p:nvPicPr>
          <p:cNvPr id="2" name="Image 0" descr="C:\Users\Y0012TUB\Desktop\PLAYGROUNDS\5_Projects\AIMP_factory_knowledge\logo_sidebar.png">    </p:cNvPr>
          <p:cNvPicPr>
            <a:picLocks noChangeAspect="1"/>
          </p:cNvPicPr>
          <p:nvPr/>
        </p:nvPicPr>
        <p:blipFill>
          <a:blip r:embed="rId1"/>
          <a:stretch>
            <a:fillRect/>
          </a:stretch>
        </p:blipFill>
        <p:spPr>
          <a:xfrm>
            <a:off x="502920" y="457200"/>
            <a:ext cx="2011680" cy="219456"/>
          </a:xfrm>
          <a:prstGeom prst="rect">
            <a:avLst/>
          </a:prstGeom>
        </p:spPr>
      </p:pic>
      <p:sp>
        <p:nvSpPr>
          <p:cNvPr id="3" name="Text 0"/>
          <p:cNvSpPr/>
          <p:nvPr/>
        </p:nvSpPr>
        <p:spPr>
          <a:xfrm>
            <a:off x="502920" y="1371600"/>
            <a:ext cx="6035040" cy="155448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Arial" pitchFamily="34" charset="0"/>
                <a:ea typeface="Arial" pitchFamily="34" charset="-122"/>
                <a:cs typeface="Arial" pitchFamily="34" charset="-120"/>
              </a:rPr>
              <a:t>Database Knowledge</a:t>
            </a:r>
            <a:endParaRPr lang="en-US" sz="4200" dirty="0"/>
          </a:p>
          <a:p>
            <a:pPr indent="0" marL="0">
              <a:lnSpc>
                <a:spcPts val="4600"/>
              </a:lnSpc>
              <a:buNone/>
            </a:pPr>
            <a:r>
              <a:rPr lang="en-US" sz="4200" b="1" dirty="0">
                <a:solidFill>
                  <a:srgbClr val="FFFFFF"/>
                </a:solidFill>
                <a:latin typeface="Arial" pitchFamily="34" charset="0"/>
                <a:ea typeface="Arial" pitchFamily="34" charset="-122"/>
                <a:cs typeface="Arial" pitchFamily="34" charset="-120"/>
              </a:rPr>
              <a:t>Assistant</a:t>
            </a:r>
            <a:endParaRPr lang="en-US" sz="4200" dirty="0"/>
          </a:p>
        </p:txBody>
      </p:sp>
      <p:sp>
        <p:nvSpPr>
          <p:cNvPr id="4" name="Text 1"/>
          <p:cNvSpPr/>
          <p:nvPr/>
        </p:nvSpPr>
        <p:spPr>
          <a:xfrm>
            <a:off x="502920" y="2880360"/>
            <a:ext cx="5852160" cy="685800"/>
          </a:xfrm>
          <a:prstGeom prst="rect">
            <a:avLst/>
          </a:prstGeom>
          <a:noFill/>
          <a:ln/>
        </p:spPr>
        <p:txBody>
          <a:bodyPr wrap="square" lIns="0" tIns="0" rIns="0" bIns="0" rtlCol="0" anchor="ctr"/>
          <a:lstStyle/>
          <a:p>
            <a:pPr indent="0" marL="0">
              <a:buNone/>
            </a:pPr>
            <a:r>
              <a:rPr lang="en-US" sz="1500" dirty="0">
                <a:solidFill>
                  <a:srgbClr val="B9C0CA"/>
                </a:solidFill>
                <a:latin typeface="Arial" pitchFamily="34" charset="0"/>
                <a:ea typeface="Arial" pitchFamily="34" charset="-122"/>
                <a:cs typeface="Arial" pitchFamily="34" charset="-120"/>
              </a:rPr>
              <a:t>Database telemetry and operational docs — with citations,</a:t>
            </a:r>
            <a:endParaRPr lang="en-US" sz="1500" dirty="0"/>
          </a:p>
          <a:p>
            <a:pPr indent="0" marL="0">
              <a:buNone/>
            </a:pPr>
            <a:r>
              <a:rPr lang="en-US" sz="1500" dirty="0">
                <a:solidFill>
                  <a:srgbClr val="B9C0CA"/>
                </a:solidFill>
                <a:latin typeface="Arial" pitchFamily="34" charset="0"/>
                <a:ea typeface="Arial" pitchFamily="34" charset="-122"/>
                <a:cs typeface="Arial" pitchFamily="34" charset="-120"/>
              </a:rPr>
              <a:t>verifiable SQL, and the honesty to refuse</a:t>
            </a:r>
            <a:endParaRPr lang="en-US" sz="1500" dirty="0"/>
          </a:p>
        </p:txBody>
      </p:sp>
      <p:sp>
        <p:nvSpPr>
          <p:cNvPr id="5" name="Text 2"/>
          <p:cNvSpPr/>
          <p:nvPr/>
        </p:nvSpPr>
        <p:spPr>
          <a:xfrm>
            <a:off x="502920" y="3794760"/>
            <a:ext cx="5943600" cy="274320"/>
          </a:xfrm>
          <a:prstGeom prst="rect">
            <a:avLst/>
          </a:prstGeom>
          <a:noFill/>
          <a:ln/>
        </p:spPr>
        <p:txBody>
          <a:bodyPr wrap="square" lIns="0" tIns="0" rIns="0" bIns="0" rtlCol="0" anchor="ctr"/>
          <a:lstStyle/>
          <a:p>
            <a:pPr indent="0" marL="0">
              <a:buNone/>
            </a:pPr>
            <a:r>
              <a:rPr lang="en-US" sz="1100" dirty="0">
                <a:solidFill>
                  <a:srgbClr val="8A97A3"/>
                </a:solidFill>
                <a:latin typeface="Arial" pitchFamily="34" charset="0"/>
                <a:ea typeface="Arial" pitchFamily="34" charset="-122"/>
                <a:cs typeface="Arial" pitchFamily="34" charset="-120"/>
              </a:rPr>
              <a:t>Capstone Level 2  ·  AIMP  ·  ams OSRAM Backend Penang</a:t>
            </a:r>
            <a:endParaRPr lang="en-US" sz="1100" dirty="0"/>
          </a:p>
        </p:txBody>
      </p:sp>
      <p:sp>
        <p:nvSpPr>
          <p:cNvPr id="6" name="Text 3"/>
          <p:cNvSpPr/>
          <p:nvPr/>
        </p:nvSpPr>
        <p:spPr>
          <a:xfrm>
            <a:off x="6720840" y="1143000"/>
            <a:ext cx="1920240" cy="502920"/>
          </a:xfrm>
          <a:prstGeom prst="rect">
            <a:avLst/>
          </a:prstGeom>
          <a:noFill/>
          <a:ln/>
        </p:spPr>
        <p:txBody>
          <a:bodyPr wrap="square" lIns="0" tIns="0" rIns="0" bIns="0" rtlCol="0" anchor="ctr"/>
          <a:lstStyle/>
          <a:p>
            <a:pPr algn="r" indent="0" marL="0">
              <a:buNone/>
            </a:pPr>
            <a:r>
              <a:rPr lang="en-US" sz="3400" b="1" dirty="0">
                <a:solidFill>
                  <a:srgbClr val="FD5000"/>
                </a:solidFill>
                <a:latin typeface="Arial" pitchFamily="34" charset="0"/>
                <a:ea typeface="Arial" pitchFamily="34" charset="-122"/>
                <a:cs typeface="Arial" pitchFamily="34" charset="-120"/>
              </a:rPr>
              <a:t>9</a:t>
            </a:r>
            <a:endParaRPr lang="en-US" sz="3400" dirty="0"/>
          </a:p>
        </p:txBody>
      </p:sp>
      <p:sp>
        <p:nvSpPr>
          <p:cNvPr id="7" name="Text 4"/>
          <p:cNvSpPr/>
          <p:nvPr/>
        </p:nvSpPr>
        <p:spPr>
          <a:xfrm>
            <a:off x="6720840" y="1618488"/>
            <a:ext cx="1920240" cy="237744"/>
          </a:xfrm>
          <a:prstGeom prst="rect">
            <a:avLst/>
          </a:prstGeom>
          <a:noFill/>
          <a:ln/>
        </p:spPr>
        <p:txBody>
          <a:bodyPr wrap="square" lIns="0" tIns="0" rIns="0" bIns="0" rtlCol="0" anchor="ctr"/>
          <a:lstStyle/>
          <a:p>
            <a:pPr algn="r" indent="0" marL="0">
              <a:buNone/>
            </a:pPr>
            <a:r>
              <a:rPr lang="en-US" sz="1100" dirty="0">
                <a:solidFill>
                  <a:srgbClr val="8C95A1"/>
                </a:solidFill>
                <a:latin typeface="Arial" pitchFamily="34" charset="0"/>
                <a:ea typeface="Arial" pitchFamily="34" charset="-122"/>
                <a:cs typeface="Arial" pitchFamily="34" charset="-120"/>
              </a:rPr>
              <a:t>categories met</a:t>
            </a:r>
            <a:endParaRPr lang="en-US" sz="1100" dirty="0"/>
          </a:p>
        </p:txBody>
      </p:sp>
      <p:sp>
        <p:nvSpPr>
          <p:cNvPr id="8" name="Text 5"/>
          <p:cNvSpPr/>
          <p:nvPr/>
        </p:nvSpPr>
        <p:spPr>
          <a:xfrm>
            <a:off x="6720840" y="2103120"/>
            <a:ext cx="1920240" cy="502920"/>
          </a:xfrm>
          <a:prstGeom prst="rect">
            <a:avLst/>
          </a:prstGeom>
          <a:noFill/>
          <a:ln/>
        </p:spPr>
        <p:txBody>
          <a:bodyPr wrap="square" lIns="0" tIns="0" rIns="0" bIns="0" rtlCol="0" anchor="ctr"/>
          <a:lstStyle/>
          <a:p>
            <a:pPr algn="r" indent="0" marL="0">
              <a:buNone/>
            </a:pPr>
            <a:r>
              <a:rPr lang="en-US" sz="3400" b="1" dirty="0">
                <a:solidFill>
                  <a:srgbClr val="FD5000"/>
                </a:solidFill>
                <a:latin typeface="Arial" pitchFamily="34" charset="0"/>
                <a:ea typeface="Arial" pitchFamily="34" charset="-122"/>
                <a:cs typeface="Arial" pitchFamily="34" charset="-120"/>
              </a:rPr>
              <a:t>0.93</a:t>
            </a:r>
            <a:endParaRPr lang="en-US" sz="3400" dirty="0"/>
          </a:p>
        </p:txBody>
      </p:sp>
      <p:sp>
        <p:nvSpPr>
          <p:cNvPr id="9" name="Text 6"/>
          <p:cNvSpPr/>
          <p:nvPr/>
        </p:nvSpPr>
        <p:spPr>
          <a:xfrm>
            <a:off x="6720840" y="2578608"/>
            <a:ext cx="1920240" cy="237744"/>
          </a:xfrm>
          <a:prstGeom prst="rect">
            <a:avLst/>
          </a:prstGeom>
          <a:noFill/>
          <a:ln/>
        </p:spPr>
        <p:txBody>
          <a:bodyPr wrap="square" lIns="0" tIns="0" rIns="0" bIns="0" rtlCol="0" anchor="ctr"/>
          <a:lstStyle/>
          <a:p>
            <a:pPr algn="r" indent="0" marL="0">
              <a:buNone/>
            </a:pPr>
            <a:r>
              <a:rPr lang="en-US" sz="1100" dirty="0">
                <a:solidFill>
                  <a:srgbClr val="8C95A1"/>
                </a:solidFill>
                <a:latin typeface="Arial" pitchFamily="34" charset="0"/>
                <a:ea typeface="Arial" pitchFamily="34" charset="-122"/>
                <a:cs typeface="Arial" pitchFamily="34" charset="-120"/>
              </a:rPr>
              <a:t>retrieval MRR</a:t>
            </a:r>
            <a:endParaRPr lang="en-US" sz="1100" dirty="0"/>
          </a:p>
        </p:txBody>
      </p:sp>
      <p:sp>
        <p:nvSpPr>
          <p:cNvPr id="10" name="Text 7"/>
          <p:cNvSpPr/>
          <p:nvPr/>
        </p:nvSpPr>
        <p:spPr>
          <a:xfrm>
            <a:off x="6720840" y="3063240"/>
            <a:ext cx="1920240" cy="502920"/>
          </a:xfrm>
          <a:prstGeom prst="rect">
            <a:avLst/>
          </a:prstGeom>
          <a:noFill/>
          <a:ln/>
        </p:spPr>
        <p:txBody>
          <a:bodyPr wrap="square" lIns="0" tIns="0" rIns="0" bIns="0" rtlCol="0" anchor="ctr"/>
          <a:lstStyle/>
          <a:p>
            <a:pPr algn="r" indent="0" marL="0">
              <a:buNone/>
            </a:pPr>
            <a:r>
              <a:rPr lang="en-US" sz="3400" b="1" dirty="0">
                <a:solidFill>
                  <a:srgbClr val="FD5000"/>
                </a:solidFill>
                <a:latin typeface="Arial" pitchFamily="34" charset="0"/>
                <a:ea typeface="Arial" pitchFamily="34" charset="-122"/>
                <a:cs typeface="Arial" pitchFamily="34" charset="-120"/>
              </a:rPr>
              <a:t>44/44</a:t>
            </a:r>
            <a:endParaRPr lang="en-US" sz="3400" dirty="0"/>
          </a:p>
        </p:txBody>
      </p:sp>
      <p:sp>
        <p:nvSpPr>
          <p:cNvPr id="11" name="Text 8"/>
          <p:cNvSpPr/>
          <p:nvPr/>
        </p:nvSpPr>
        <p:spPr>
          <a:xfrm>
            <a:off x="6720840" y="3538728"/>
            <a:ext cx="1920240" cy="237744"/>
          </a:xfrm>
          <a:prstGeom prst="rect">
            <a:avLst/>
          </a:prstGeom>
          <a:noFill/>
          <a:ln/>
        </p:spPr>
        <p:txBody>
          <a:bodyPr wrap="square" lIns="0" tIns="0" rIns="0" bIns="0" rtlCol="0" anchor="ctr"/>
          <a:lstStyle/>
          <a:p>
            <a:pPr algn="r" indent="0" marL="0">
              <a:buNone/>
            </a:pPr>
            <a:r>
              <a:rPr lang="en-US" sz="1100" dirty="0">
                <a:solidFill>
                  <a:srgbClr val="8C95A1"/>
                </a:solidFill>
                <a:latin typeface="Arial" pitchFamily="34" charset="0"/>
                <a:ea typeface="Arial" pitchFamily="34" charset="-122"/>
                <a:cs typeface="Arial" pitchFamily="34" charset="-120"/>
              </a:rPr>
              <a:t>tests passing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WHAT WE BUILT</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We added a second engine</a:t>
            </a:r>
            <a:endParaRPr lang="en-US" sz="3000" dirty="0"/>
          </a:p>
        </p:txBody>
      </p:sp>
      <p:sp>
        <p:nvSpPr>
          <p:cNvPr id="4" name="Text 2"/>
          <p:cNvSpPr/>
          <p:nvPr/>
        </p:nvSpPr>
        <p:spPr>
          <a:xfrm>
            <a:off x="502920" y="1188720"/>
            <a:ext cx="8138160" cy="365760"/>
          </a:xfrm>
          <a:prstGeom prst="rect">
            <a:avLst/>
          </a:prstGeom>
          <a:noFill/>
          <a:ln/>
        </p:spPr>
        <p:txBody>
          <a:bodyPr wrap="square" lIns="0" tIns="0" rIns="0" bIns="0" rtlCol="0" anchor="ctr"/>
          <a:lstStyle/>
          <a:p>
            <a:pPr indent="0" marL="0">
              <a:buNone/>
            </a:pPr>
            <a:r>
              <a:rPr lang="en-US" sz="1300" dirty="0">
                <a:solidFill>
                  <a:srgbClr val="46555F"/>
                </a:solidFill>
                <a:latin typeface="Arial" pitchFamily="34" charset="0"/>
                <a:ea typeface="Arial" pitchFamily="34" charset="-122"/>
                <a:cs typeface="Arial" pitchFamily="34" charset="-120"/>
              </a:rPr>
              <a:t>The starter kit does RAG over documents. Our DBA teammate brought real session telemetry — and questions RAG physically cannot answer.</a:t>
            </a:r>
            <a:endParaRPr lang="en-US" sz="1300" dirty="0"/>
          </a:p>
        </p:txBody>
      </p:sp>
      <p:sp>
        <p:nvSpPr>
          <p:cNvPr id="5" name="Shape 3"/>
          <p:cNvSpPr/>
          <p:nvPr/>
        </p:nvSpPr>
        <p:spPr>
          <a:xfrm>
            <a:off x="502920" y="1691640"/>
            <a:ext cx="3931920" cy="2514600"/>
          </a:xfrm>
          <a:prstGeom prst="roundRect">
            <a:avLst>
              <a:gd name="adj" fmla="val 2182"/>
            </a:avLst>
          </a:prstGeom>
          <a:solidFill>
            <a:srgbClr val="1D252D"/>
          </a:solidFill>
          <a:ln w="12700">
            <a:solidFill>
              <a:srgbClr val="1D252D"/>
            </a:solidFill>
            <a:prstDash val="solid"/>
          </a:ln>
        </p:spPr>
      </p:sp>
      <p:sp>
        <p:nvSpPr>
          <p:cNvPr id="6" name="Text 4"/>
          <p:cNvSpPr/>
          <p:nvPr/>
        </p:nvSpPr>
        <p:spPr>
          <a:xfrm>
            <a:off x="777240" y="1920240"/>
            <a:ext cx="338328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“Which database used the most CPU?”</a:t>
            </a:r>
            <a:endParaRPr lang="en-US" sz="1600" dirty="0"/>
          </a:p>
        </p:txBody>
      </p:sp>
      <p:sp>
        <p:nvSpPr>
          <p:cNvPr id="7" name="Text 5"/>
          <p:cNvSpPr/>
          <p:nvPr/>
        </p:nvSpPr>
        <p:spPr>
          <a:xfrm>
            <a:off x="777240" y="2697480"/>
            <a:ext cx="3383280" cy="274320"/>
          </a:xfrm>
          <a:prstGeom prst="rect">
            <a:avLst/>
          </a:prstGeom>
          <a:noFill/>
          <a:ln/>
        </p:spPr>
        <p:txBody>
          <a:bodyPr wrap="square" lIns="0" tIns="0" rIns="0" bIns="0" rtlCol="0" anchor="ctr"/>
          <a:lstStyle/>
          <a:p>
            <a:pPr indent="0" marL="0">
              <a:buNone/>
            </a:pPr>
            <a:r>
              <a:rPr lang="en-US" sz="1200" b="1" dirty="0">
                <a:solidFill>
                  <a:srgbClr val="FD5000"/>
                </a:solidFill>
                <a:latin typeface="Arial" pitchFamily="34" charset="0"/>
                <a:ea typeface="Arial" pitchFamily="34" charset="-122"/>
                <a:cs typeface="Arial" pitchFamily="34" charset="-120"/>
              </a:rPr>
              <a:t>Text-to-SQL over telemetry  —  our extension</a:t>
            </a:r>
            <a:endParaRPr lang="en-US" sz="1200" dirty="0"/>
          </a:p>
        </p:txBody>
      </p:sp>
      <p:sp>
        <p:nvSpPr>
          <p:cNvPr id="8" name="Text 6"/>
          <p:cNvSpPr/>
          <p:nvPr/>
        </p:nvSpPr>
        <p:spPr>
          <a:xfrm>
            <a:off x="777240" y="3035808"/>
            <a:ext cx="3383280" cy="822960"/>
          </a:xfrm>
          <a:prstGeom prst="rect">
            <a:avLst/>
          </a:prstGeom>
          <a:noFill/>
          <a:ln/>
        </p:spPr>
        <p:txBody>
          <a:bodyPr wrap="square" lIns="0" tIns="0" rIns="0" bIns="0" rtlCol="0" anchor="ctr"/>
          <a:lstStyle/>
          <a:p>
            <a:pPr indent="0" marL="0">
              <a:buNone/>
            </a:pPr>
            <a:r>
              <a:rPr lang="en-US" sz="1200" dirty="0">
                <a:solidFill>
                  <a:srgbClr val="B9C0CA"/>
                </a:solidFill>
                <a:latin typeface="Arial" pitchFamily="34" charset="0"/>
                <a:ea typeface="Arial" pitchFamily="34" charset="-122"/>
                <a:cs typeface="Arial" pitchFamily="34" charset="-120"/>
              </a:rPr>
              <a:t>No document contains this. It must be computed across 2,372 rows.</a:t>
            </a:r>
            <a:endParaRPr lang="en-US" sz="1200" dirty="0"/>
          </a:p>
        </p:txBody>
      </p:sp>
      <p:sp>
        <p:nvSpPr>
          <p:cNvPr id="9" name="Shape 7"/>
          <p:cNvSpPr/>
          <p:nvPr/>
        </p:nvSpPr>
        <p:spPr>
          <a:xfrm>
            <a:off x="4709160" y="1691640"/>
            <a:ext cx="3931920" cy="2514600"/>
          </a:xfrm>
          <a:prstGeom prst="roundRect">
            <a:avLst>
              <a:gd name="adj" fmla="val 2182"/>
            </a:avLst>
          </a:prstGeom>
          <a:solidFill>
            <a:srgbClr val="FDF6F1"/>
          </a:solidFill>
          <a:ln w="12700">
            <a:solidFill>
              <a:srgbClr val="FDF6F1"/>
            </a:solidFill>
            <a:prstDash val="solid"/>
          </a:ln>
        </p:spPr>
      </p:sp>
      <p:sp>
        <p:nvSpPr>
          <p:cNvPr id="10" name="Text 8"/>
          <p:cNvSpPr/>
          <p:nvPr/>
        </p:nvSpPr>
        <p:spPr>
          <a:xfrm>
            <a:off x="4983480" y="1920240"/>
            <a:ext cx="3383280" cy="640080"/>
          </a:xfrm>
          <a:prstGeom prst="rect">
            <a:avLst/>
          </a:prstGeom>
          <a:noFill/>
          <a:ln/>
        </p:spPr>
        <p:txBody>
          <a:bodyPr wrap="square" lIns="0" tIns="0" rIns="0" bIns="0" rtlCol="0" anchor="ctr"/>
          <a:lstStyle/>
          <a:p>
            <a:pPr indent="0" marL="0">
              <a:buNone/>
            </a:pPr>
            <a:r>
              <a:rPr lang="en-US" sz="1600" b="1" dirty="0">
                <a:solidFill>
                  <a:srgbClr val="1D252D"/>
                </a:solidFill>
                <a:latin typeface="Arial" pitchFamily="34" charset="0"/>
                <a:ea typeface="Arial" pitchFamily="34" charset="-122"/>
                <a:cs typeface="Arial" pitchFamily="34" charset="-120"/>
              </a:rPr>
              <a:t>“What does alarm code E-204 mean?”</a:t>
            </a:r>
            <a:endParaRPr lang="en-US" sz="1600" dirty="0"/>
          </a:p>
        </p:txBody>
      </p:sp>
      <p:sp>
        <p:nvSpPr>
          <p:cNvPr id="11" name="Text 9"/>
          <p:cNvSpPr/>
          <p:nvPr/>
        </p:nvSpPr>
        <p:spPr>
          <a:xfrm>
            <a:off x="4983480" y="2697480"/>
            <a:ext cx="3383280" cy="274320"/>
          </a:xfrm>
          <a:prstGeom prst="rect">
            <a:avLst/>
          </a:prstGeom>
          <a:noFill/>
          <a:ln/>
        </p:spPr>
        <p:txBody>
          <a:bodyPr wrap="square" lIns="0" tIns="0" rIns="0" bIns="0" rtlCol="0" anchor="ctr"/>
          <a:lstStyle/>
          <a:p>
            <a:pPr indent="0" marL="0">
              <a:buNone/>
            </a:pPr>
            <a:r>
              <a:rPr lang="en-US" sz="1200" b="1" dirty="0">
                <a:solidFill>
                  <a:srgbClr val="FD5000"/>
                </a:solidFill>
                <a:latin typeface="Arial" pitchFamily="34" charset="0"/>
                <a:ea typeface="Arial" pitchFamily="34" charset="-122"/>
                <a:cs typeface="Arial" pitchFamily="34" charset="-120"/>
              </a:rPr>
              <a:t>RAG over documents  —  the kit baseline</a:t>
            </a:r>
            <a:endParaRPr lang="en-US" sz="1200" dirty="0"/>
          </a:p>
        </p:txBody>
      </p:sp>
      <p:sp>
        <p:nvSpPr>
          <p:cNvPr id="12" name="Text 10"/>
          <p:cNvSpPr/>
          <p:nvPr/>
        </p:nvSpPr>
        <p:spPr>
          <a:xfrm>
            <a:off x="4983480" y="3035808"/>
            <a:ext cx="3383280" cy="822960"/>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The answer is written down. Find it, quote it, cite the source.</a:t>
            </a:r>
            <a:endParaRPr lang="en-US" sz="1200" dirty="0"/>
          </a:p>
        </p:txBody>
      </p:sp>
      <p:sp>
        <p:nvSpPr>
          <p:cNvPr id="13" name="Text 11"/>
          <p:cNvSpPr/>
          <p:nvPr/>
        </p:nvSpPr>
        <p:spPr>
          <a:xfrm>
            <a:off x="502920" y="4389120"/>
            <a:ext cx="8138160" cy="320040"/>
          </a:xfrm>
          <a:prstGeom prst="rect">
            <a:avLst/>
          </a:prstGeom>
          <a:noFill/>
          <a:ln/>
        </p:spPr>
        <p:txBody>
          <a:bodyPr wrap="square" lIns="0" tIns="0" rIns="0" bIns="0" rtlCol="0" anchor="ctr"/>
          <a:lstStyle/>
          <a:p>
            <a:pPr indent="0" marL="0">
              <a:buNone/>
            </a:pPr>
            <a:r>
              <a:rPr lang="en-US" sz="1200" i="1" dirty="0">
                <a:solidFill>
                  <a:srgbClr val="1D252D"/>
                </a:solidFill>
                <a:latin typeface="Arial" pitchFamily="34" charset="0"/>
                <a:ea typeface="Arial" pitchFamily="34" charset="-122"/>
                <a:cs typeface="Arial" pitchFamily="34" charset="-120"/>
              </a:rPr>
              <a:t>Retrieval cannot SUM. Sending a spreadsheet question to RAG is how you get a confident wrong number.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ARCHITECTURE</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How a question flows</a:t>
            </a:r>
            <a:endParaRPr lang="en-US" sz="3000" dirty="0"/>
          </a:p>
        </p:txBody>
      </p:sp>
      <p:sp>
        <p:nvSpPr>
          <p:cNvPr id="4" name="Shape 2"/>
          <p:cNvSpPr/>
          <p:nvPr/>
        </p:nvSpPr>
        <p:spPr>
          <a:xfrm>
            <a:off x="502920" y="1600200"/>
            <a:ext cx="1600200" cy="566928"/>
          </a:xfrm>
          <a:prstGeom prst="roundRect">
            <a:avLst>
              <a:gd name="adj" fmla="val 9677"/>
            </a:avLst>
          </a:prstGeom>
          <a:solidFill>
            <a:srgbClr val="FDF6F1"/>
          </a:solidFill>
          <a:ln w="12700">
            <a:solidFill>
              <a:srgbClr val="FDF6F1"/>
            </a:solidFill>
            <a:prstDash val="solid"/>
          </a:ln>
        </p:spPr>
      </p:sp>
      <p:sp>
        <p:nvSpPr>
          <p:cNvPr id="5" name="Text 3"/>
          <p:cNvSpPr/>
          <p:nvPr/>
        </p:nvSpPr>
        <p:spPr>
          <a:xfrm>
            <a:off x="502920" y="1600200"/>
            <a:ext cx="1600200" cy="566928"/>
          </a:xfrm>
          <a:prstGeom prst="rect">
            <a:avLst/>
          </a:prstGeom>
          <a:noFill/>
          <a:ln/>
        </p:spPr>
        <p:txBody>
          <a:bodyPr wrap="square" lIns="0" tIns="0" rIns="0" bIns="0" rtlCol="0" anchor="ctr"/>
          <a:lstStyle/>
          <a:p>
            <a:pPr algn="ctr" indent="0" marL="0">
              <a:buNone/>
            </a:pPr>
            <a:r>
              <a:rPr lang="en-US" sz="1200" b="1" dirty="0">
                <a:solidFill>
                  <a:srgbClr val="1D252D"/>
                </a:solidFill>
                <a:latin typeface="Arial" pitchFamily="34" charset="0"/>
                <a:ea typeface="Arial" pitchFamily="34" charset="-122"/>
                <a:cs typeface="Arial" pitchFamily="34" charset="-120"/>
              </a:rPr>
              <a:t>Question</a:t>
            </a:r>
            <a:endParaRPr lang="en-US" sz="1200" dirty="0"/>
          </a:p>
        </p:txBody>
      </p:sp>
      <p:sp>
        <p:nvSpPr>
          <p:cNvPr id="6" name="Shape 4"/>
          <p:cNvSpPr/>
          <p:nvPr/>
        </p:nvSpPr>
        <p:spPr>
          <a:xfrm>
            <a:off x="2468880" y="1600200"/>
            <a:ext cx="1600200" cy="566928"/>
          </a:xfrm>
          <a:prstGeom prst="roundRect">
            <a:avLst>
              <a:gd name="adj" fmla="val 9677"/>
            </a:avLst>
          </a:prstGeom>
          <a:solidFill>
            <a:srgbClr val="1D252D"/>
          </a:solidFill>
          <a:ln w="12700">
            <a:solidFill>
              <a:srgbClr val="1D252D"/>
            </a:solidFill>
            <a:prstDash val="solid"/>
          </a:ln>
        </p:spPr>
      </p:sp>
      <p:sp>
        <p:nvSpPr>
          <p:cNvPr id="7" name="Text 5"/>
          <p:cNvSpPr/>
          <p:nvPr/>
        </p:nvSpPr>
        <p:spPr>
          <a:xfrm>
            <a:off x="2468880" y="1600200"/>
            <a:ext cx="1600200"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Router</a:t>
            </a:r>
            <a:endParaRPr lang="en-US" sz="1200" dirty="0"/>
          </a:p>
        </p:txBody>
      </p:sp>
      <p:sp>
        <p:nvSpPr>
          <p:cNvPr id="8" name="Shape 6"/>
          <p:cNvSpPr/>
          <p:nvPr/>
        </p:nvSpPr>
        <p:spPr>
          <a:xfrm>
            <a:off x="2103120" y="1883664"/>
            <a:ext cx="365760" cy="0"/>
          </a:xfrm>
          <a:prstGeom prst="line">
            <a:avLst/>
          </a:prstGeom>
          <a:noFill/>
          <a:ln w="19050">
            <a:solidFill>
              <a:srgbClr val="46555F"/>
            </a:solidFill>
            <a:prstDash val="solid"/>
            <a:tailEnd type="triangle"/>
          </a:ln>
        </p:spPr>
      </p:sp>
      <p:sp>
        <p:nvSpPr>
          <p:cNvPr id="9" name="Shape 7"/>
          <p:cNvSpPr/>
          <p:nvPr/>
        </p:nvSpPr>
        <p:spPr>
          <a:xfrm>
            <a:off x="4434840" y="1188720"/>
            <a:ext cx="3063240" cy="932688"/>
          </a:xfrm>
          <a:prstGeom prst="roundRect">
            <a:avLst>
              <a:gd name="adj" fmla="val 5882"/>
            </a:avLst>
          </a:prstGeom>
          <a:solidFill>
            <a:srgbClr val="FDF6F1"/>
          </a:solidFill>
          <a:ln w="12700">
            <a:solidFill>
              <a:srgbClr val="FDF6F1"/>
            </a:solidFill>
            <a:prstDash val="solid"/>
          </a:ln>
        </p:spPr>
      </p:sp>
      <p:sp>
        <p:nvSpPr>
          <p:cNvPr id="10" name="Text 8"/>
          <p:cNvSpPr/>
          <p:nvPr/>
        </p:nvSpPr>
        <p:spPr>
          <a:xfrm>
            <a:off x="4636008" y="1298448"/>
            <a:ext cx="2743200" cy="256032"/>
          </a:xfrm>
          <a:prstGeom prst="rect">
            <a:avLst/>
          </a:prstGeom>
          <a:noFill/>
          <a:ln/>
        </p:spPr>
        <p:txBody>
          <a:bodyPr wrap="square" lIns="0" tIns="0" rIns="0" bIns="0" rtlCol="0" anchor="ctr"/>
          <a:lstStyle/>
          <a:p>
            <a:pPr indent="0" marL="0">
              <a:buNone/>
            </a:pPr>
            <a:r>
              <a:rPr lang="en-US" sz="1200" b="1" dirty="0">
                <a:solidFill>
                  <a:srgbClr val="FD5000"/>
                </a:solidFill>
                <a:latin typeface="Arial" pitchFamily="34" charset="0"/>
                <a:ea typeface="Arial" pitchFamily="34" charset="-122"/>
                <a:cs typeface="Arial" pitchFamily="34" charset="-120"/>
              </a:rPr>
              <a:t>RAG  ·  3 specialists</a:t>
            </a:r>
            <a:endParaRPr lang="en-US" sz="1200" dirty="0"/>
          </a:p>
        </p:txBody>
      </p:sp>
      <p:sp>
        <p:nvSpPr>
          <p:cNvPr id="11" name="Text 9"/>
          <p:cNvSpPr/>
          <p:nvPr/>
        </p:nvSpPr>
        <p:spPr>
          <a:xfrm>
            <a:off x="4636008" y="1572768"/>
            <a:ext cx="2743200" cy="47548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Maintenance · Safety · Quality</a:t>
            </a:r>
            <a:endParaRPr lang="en-US" sz="1050" dirty="0"/>
          </a:p>
          <a:p>
            <a:pPr indent="0" marL="0">
              <a:buNone/>
            </a:pPr>
            <a:r>
              <a:rPr lang="en-US" sz="1050" dirty="0">
                <a:solidFill>
                  <a:srgbClr val="46555F"/>
                </a:solidFill>
                <a:latin typeface="Arial" pitchFamily="34" charset="0"/>
                <a:ea typeface="Arial" pitchFamily="34" charset="-122"/>
                <a:cs typeface="Arial" pitchFamily="34" charset="-120"/>
              </a:rPr>
              <a:t>Chroma vector search + citations</a:t>
            </a:r>
            <a:endParaRPr lang="en-US" sz="1050" dirty="0"/>
          </a:p>
        </p:txBody>
      </p:sp>
      <p:sp>
        <p:nvSpPr>
          <p:cNvPr id="12" name="Shape 10"/>
          <p:cNvSpPr/>
          <p:nvPr/>
        </p:nvSpPr>
        <p:spPr>
          <a:xfrm>
            <a:off x="4434840" y="2331720"/>
            <a:ext cx="3063240" cy="932688"/>
          </a:xfrm>
          <a:prstGeom prst="roundRect">
            <a:avLst>
              <a:gd name="adj" fmla="val 5882"/>
            </a:avLst>
          </a:prstGeom>
          <a:solidFill>
            <a:srgbClr val="FDF6F1"/>
          </a:solidFill>
          <a:ln w="12700">
            <a:solidFill>
              <a:srgbClr val="FDF6F1"/>
            </a:solidFill>
            <a:prstDash val="solid"/>
          </a:ln>
        </p:spPr>
      </p:sp>
      <p:sp>
        <p:nvSpPr>
          <p:cNvPr id="13" name="Text 11"/>
          <p:cNvSpPr/>
          <p:nvPr/>
        </p:nvSpPr>
        <p:spPr>
          <a:xfrm>
            <a:off x="4636008" y="2441448"/>
            <a:ext cx="2743200" cy="256032"/>
          </a:xfrm>
          <a:prstGeom prst="rect">
            <a:avLst/>
          </a:prstGeom>
          <a:noFill/>
          <a:ln/>
        </p:spPr>
        <p:txBody>
          <a:bodyPr wrap="square" lIns="0" tIns="0" rIns="0" bIns="0" rtlCol="0" anchor="ctr"/>
          <a:lstStyle/>
          <a:p>
            <a:pPr indent="0" marL="0">
              <a:buNone/>
            </a:pPr>
            <a:r>
              <a:rPr lang="en-US" sz="1200" b="1" dirty="0">
                <a:solidFill>
                  <a:srgbClr val="FD5000"/>
                </a:solidFill>
                <a:latin typeface="Arial" pitchFamily="34" charset="0"/>
                <a:ea typeface="Arial" pitchFamily="34" charset="-122"/>
                <a:cs typeface="Arial" pitchFamily="34" charset="-120"/>
              </a:rPr>
              <a:t>Text-to-SQL agent</a:t>
            </a:r>
            <a:endParaRPr lang="en-US" sz="1200" dirty="0"/>
          </a:p>
        </p:txBody>
      </p:sp>
      <p:sp>
        <p:nvSpPr>
          <p:cNvPr id="14" name="Text 12"/>
          <p:cNvSpPr/>
          <p:nvPr/>
        </p:nvSpPr>
        <p:spPr>
          <a:xfrm>
            <a:off x="4636008" y="2715768"/>
            <a:ext cx="2743200" cy="47548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SQLite over 2,372 telemetry rows</a:t>
            </a:r>
            <a:endParaRPr lang="en-US" sz="1050" dirty="0"/>
          </a:p>
          <a:p>
            <a:pPr indent="0" marL="0">
              <a:buNone/>
            </a:pPr>
            <a:r>
              <a:rPr lang="en-US" sz="1050" dirty="0">
                <a:solidFill>
                  <a:srgbClr val="46555F"/>
                </a:solidFill>
                <a:latin typeface="Arial" pitchFamily="34" charset="0"/>
                <a:ea typeface="Arial" pitchFamily="34" charset="-122"/>
                <a:cs typeface="Arial" pitchFamily="34" charset="-120"/>
              </a:rPr>
              <a:t>read-only, ships its query</a:t>
            </a:r>
            <a:endParaRPr lang="en-US" sz="1050" dirty="0"/>
          </a:p>
        </p:txBody>
      </p:sp>
      <p:sp>
        <p:nvSpPr>
          <p:cNvPr id="15" name="Shape 13"/>
          <p:cNvSpPr/>
          <p:nvPr/>
        </p:nvSpPr>
        <p:spPr>
          <a:xfrm>
            <a:off x="4069080" y="1883664"/>
            <a:ext cx="182880" cy="0"/>
          </a:xfrm>
          <a:prstGeom prst="line">
            <a:avLst/>
          </a:prstGeom>
          <a:noFill/>
          <a:ln w="19050">
            <a:solidFill>
              <a:srgbClr val="46555F"/>
            </a:solidFill>
            <a:prstDash val="solid"/>
          </a:ln>
        </p:spPr>
      </p:sp>
      <p:sp>
        <p:nvSpPr>
          <p:cNvPr id="16" name="Shape 14"/>
          <p:cNvSpPr/>
          <p:nvPr/>
        </p:nvSpPr>
        <p:spPr>
          <a:xfrm>
            <a:off x="4251960" y="1655064"/>
            <a:ext cx="0" cy="228600"/>
          </a:xfrm>
          <a:prstGeom prst="line">
            <a:avLst/>
          </a:prstGeom>
          <a:noFill/>
          <a:ln w="19050">
            <a:solidFill>
              <a:srgbClr val="46555F"/>
            </a:solidFill>
            <a:prstDash val="solid"/>
          </a:ln>
        </p:spPr>
      </p:sp>
      <p:sp>
        <p:nvSpPr>
          <p:cNvPr id="17" name="Shape 15"/>
          <p:cNvSpPr/>
          <p:nvPr/>
        </p:nvSpPr>
        <p:spPr>
          <a:xfrm>
            <a:off x="4251960" y="1655064"/>
            <a:ext cx="182880" cy="0"/>
          </a:xfrm>
          <a:prstGeom prst="line">
            <a:avLst/>
          </a:prstGeom>
          <a:noFill/>
          <a:ln w="19050">
            <a:solidFill>
              <a:srgbClr val="46555F"/>
            </a:solidFill>
            <a:prstDash val="solid"/>
            <a:tailEnd type="triangle"/>
          </a:ln>
        </p:spPr>
      </p:sp>
      <p:sp>
        <p:nvSpPr>
          <p:cNvPr id="18" name="Shape 16"/>
          <p:cNvSpPr/>
          <p:nvPr/>
        </p:nvSpPr>
        <p:spPr>
          <a:xfrm>
            <a:off x="4069080" y="1883664"/>
            <a:ext cx="182880" cy="0"/>
          </a:xfrm>
          <a:prstGeom prst="line">
            <a:avLst/>
          </a:prstGeom>
          <a:noFill/>
          <a:ln w="19050">
            <a:solidFill>
              <a:srgbClr val="46555F"/>
            </a:solidFill>
            <a:prstDash val="solid"/>
          </a:ln>
        </p:spPr>
      </p:sp>
      <p:sp>
        <p:nvSpPr>
          <p:cNvPr id="19" name="Shape 17"/>
          <p:cNvSpPr/>
          <p:nvPr/>
        </p:nvSpPr>
        <p:spPr>
          <a:xfrm>
            <a:off x="4251960" y="1883664"/>
            <a:ext cx="0" cy="914400"/>
          </a:xfrm>
          <a:prstGeom prst="line">
            <a:avLst/>
          </a:prstGeom>
          <a:noFill/>
          <a:ln w="19050">
            <a:solidFill>
              <a:srgbClr val="46555F"/>
            </a:solidFill>
            <a:prstDash val="solid"/>
          </a:ln>
        </p:spPr>
      </p:sp>
      <p:sp>
        <p:nvSpPr>
          <p:cNvPr id="20" name="Shape 18"/>
          <p:cNvSpPr/>
          <p:nvPr/>
        </p:nvSpPr>
        <p:spPr>
          <a:xfrm>
            <a:off x="4251960" y="2798064"/>
            <a:ext cx="182880" cy="0"/>
          </a:xfrm>
          <a:prstGeom prst="line">
            <a:avLst/>
          </a:prstGeom>
          <a:noFill/>
          <a:ln w="19050">
            <a:solidFill>
              <a:srgbClr val="46555F"/>
            </a:solidFill>
            <a:prstDash val="solid"/>
            <a:tailEnd type="triangle"/>
          </a:ln>
        </p:spPr>
      </p:sp>
      <p:sp>
        <p:nvSpPr>
          <p:cNvPr id="21" name="Shape 19"/>
          <p:cNvSpPr/>
          <p:nvPr/>
        </p:nvSpPr>
        <p:spPr>
          <a:xfrm>
            <a:off x="502920" y="3611880"/>
            <a:ext cx="8138160" cy="841248"/>
          </a:xfrm>
          <a:prstGeom prst="roundRect">
            <a:avLst>
              <a:gd name="adj" fmla="val 6522"/>
            </a:avLst>
          </a:prstGeom>
          <a:solidFill>
            <a:srgbClr val="1D252D"/>
          </a:solidFill>
          <a:ln w="12700">
            <a:solidFill>
              <a:srgbClr val="1D252D"/>
            </a:solidFill>
            <a:prstDash val="solid"/>
          </a:ln>
        </p:spPr>
      </p:sp>
      <p:sp>
        <p:nvSpPr>
          <p:cNvPr id="22" name="Text 20"/>
          <p:cNvSpPr/>
          <p:nvPr/>
        </p:nvSpPr>
        <p:spPr>
          <a:xfrm>
            <a:off x="777240" y="3730752"/>
            <a:ext cx="420624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Guardrail runs BEFORE the model is called</a:t>
            </a:r>
            <a:endParaRPr lang="en-US" sz="1200" dirty="0"/>
          </a:p>
        </p:txBody>
      </p:sp>
      <p:sp>
        <p:nvSpPr>
          <p:cNvPr id="23" name="Text 21"/>
          <p:cNvSpPr/>
          <p:nvPr/>
        </p:nvSpPr>
        <p:spPr>
          <a:xfrm>
            <a:off x="777240" y="4023360"/>
            <a:ext cx="7863840" cy="274320"/>
          </a:xfrm>
          <a:prstGeom prst="rect">
            <a:avLst/>
          </a:prstGeom>
          <a:noFill/>
          <a:ln/>
        </p:spPr>
        <p:txBody>
          <a:bodyPr wrap="square" lIns="0" tIns="0" rIns="0" bIns="0" rtlCol="0" anchor="ctr"/>
          <a:lstStyle/>
          <a:p>
            <a:pPr indent="0" marL="0">
              <a:buNone/>
            </a:pPr>
            <a:r>
              <a:rPr lang="en-US" sz="1100" dirty="0">
                <a:solidFill>
                  <a:srgbClr val="FD5000"/>
                </a:solidFill>
                <a:latin typeface="Courier New" pitchFamily="34" charset="0"/>
                <a:ea typeface="Courier New" pitchFamily="34" charset="-122"/>
                <a:cs typeface="Courier New" pitchFamily="34" charset="-120"/>
              </a:rPr>
              <a:t>trusted = [h for h in hits if h.score &gt;= min_score]  →  if empty, refuse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EVALUATION</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We measured it, we didn't assume it</a:t>
            </a:r>
            <a:endParaRPr lang="en-US" sz="3000" dirty="0"/>
          </a:p>
        </p:txBody>
      </p:sp>
      <p:sp>
        <p:nvSpPr>
          <p:cNvPr id="4" name="Text 2"/>
          <p:cNvSpPr/>
          <p:nvPr/>
        </p:nvSpPr>
        <p:spPr>
          <a:xfrm>
            <a:off x="502920" y="1207008"/>
            <a:ext cx="8138160" cy="292608"/>
          </a:xfrm>
          <a:prstGeom prst="rect">
            <a:avLst/>
          </a:prstGeom>
          <a:noFill/>
          <a:ln/>
        </p:spPr>
        <p:txBody>
          <a:bodyPr wrap="square" lIns="0" tIns="0" rIns="0" bIns="0" rtlCol="0" anchor="ctr"/>
          <a:lstStyle/>
          <a:p>
            <a:pPr indent="0" marL="0">
              <a:buNone/>
            </a:pPr>
            <a:r>
              <a:rPr lang="en-US" sz="1300" dirty="0">
                <a:solidFill>
                  <a:srgbClr val="46555F"/>
                </a:solidFill>
                <a:latin typeface="Arial" pitchFamily="34" charset="0"/>
                <a:ea typeface="Arial" pitchFamily="34" charset="-122"/>
                <a:cs typeface="Arial" pitchFamily="34" charset="-120"/>
              </a:rPr>
              <a:t>17-case golden set. Mean Reciprocal Rank across every chunking strategy and retriever.</a:t>
            </a:r>
            <a:endParaRPr lang="en-US" sz="1300" dirty="0"/>
          </a:p>
        </p:txBody>
      </p:sp>
      <p:graphicFrame>
        <p:nvGraphicFramePr>
          <p:cNvPr id="5" name="Chart 0" descr=""/>
          <p:cNvGraphicFramePr/>
          <p:nvPr/>
        </p:nvGraphicFramePr>
        <p:xfrm>
          <a:off x="502920" y="1645920"/>
          <a:ext cx="5029200" cy="2697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806440" y="1664208"/>
            <a:ext cx="310896" cy="310896"/>
          </a:xfrm>
          <a:prstGeom prst="ellipse">
            <a:avLst/>
          </a:prstGeom>
          <a:solidFill>
            <a:srgbClr val="FD5000"/>
          </a:solidFill>
          <a:ln/>
        </p:spPr>
      </p:sp>
      <p:sp>
        <p:nvSpPr>
          <p:cNvPr id="7" name="Text 4"/>
          <p:cNvSpPr/>
          <p:nvPr/>
        </p:nvSpPr>
        <p:spPr>
          <a:xfrm>
            <a:off x="5806440" y="16642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6236208" y="1645920"/>
            <a:ext cx="246888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Best config</a:t>
            </a:r>
            <a:endParaRPr lang="en-US" sz="1200" dirty="0"/>
          </a:p>
        </p:txBody>
      </p:sp>
      <p:sp>
        <p:nvSpPr>
          <p:cNvPr id="9" name="Text 6"/>
          <p:cNvSpPr/>
          <p:nvPr/>
        </p:nvSpPr>
        <p:spPr>
          <a:xfrm>
            <a:off x="6236208" y="1901952"/>
            <a:ext cx="2514600" cy="56692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metadata_aware chunking</a:t>
            </a:r>
            <a:endParaRPr lang="en-US" sz="1050" dirty="0"/>
          </a:p>
          <a:p>
            <a:pPr indent="0" marL="0">
              <a:buNone/>
            </a:pPr>
            <a:r>
              <a:rPr lang="en-US" sz="1050" dirty="0">
                <a:solidFill>
                  <a:srgbClr val="46555F"/>
                </a:solidFill>
                <a:latin typeface="Arial" pitchFamily="34" charset="0"/>
                <a:ea typeface="Arial" pitchFamily="34" charset="-122"/>
                <a:cs typeface="Arial" pitchFamily="34" charset="-120"/>
              </a:rPr>
              <a:t>+ vector retrieval  →  MRR 0.93</a:t>
            </a:r>
            <a:endParaRPr lang="en-US" sz="1050" dirty="0"/>
          </a:p>
        </p:txBody>
      </p:sp>
      <p:sp>
        <p:nvSpPr>
          <p:cNvPr id="10" name="Shape 7"/>
          <p:cNvSpPr/>
          <p:nvPr/>
        </p:nvSpPr>
        <p:spPr>
          <a:xfrm>
            <a:off x="5806440" y="2596896"/>
            <a:ext cx="310896" cy="310896"/>
          </a:xfrm>
          <a:prstGeom prst="ellipse">
            <a:avLst/>
          </a:prstGeom>
          <a:solidFill>
            <a:srgbClr val="FD5000"/>
          </a:solidFill>
          <a:ln/>
        </p:spPr>
      </p:sp>
      <p:sp>
        <p:nvSpPr>
          <p:cNvPr id="11" name="Text 8"/>
          <p:cNvSpPr/>
          <p:nvPr/>
        </p:nvSpPr>
        <p:spPr>
          <a:xfrm>
            <a:off x="5806440" y="25968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9"/>
          <p:cNvSpPr/>
          <p:nvPr/>
        </p:nvSpPr>
        <p:spPr>
          <a:xfrm>
            <a:off x="6236208" y="2578608"/>
            <a:ext cx="246888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Reported as found</a:t>
            </a:r>
            <a:endParaRPr lang="en-US" sz="1200" dirty="0"/>
          </a:p>
        </p:txBody>
      </p:sp>
      <p:sp>
        <p:nvSpPr>
          <p:cNvPr id="13" name="Text 10"/>
          <p:cNvSpPr/>
          <p:nvPr/>
        </p:nvSpPr>
        <p:spPr>
          <a:xfrm>
            <a:off x="6236208" y="2834640"/>
            <a:ext cx="2514600" cy="56692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Hybrid RRF scored WORSE than</a:t>
            </a:r>
            <a:endParaRPr lang="en-US" sz="1050" dirty="0"/>
          </a:p>
          <a:p>
            <a:pPr indent="0" marL="0">
              <a:buNone/>
            </a:pPr>
            <a:r>
              <a:rPr lang="en-US" sz="1050" dirty="0">
                <a:solidFill>
                  <a:srgbClr val="46555F"/>
                </a:solidFill>
                <a:latin typeface="Arial" pitchFamily="34" charset="0"/>
                <a:ea typeface="Arial" pitchFamily="34" charset="-122"/>
                <a:cs typeface="Arial" pitchFamily="34" charset="-120"/>
              </a:rPr>
              <a:t>pure vector (0.88 vs 0.93)</a:t>
            </a:r>
            <a:endParaRPr lang="en-US" sz="1050" dirty="0"/>
          </a:p>
        </p:txBody>
      </p:sp>
      <p:sp>
        <p:nvSpPr>
          <p:cNvPr id="14" name="Shape 11"/>
          <p:cNvSpPr/>
          <p:nvPr/>
        </p:nvSpPr>
        <p:spPr>
          <a:xfrm>
            <a:off x="5806440" y="3529584"/>
            <a:ext cx="310896" cy="310896"/>
          </a:xfrm>
          <a:prstGeom prst="ellipse">
            <a:avLst/>
          </a:prstGeom>
          <a:solidFill>
            <a:srgbClr val="FD5000"/>
          </a:solidFill>
          <a:ln/>
        </p:spPr>
      </p:sp>
      <p:sp>
        <p:nvSpPr>
          <p:cNvPr id="15" name="Text 12"/>
          <p:cNvSpPr/>
          <p:nvPr/>
        </p:nvSpPr>
        <p:spPr>
          <a:xfrm>
            <a:off x="5806440" y="35295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3"/>
          <p:cNvSpPr/>
          <p:nvPr/>
        </p:nvSpPr>
        <p:spPr>
          <a:xfrm>
            <a:off x="6236208" y="3511296"/>
            <a:ext cx="246888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Hit@5</a:t>
            </a:r>
            <a:endParaRPr lang="en-US" sz="1200" dirty="0"/>
          </a:p>
        </p:txBody>
      </p:sp>
      <p:sp>
        <p:nvSpPr>
          <p:cNvPr id="17" name="Text 14"/>
          <p:cNvSpPr/>
          <p:nvPr/>
        </p:nvSpPr>
        <p:spPr>
          <a:xfrm>
            <a:off x="6236208" y="3767328"/>
            <a:ext cx="2514600" cy="56692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1.00 across all strategies —</a:t>
            </a:r>
            <a:endParaRPr lang="en-US" sz="1050" dirty="0"/>
          </a:p>
          <a:p>
            <a:pPr indent="0" marL="0">
              <a:buNone/>
            </a:pPr>
            <a:r>
              <a:rPr lang="en-US" sz="1050" dirty="0">
                <a:solidFill>
                  <a:srgbClr val="46555F"/>
                </a:solidFill>
                <a:latin typeface="Arial" pitchFamily="34" charset="0"/>
                <a:ea typeface="Arial" pitchFamily="34" charset="-122"/>
                <a:cs typeface="Arial" pitchFamily="34" charset="-120"/>
              </a:rPr>
              <a:t>the right doc is always retrieved</a:t>
            </a:r>
            <a:endParaRPr lang="en-US" sz="1050" dirty="0"/>
          </a:p>
        </p:txBody>
      </p:sp>
      <p:sp>
        <p:nvSpPr>
          <p:cNvPr id="18" name="Text 15"/>
          <p:cNvSpPr/>
          <p:nvPr/>
        </p:nvSpPr>
        <p:spPr>
          <a:xfrm>
            <a:off x="502920" y="4498848"/>
            <a:ext cx="8138160" cy="274320"/>
          </a:xfrm>
          <a:prstGeom prst="rect">
            <a:avLst/>
          </a:prstGeom>
          <a:noFill/>
          <a:ln/>
        </p:spPr>
        <p:txBody>
          <a:bodyPr wrap="square" lIns="0" tIns="0" rIns="0" bIns="0" rtlCol="0" anchor="ctr"/>
          <a:lstStyle/>
          <a:p>
            <a:pPr indent="0" marL="0">
              <a:buNone/>
            </a:pPr>
            <a:r>
              <a:rPr lang="en-US" sz="1150" i="1" dirty="0">
                <a:solidFill>
                  <a:srgbClr val="1D252D"/>
                </a:solidFill>
                <a:latin typeface="Arial" pitchFamily="34" charset="0"/>
                <a:ea typeface="Arial" pitchFamily="34" charset="-122"/>
                <a:cs typeface="Arial" pitchFamily="34" charset="-120"/>
              </a:rPr>
              <a:t>Hybrid retrieval is widely recommended. On our corpus it lost. We report the measurement, not the expectation.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D252D"/>
        </a:solidFill>
      </p:bgPr>
    </p:bg>
    <p:spTree>
      <p:nvGrpSpPr>
        <p:cNvPr id="1" name=""/>
        <p:cNvGrpSpPr/>
        <p:nvPr/>
      </p:nvGrpSpPr>
      <p:grpSpPr>
        <a:xfrm>
          <a:off x="0" y="0"/>
          <a:ext cx="0" cy="0"/>
          <a:chOff x="0" y="0"/>
          <a:chExt cx="0" cy="0"/>
        </a:xfrm>
      </p:grpSpPr>
      <p:sp>
        <p:nvSpPr>
          <p:cNvPr id="2" name="Text 0"/>
          <p:cNvSpPr/>
          <p:nvPr/>
        </p:nvSpPr>
        <p:spPr>
          <a:xfrm>
            <a:off x="502920" y="310896"/>
            <a:ext cx="548640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GROUNDING</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Knowing when to say nothing</a:t>
            </a:r>
            <a:endParaRPr lang="en-US" sz="3000" dirty="0"/>
          </a:p>
        </p:txBody>
      </p:sp>
      <p:sp>
        <p:nvSpPr>
          <p:cNvPr id="4" name="Text 2"/>
          <p:cNvSpPr/>
          <p:nvPr/>
        </p:nvSpPr>
        <p:spPr>
          <a:xfrm>
            <a:off x="502920" y="1261872"/>
            <a:ext cx="8138160" cy="274320"/>
          </a:xfrm>
          <a:prstGeom prst="rect">
            <a:avLst/>
          </a:prstGeom>
          <a:noFill/>
          <a:ln/>
        </p:spPr>
        <p:txBody>
          <a:bodyPr wrap="square" lIns="0" tIns="0" rIns="0" bIns="0" rtlCol="0" anchor="ctr"/>
          <a:lstStyle/>
          <a:p>
            <a:pPr indent="0" marL="0">
              <a:buNone/>
            </a:pPr>
            <a:r>
              <a:rPr lang="en-US" sz="1300" dirty="0">
                <a:solidFill>
                  <a:srgbClr val="B9C0CA"/>
                </a:solidFill>
                <a:latin typeface="Arial" pitchFamily="34" charset="0"/>
                <a:ea typeface="Arial" pitchFamily="34" charset="-122"/>
                <a:cs typeface="Arial" pitchFamily="34" charset="-120"/>
              </a:rPr>
              <a:t>Score distributions, measured on our corpus:</a:t>
            </a:r>
            <a:endParaRPr lang="en-US" sz="1300" dirty="0"/>
          </a:p>
        </p:txBody>
      </p:sp>
      <p:sp>
        <p:nvSpPr>
          <p:cNvPr id="5" name="Text 3"/>
          <p:cNvSpPr/>
          <p:nvPr/>
        </p:nvSpPr>
        <p:spPr>
          <a:xfrm>
            <a:off x="502920" y="1664208"/>
            <a:ext cx="27432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Grounded questions</a:t>
            </a:r>
            <a:endParaRPr lang="en-US" sz="1300" dirty="0"/>
          </a:p>
        </p:txBody>
      </p:sp>
      <p:sp>
        <p:nvSpPr>
          <p:cNvPr id="6" name="Text 4"/>
          <p:cNvSpPr/>
          <p:nvPr/>
        </p:nvSpPr>
        <p:spPr>
          <a:xfrm>
            <a:off x="3291840" y="1664208"/>
            <a:ext cx="2377440" cy="365760"/>
          </a:xfrm>
          <a:prstGeom prst="rect">
            <a:avLst/>
          </a:prstGeom>
          <a:noFill/>
          <a:ln/>
        </p:spPr>
        <p:txBody>
          <a:bodyPr wrap="square" lIns="0" tIns="0" rIns="0" bIns="0" rtlCol="0" anchor="ctr"/>
          <a:lstStyle/>
          <a:p>
            <a:pPr indent="0" marL="0">
              <a:buNone/>
            </a:pPr>
            <a:r>
              <a:rPr lang="en-US" sz="1500" b="1" dirty="0">
                <a:solidFill>
                  <a:srgbClr val="FD5000"/>
                </a:solidFill>
                <a:latin typeface="Courier New" pitchFamily="34" charset="0"/>
                <a:ea typeface="Courier New" pitchFamily="34" charset="-122"/>
                <a:cs typeface="Courier New" pitchFamily="34" charset="-120"/>
              </a:rPr>
              <a:t>0.643  —  0.847</a:t>
            </a:r>
            <a:endParaRPr lang="en-US" sz="1500" dirty="0"/>
          </a:p>
        </p:txBody>
      </p:sp>
      <p:sp>
        <p:nvSpPr>
          <p:cNvPr id="7" name="Text 5"/>
          <p:cNvSpPr/>
          <p:nvPr/>
        </p:nvSpPr>
        <p:spPr>
          <a:xfrm>
            <a:off x="502920" y="2322576"/>
            <a:ext cx="27432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Adversarial questions</a:t>
            </a:r>
            <a:endParaRPr lang="en-US" sz="1300" dirty="0"/>
          </a:p>
        </p:txBody>
      </p:sp>
      <p:sp>
        <p:nvSpPr>
          <p:cNvPr id="8" name="Text 6"/>
          <p:cNvSpPr/>
          <p:nvPr/>
        </p:nvSpPr>
        <p:spPr>
          <a:xfrm>
            <a:off x="3291840" y="2322576"/>
            <a:ext cx="2377440" cy="365760"/>
          </a:xfrm>
          <a:prstGeom prst="rect">
            <a:avLst/>
          </a:prstGeom>
          <a:noFill/>
          <a:ln/>
        </p:spPr>
        <p:txBody>
          <a:bodyPr wrap="square" lIns="0" tIns="0" rIns="0" bIns="0" rtlCol="0" anchor="ctr"/>
          <a:lstStyle/>
          <a:p>
            <a:pPr indent="0" marL="0">
              <a:buNone/>
            </a:pPr>
            <a:r>
              <a:rPr lang="en-US" sz="1500" b="1" dirty="0">
                <a:solidFill>
                  <a:srgbClr val="9BA6B2"/>
                </a:solidFill>
                <a:latin typeface="Courier New" pitchFamily="34" charset="0"/>
                <a:ea typeface="Courier New" pitchFamily="34" charset="-122"/>
                <a:cs typeface="Courier New" pitchFamily="34" charset="-120"/>
              </a:rPr>
              <a:t>0.500  —  0.673</a:t>
            </a:r>
            <a:endParaRPr lang="en-US" sz="1500" dirty="0"/>
          </a:p>
        </p:txBody>
      </p:sp>
      <p:sp>
        <p:nvSpPr>
          <p:cNvPr id="9" name="Shape 7"/>
          <p:cNvSpPr/>
          <p:nvPr/>
        </p:nvSpPr>
        <p:spPr>
          <a:xfrm>
            <a:off x="5989320" y="1600200"/>
            <a:ext cx="2651760" cy="1325880"/>
          </a:xfrm>
          <a:prstGeom prst="roundRect">
            <a:avLst>
              <a:gd name="adj" fmla="val 4138"/>
            </a:avLst>
          </a:prstGeom>
          <a:solidFill>
            <a:srgbClr val="262A30"/>
          </a:solidFill>
          <a:ln w="12700">
            <a:solidFill>
              <a:srgbClr val="262A30"/>
            </a:solidFill>
            <a:prstDash val="solid"/>
          </a:ln>
        </p:spPr>
      </p:sp>
      <p:sp>
        <p:nvSpPr>
          <p:cNvPr id="10" name="Text 8"/>
          <p:cNvSpPr/>
          <p:nvPr/>
        </p:nvSpPr>
        <p:spPr>
          <a:xfrm>
            <a:off x="5989320" y="1719072"/>
            <a:ext cx="2651760" cy="548640"/>
          </a:xfrm>
          <a:prstGeom prst="rect">
            <a:avLst/>
          </a:prstGeom>
          <a:noFill/>
          <a:ln/>
        </p:spPr>
        <p:txBody>
          <a:bodyPr wrap="square" lIns="0" tIns="0" rIns="0" bIns="0" rtlCol="0" anchor="ctr"/>
          <a:lstStyle/>
          <a:p>
            <a:pPr algn="ctr" indent="0" marL="0">
              <a:buNone/>
            </a:pPr>
            <a:r>
              <a:rPr lang="en-US" sz="3600" b="1" dirty="0">
                <a:solidFill>
                  <a:srgbClr val="FD5000"/>
                </a:solidFill>
                <a:latin typeface="Arial" pitchFamily="34" charset="0"/>
                <a:ea typeface="Arial" pitchFamily="34" charset="-122"/>
                <a:cs typeface="Arial" pitchFamily="34" charset="-120"/>
              </a:rPr>
              <a:t>0.68</a:t>
            </a:r>
            <a:endParaRPr lang="en-US" sz="3600" dirty="0"/>
          </a:p>
        </p:txBody>
      </p:sp>
      <p:sp>
        <p:nvSpPr>
          <p:cNvPr id="11" name="Text 9"/>
          <p:cNvSpPr/>
          <p:nvPr/>
        </p:nvSpPr>
        <p:spPr>
          <a:xfrm>
            <a:off x="6172200" y="2286000"/>
            <a:ext cx="2286000" cy="502920"/>
          </a:xfrm>
          <a:prstGeom prst="rect">
            <a:avLst/>
          </a:prstGeom>
          <a:noFill/>
          <a:ln/>
        </p:spPr>
        <p:txBody>
          <a:bodyPr wrap="square" lIns="0" tIns="0" rIns="0" bIns="0" rtlCol="0" anchor="ctr"/>
          <a:lstStyle/>
          <a:p>
            <a:pPr algn="ctr" indent="0" marL="0">
              <a:buNone/>
            </a:pPr>
            <a:r>
              <a:rPr lang="en-US" sz="1050" dirty="0">
                <a:solidFill>
                  <a:srgbClr val="B9C0CA"/>
                </a:solidFill>
                <a:latin typeface="Arial" pitchFamily="34" charset="0"/>
                <a:ea typeface="Arial" pitchFamily="34" charset="-122"/>
                <a:cs typeface="Arial" pitchFamily="34" charset="-120"/>
              </a:rPr>
              <a:t>abstain floor</a:t>
            </a:r>
            <a:endParaRPr lang="en-US" sz="1050" dirty="0"/>
          </a:p>
          <a:p>
            <a:pPr algn="ctr" indent="0" marL="0">
              <a:buNone/>
            </a:pPr>
            <a:r>
              <a:rPr lang="en-US" sz="1050" dirty="0">
                <a:solidFill>
                  <a:srgbClr val="B9C0CA"/>
                </a:solidFill>
                <a:latin typeface="Arial" pitchFamily="34" charset="0"/>
                <a:ea typeface="Arial" pitchFamily="34" charset="-122"/>
                <a:cs typeface="Arial" pitchFamily="34" charset="-120"/>
              </a:rPr>
              <a:t>set just above the adversarial ceiling</a:t>
            </a:r>
            <a:endParaRPr lang="en-US" sz="1050" dirty="0"/>
          </a:p>
        </p:txBody>
      </p:sp>
      <p:sp>
        <p:nvSpPr>
          <p:cNvPr id="12" name="Text 10"/>
          <p:cNvSpPr/>
          <p:nvPr/>
        </p:nvSpPr>
        <p:spPr>
          <a:xfrm>
            <a:off x="502920" y="3154680"/>
            <a:ext cx="813816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honest part: these ranges overlap.</a:t>
            </a:r>
            <a:endParaRPr lang="en-US" sz="1400" dirty="0"/>
          </a:p>
        </p:txBody>
      </p:sp>
      <p:sp>
        <p:nvSpPr>
          <p:cNvPr id="13" name="Text 11"/>
          <p:cNvSpPr/>
          <p:nvPr/>
        </p:nvSpPr>
        <p:spPr>
          <a:xfrm>
            <a:off x="502920" y="3474720"/>
            <a:ext cx="8138160" cy="685800"/>
          </a:xfrm>
          <a:prstGeom prst="rect">
            <a:avLst/>
          </a:prstGeom>
          <a:noFill/>
          <a:ln/>
        </p:spPr>
        <p:txBody>
          <a:bodyPr wrap="square" lIns="0" tIns="0" rIns="0" bIns="0" rtlCol="0" anchor="ctr"/>
          <a:lstStyle/>
          <a:p>
            <a:pPr indent="0" marL="0">
              <a:buNone/>
            </a:pPr>
            <a:r>
              <a:rPr lang="en-US" sz="1200" dirty="0">
                <a:solidFill>
                  <a:srgbClr val="B9C0CA"/>
                </a:solidFill>
                <a:latin typeface="Arial" pitchFamily="34" charset="0"/>
                <a:ea typeface="Arial" pitchFamily="34" charset="-122"/>
                <a:cs typeface="Arial" pitchFamily="34" charset="-120"/>
              </a:rPr>
              <a:t>An adversarial question can score 0.673 while a real one scores 0.643. No threshold separates them cleanly — every floor trades false refusals against false answers. We chose the value, and we can defend why.</a:t>
            </a:r>
            <a:endParaRPr lang="en-US" sz="1200" dirty="0"/>
          </a:p>
        </p:txBody>
      </p:sp>
      <p:sp>
        <p:nvSpPr>
          <p:cNvPr id="14" name="Text 12"/>
          <p:cNvSpPr/>
          <p:nvPr/>
        </p:nvSpPr>
        <p:spPr>
          <a:xfrm>
            <a:off x="502920" y="4315968"/>
            <a:ext cx="8138160" cy="292608"/>
          </a:xfrm>
          <a:prstGeom prst="rect">
            <a:avLst/>
          </a:prstGeom>
          <a:noFill/>
          <a:ln/>
        </p:spPr>
        <p:txBody>
          <a:bodyPr wrap="square" lIns="0" tIns="0" rIns="0" bIns="0" rtlCol="0" anchor="ctr"/>
          <a:lstStyle/>
          <a:p>
            <a:pPr indent="0" marL="0">
              <a:buNone/>
            </a:pPr>
            <a:r>
              <a:rPr lang="en-US" sz="1150" i="1" dirty="0">
                <a:solidFill>
                  <a:srgbClr val="FD5000"/>
                </a:solidFill>
                <a:latin typeface="Arial" pitchFamily="34" charset="0"/>
                <a:ea typeface="Arial" pitchFamily="34" charset="-122"/>
                <a:cs typeface="Arial" pitchFamily="34" charset="-120"/>
              </a:rPr>
              <a:t>Live demo:  ask for alarm code Z-999  —  it does not exist  —  the system refuses instead of improvising.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TOOL USE</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Numbers you can re-run</a:t>
            </a:r>
            <a:endParaRPr lang="en-US" sz="3000" dirty="0"/>
          </a:p>
        </p:txBody>
      </p:sp>
      <p:sp>
        <p:nvSpPr>
          <p:cNvPr id="4" name="Text 2"/>
          <p:cNvSpPr/>
          <p:nvPr/>
        </p:nvSpPr>
        <p:spPr>
          <a:xfrm>
            <a:off x="502920" y="1188720"/>
            <a:ext cx="8138160" cy="292608"/>
          </a:xfrm>
          <a:prstGeom prst="rect">
            <a:avLst/>
          </a:prstGeom>
          <a:noFill/>
          <a:ln/>
        </p:spPr>
        <p:txBody>
          <a:bodyPr wrap="square" lIns="0" tIns="0" rIns="0" bIns="0" rtlCol="0" anchor="ctr"/>
          <a:lstStyle/>
          <a:p>
            <a:pPr indent="0" marL="0">
              <a:buNone/>
            </a:pPr>
            <a:r>
              <a:rPr lang="en-US" sz="1300" dirty="0">
                <a:solidFill>
                  <a:srgbClr val="46555F"/>
                </a:solidFill>
                <a:latin typeface="Arial" pitchFamily="34" charset="0"/>
                <a:ea typeface="Arial" pitchFamily="34" charset="-122"/>
                <a:cs typeface="Arial" pitchFamily="34" charset="-120"/>
              </a:rPr>
              <a:t>2,372 rows of SQL Server session telemetry, loaded into an in-memory SQLite snapshot. Read-only whitelist.</a:t>
            </a:r>
            <a:endParaRPr lang="en-US" sz="1300" dirty="0"/>
          </a:p>
        </p:txBody>
      </p:sp>
      <p:sp>
        <p:nvSpPr>
          <p:cNvPr id="5" name="Shape 3"/>
          <p:cNvSpPr/>
          <p:nvPr/>
        </p:nvSpPr>
        <p:spPr>
          <a:xfrm>
            <a:off x="502920" y="1627632"/>
            <a:ext cx="4892040" cy="1965960"/>
          </a:xfrm>
          <a:prstGeom prst="roundRect">
            <a:avLst>
              <a:gd name="adj" fmla="val 2791"/>
            </a:avLst>
          </a:prstGeom>
          <a:solidFill>
            <a:srgbClr val="1D252D"/>
          </a:solidFill>
          <a:ln w="12700">
            <a:solidFill>
              <a:srgbClr val="1D252D"/>
            </a:solidFill>
            <a:prstDash val="solid"/>
          </a:ln>
        </p:spPr>
      </p:sp>
      <p:sp>
        <p:nvSpPr>
          <p:cNvPr id="6" name="Text 4"/>
          <p:cNvSpPr/>
          <p:nvPr/>
        </p:nvSpPr>
        <p:spPr>
          <a:xfrm>
            <a:off x="758952" y="1773936"/>
            <a:ext cx="43891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“Which database used the most CPU in total?”</a:t>
            </a:r>
            <a:endParaRPr lang="en-US" sz="1200" dirty="0"/>
          </a:p>
        </p:txBody>
      </p:sp>
      <p:sp>
        <p:nvSpPr>
          <p:cNvPr id="7" name="Text 5"/>
          <p:cNvSpPr/>
          <p:nvPr/>
        </p:nvSpPr>
        <p:spPr>
          <a:xfrm>
            <a:off x="758952" y="2103120"/>
            <a:ext cx="4480560" cy="914400"/>
          </a:xfrm>
          <a:prstGeom prst="rect">
            <a:avLst/>
          </a:prstGeom>
          <a:noFill/>
          <a:ln/>
        </p:spPr>
        <p:txBody>
          <a:bodyPr wrap="square" lIns="0" tIns="0" rIns="0" bIns="0" rtlCol="0" anchor="ctr"/>
          <a:lstStyle/>
          <a:p>
            <a:pPr indent="0" marL="0">
              <a:buNone/>
            </a:pPr>
            <a:r>
              <a:rPr lang="en-US" sz="1050" dirty="0">
                <a:solidFill>
                  <a:srgbClr val="FD5000"/>
                </a:solidFill>
                <a:latin typeface="Courier New" pitchFamily="34" charset="0"/>
                <a:ea typeface="Courier New" pitchFamily="34" charset="-122"/>
                <a:cs typeface="Courier New" pitchFamily="34" charset="-120"/>
              </a:rPr>
              <a:t>SELECT DB_NAME, SUM(CPU_TIME) AS total_cpu</a:t>
            </a:r>
            <a:endParaRPr lang="en-US" sz="1050" dirty="0"/>
          </a:p>
          <a:p>
            <a:pPr indent="0" marL="0">
              <a:buNone/>
            </a:pPr>
            <a:r>
              <a:rPr lang="en-US" sz="1050" dirty="0">
                <a:solidFill>
                  <a:srgbClr val="FD5000"/>
                </a:solidFill>
                <a:latin typeface="Courier New" pitchFamily="34" charset="0"/>
                <a:ea typeface="Courier New" pitchFamily="34" charset="-122"/>
                <a:cs typeface="Courier New" pitchFamily="34" charset="-120"/>
              </a:rPr>
              <a:t>FROM sessions</a:t>
            </a:r>
            <a:endParaRPr lang="en-US" sz="1050" dirty="0"/>
          </a:p>
          <a:p>
            <a:pPr indent="0" marL="0">
              <a:buNone/>
            </a:pPr>
            <a:r>
              <a:rPr lang="en-US" sz="1050" dirty="0">
                <a:solidFill>
                  <a:srgbClr val="FD5000"/>
                </a:solidFill>
                <a:latin typeface="Courier New" pitchFamily="34" charset="0"/>
                <a:ea typeface="Courier New" pitchFamily="34" charset="-122"/>
                <a:cs typeface="Courier New" pitchFamily="34" charset="-120"/>
              </a:rPr>
              <a:t>GROUP BY DB_NAME</a:t>
            </a:r>
            <a:endParaRPr lang="en-US" sz="1050" dirty="0"/>
          </a:p>
          <a:p>
            <a:pPr indent="0" marL="0">
              <a:buNone/>
            </a:pPr>
            <a:r>
              <a:rPr lang="en-US" sz="1050" dirty="0">
                <a:solidFill>
                  <a:srgbClr val="FD5000"/>
                </a:solidFill>
                <a:latin typeface="Courier New" pitchFamily="34" charset="0"/>
                <a:ea typeface="Courier New" pitchFamily="34" charset="-122"/>
                <a:cs typeface="Courier New" pitchFamily="34" charset="-120"/>
              </a:rPr>
              <a:t>ORDER BY total_cpu DESC</a:t>
            </a:r>
            <a:endParaRPr lang="en-US" sz="1050" dirty="0"/>
          </a:p>
          <a:p>
            <a:pPr indent="0" marL="0">
              <a:buNone/>
            </a:pPr>
            <a:r>
              <a:rPr lang="en-US" sz="1050" dirty="0">
                <a:solidFill>
                  <a:srgbClr val="FD5000"/>
                </a:solidFill>
                <a:latin typeface="Courier New" pitchFamily="34" charset="0"/>
                <a:ea typeface="Courier New" pitchFamily="34" charset="-122"/>
                <a:cs typeface="Courier New" pitchFamily="34" charset="-120"/>
              </a:rPr>
              <a:t>LIMIT 1;</a:t>
            </a:r>
            <a:endParaRPr lang="en-US" sz="1050" dirty="0"/>
          </a:p>
        </p:txBody>
      </p:sp>
      <p:sp>
        <p:nvSpPr>
          <p:cNvPr id="8" name="Text 6"/>
          <p:cNvSpPr/>
          <p:nvPr/>
        </p:nvSpPr>
        <p:spPr>
          <a:xfrm>
            <a:off x="758952" y="3145536"/>
            <a:ext cx="4480560" cy="27432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db06  —  60,214,551 ms  across 1,242 sessions</a:t>
            </a:r>
            <a:endParaRPr lang="en-US" sz="1150" dirty="0"/>
          </a:p>
        </p:txBody>
      </p:sp>
      <p:sp>
        <p:nvSpPr>
          <p:cNvPr id="9" name="Shape 7"/>
          <p:cNvSpPr/>
          <p:nvPr/>
        </p:nvSpPr>
        <p:spPr>
          <a:xfrm>
            <a:off x="5715000" y="1664208"/>
            <a:ext cx="310896" cy="310896"/>
          </a:xfrm>
          <a:prstGeom prst="ellipse">
            <a:avLst/>
          </a:prstGeom>
          <a:solidFill>
            <a:srgbClr val="FD5000"/>
          </a:solidFill>
          <a:ln/>
        </p:spPr>
      </p:sp>
      <p:sp>
        <p:nvSpPr>
          <p:cNvPr id="10" name="Text 8"/>
          <p:cNvSpPr/>
          <p:nvPr/>
        </p:nvSpPr>
        <p:spPr>
          <a:xfrm>
            <a:off x="5715000" y="16642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6144768" y="1645920"/>
            <a:ext cx="260604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Every answer ships its SQL</a:t>
            </a:r>
            <a:endParaRPr lang="en-US" sz="1200" dirty="0"/>
          </a:p>
        </p:txBody>
      </p:sp>
      <p:sp>
        <p:nvSpPr>
          <p:cNvPr id="12" name="Text 10"/>
          <p:cNvSpPr/>
          <p:nvPr/>
        </p:nvSpPr>
        <p:spPr>
          <a:xfrm>
            <a:off x="6144768" y="1883664"/>
            <a:ext cx="2606040" cy="457200"/>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The number is auditable — re-run the query and check it yourself.</a:t>
            </a:r>
            <a:endParaRPr lang="en-US" sz="1050" dirty="0"/>
          </a:p>
        </p:txBody>
      </p:sp>
      <p:sp>
        <p:nvSpPr>
          <p:cNvPr id="13" name="Shape 11"/>
          <p:cNvSpPr/>
          <p:nvPr/>
        </p:nvSpPr>
        <p:spPr>
          <a:xfrm>
            <a:off x="5715000" y="2350008"/>
            <a:ext cx="310896" cy="310896"/>
          </a:xfrm>
          <a:prstGeom prst="ellipse">
            <a:avLst/>
          </a:prstGeom>
          <a:solidFill>
            <a:srgbClr val="FD5000"/>
          </a:solidFill>
          <a:ln/>
        </p:spPr>
      </p:sp>
      <p:sp>
        <p:nvSpPr>
          <p:cNvPr id="14" name="Text 12"/>
          <p:cNvSpPr/>
          <p:nvPr/>
        </p:nvSpPr>
        <p:spPr>
          <a:xfrm>
            <a:off x="5715000" y="23500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6144768" y="2331720"/>
            <a:ext cx="260604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Read-only by construction</a:t>
            </a:r>
            <a:endParaRPr lang="en-US" sz="1200" dirty="0"/>
          </a:p>
        </p:txBody>
      </p:sp>
      <p:sp>
        <p:nvSpPr>
          <p:cNvPr id="16" name="Text 14"/>
          <p:cNvSpPr/>
          <p:nvPr/>
        </p:nvSpPr>
        <p:spPr>
          <a:xfrm>
            <a:off x="6144768" y="2569464"/>
            <a:ext cx="2606040" cy="457200"/>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A whitelist rejects anything that is not a SELECT.</a:t>
            </a:r>
            <a:endParaRPr lang="en-US" sz="1050" dirty="0"/>
          </a:p>
        </p:txBody>
      </p:sp>
      <p:sp>
        <p:nvSpPr>
          <p:cNvPr id="17" name="Shape 15"/>
          <p:cNvSpPr/>
          <p:nvPr/>
        </p:nvSpPr>
        <p:spPr>
          <a:xfrm>
            <a:off x="5715000" y="3035808"/>
            <a:ext cx="310896" cy="310896"/>
          </a:xfrm>
          <a:prstGeom prst="ellipse">
            <a:avLst/>
          </a:prstGeom>
          <a:solidFill>
            <a:srgbClr val="FD5000"/>
          </a:solidFill>
          <a:ln/>
        </p:spPr>
      </p:sp>
      <p:sp>
        <p:nvSpPr>
          <p:cNvPr id="18" name="Text 16"/>
          <p:cNvSpPr/>
          <p:nvPr/>
        </p:nvSpPr>
        <p:spPr>
          <a:xfrm>
            <a:off x="5715000" y="30358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144768" y="3017520"/>
            <a:ext cx="2606040" cy="237744"/>
          </a:xfrm>
          <a:prstGeom prst="rect">
            <a:avLst/>
          </a:prstGeom>
          <a:noFill/>
          <a:ln/>
        </p:spPr>
        <p:txBody>
          <a:bodyPr wrap="square" lIns="0" tIns="0" rIns="0" bIns="0" rtlCol="0" anchor="ctr"/>
          <a:lstStyle/>
          <a:p>
            <a:pPr indent="0" marL="0">
              <a:buNone/>
            </a:pPr>
            <a:r>
              <a:rPr lang="en-US" sz="1200" b="1" dirty="0">
                <a:solidFill>
                  <a:srgbClr val="1D252D"/>
                </a:solidFill>
                <a:latin typeface="Arial" pitchFamily="34" charset="0"/>
                <a:ea typeface="Arial" pitchFamily="34" charset="-122"/>
                <a:cs typeface="Arial" pitchFamily="34" charset="-120"/>
              </a:rPr>
              <a:t>Two-layer test suite</a:t>
            </a:r>
            <a:endParaRPr lang="en-US" sz="1200" dirty="0"/>
          </a:p>
        </p:txBody>
      </p:sp>
      <p:sp>
        <p:nvSpPr>
          <p:cNvPr id="20" name="Text 18"/>
          <p:cNvSpPr/>
          <p:nvPr/>
        </p:nvSpPr>
        <p:spPr>
          <a:xfrm>
            <a:off x="6144768" y="3255264"/>
            <a:ext cx="2606040" cy="457200"/>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44 deterministic tests with no LLM; 46 end-to-end with one.</a:t>
            </a:r>
            <a:endParaRPr lang="en-US" sz="1050" dirty="0"/>
          </a:p>
        </p:txBody>
      </p:sp>
      <p:sp>
        <p:nvSpPr>
          <p:cNvPr id="21" name="Text 19"/>
          <p:cNvSpPr/>
          <p:nvPr/>
        </p:nvSpPr>
        <p:spPr>
          <a:xfrm>
            <a:off x="502920" y="3840480"/>
            <a:ext cx="8138160" cy="502920"/>
          </a:xfrm>
          <a:prstGeom prst="rect">
            <a:avLst/>
          </a:prstGeom>
          <a:noFill/>
          <a:ln/>
        </p:spPr>
        <p:txBody>
          <a:bodyPr wrap="square" lIns="0" tIns="0" rIns="0" bIns="0" rtlCol="0" anchor="ctr"/>
          <a:lstStyle/>
          <a:p>
            <a:pPr indent="0" marL="0">
              <a:buNone/>
            </a:pPr>
            <a:r>
              <a:rPr lang="en-US" sz="1100" i="1" dirty="0">
                <a:solidFill>
                  <a:srgbClr val="1D252D"/>
                </a:solidFill>
                <a:latin typeface="Arial" pitchFamily="34" charset="0"/>
                <a:ea typeface="Arial" pitchFamily="34" charset="-122"/>
                <a:cs typeface="Arial" pitchFamily="34" charset="-120"/>
              </a:rPr>
              <a:t>Finding: qwen2.5:3b scored 45/46 — it invented a WHERE clause and returned 28.6M instead of 60.2M. Small local models are weak at SQL; we route this path to a stronger model.</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DEPLOYMENT</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Runs offline. Or on any model you own.</a:t>
            </a:r>
            <a:endParaRPr lang="en-US" sz="3000" dirty="0"/>
          </a:p>
        </p:txBody>
      </p:sp>
      <p:sp>
        <p:nvSpPr>
          <p:cNvPr id="4" name="Shape 2"/>
          <p:cNvSpPr/>
          <p:nvPr/>
        </p:nvSpPr>
        <p:spPr>
          <a:xfrm>
            <a:off x="502920" y="1280160"/>
            <a:ext cx="2606040" cy="438912"/>
          </a:xfrm>
          <a:prstGeom prst="roundRect">
            <a:avLst>
              <a:gd name="adj" fmla="val 12500"/>
            </a:avLst>
          </a:prstGeom>
          <a:solidFill>
            <a:srgbClr val="1D252D"/>
          </a:solidFill>
          <a:ln w="12700">
            <a:solidFill>
              <a:srgbClr val="1D252D"/>
            </a:solidFill>
            <a:prstDash val="solid"/>
          </a:ln>
        </p:spPr>
      </p:sp>
      <p:sp>
        <p:nvSpPr>
          <p:cNvPr id="5" name="Text 3"/>
          <p:cNvSpPr/>
          <p:nvPr/>
        </p:nvSpPr>
        <p:spPr>
          <a:xfrm>
            <a:off x="502920" y="1280160"/>
            <a:ext cx="2606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Ollama</a:t>
            </a:r>
            <a:endParaRPr lang="en-US" sz="1200" dirty="0"/>
          </a:p>
        </p:txBody>
      </p:sp>
      <p:sp>
        <p:nvSpPr>
          <p:cNvPr id="6" name="Shape 4"/>
          <p:cNvSpPr/>
          <p:nvPr/>
        </p:nvSpPr>
        <p:spPr>
          <a:xfrm>
            <a:off x="3319272" y="1280160"/>
            <a:ext cx="2606040" cy="438912"/>
          </a:xfrm>
          <a:prstGeom prst="roundRect">
            <a:avLst>
              <a:gd name="adj" fmla="val 12500"/>
            </a:avLst>
          </a:prstGeom>
          <a:solidFill>
            <a:srgbClr val="1D252D"/>
          </a:solidFill>
          <a:ln w="12700">
            <a:solidFill>
              <a:srgbClr val="1D252D"/>
            </a:solidFill>
            <a:prstDash val="solid"/>
          </a:ln>
        </p:spPr>
      </p:sp>
      <p:sp>
        <p:nvSpPr>
          <p:cNvPr id="7" name="Text 5"/>
          <p:cNvSpPr/>
          <p:nvPr/>
        </p:nvSpPr>
        <p:spPr>
          <a:xfrm>
            <a:off x="3319272" y="1280160"/>
            <a:ext cx="2606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LM Studio</a:t>
            </a:r>
            <a:endParaRPr lang="en-US" sz="1200" dirty="0"/>
          </a:p>
        </p:txBody>
      </p:sp>
      <p:sp>
        <p:nvSpPr>
          <p:cNvPr id="8" name="Shape 6"/>
          <p:cNvSpPr/>
          <p:nvPr/>
        </p:nvSpPr>
        <p:spPr>
          <a:xfrm>
            <a:off x="6135624" y="1280160"/>
            <a:ext cx="2606040" cy="438912"/>
          </a:xfrm>
          <a:prstGeom prst="roundRect">
            <a:avLst>
              <a:gd name="adj" fmla="val 12500"/>
            </a:avLst>
          </a:prstGeom>
          <a:solidFill>
            <a:srgbClr val="FDF6F1"/>
          </a:solidFill>
          <a:ln w="12700">
            <a:solidFill>
              <a:srgbClr val="FDF6F1"/>
            </a:solidFill>
            <a:prstDash val="solid"/>
          </a:ln>
        </p:spPr>
      </p:sp>
      <p:sp>
        <p:nvSpPr>
          <p:cNvPr id="9" name="Text 7"/>
          <p:cNvSpPr/>
          <p:nvPr/>
        </p:nvSpPr>
        <p:spPr>
          <a:xfrm>
            <a:off x="6135624" y="1280160"/>
            <a:ext cx="2606040" cy="438912"/>
          </a:xfrm>
          <a:prstGeom prst="rect">
            <a:avLst/>
          </a:prstGeom>
          <a:noFill/>
          <a:ln/>
        </p:spPr>
        <p:txBody>
          <a:bodyPr wrap="square" lIns="0" tIns="0" rIns="0" bIns="0" rtlCol="0" anchor="ctr"/>
          <a:lstStyle/>
          <a:p>
            <a:pPr algn="ctr" indent="0" marL="0">
              <a:buNone/>
            </a:pPr>
            <a:r>
              <a:rPr lang="en-US" sz="1200" b="1" dirty="0">
                <a:solidFill>
                  <a:srgbClr val="1D252D"/>
                </a:solidFill>
                <a:latin typeface="Arial" pitchFamily="34" charset="0"/>
                <a:ea typeface="Arial" pitchFamily="34" charset="-122"/>
                <a:cs typeface="Arial" pitchFamily="34" charset="-120"/>
              </a:rPr>
              <a:t>OpenAI</a:t>
            </a:r>
            <a:endParaRPr lang="en-US" sz="1200" dirty="0"/>
          </a:p>
        </p:txBody>
      </p:sp>
      <p:sp>
        <p:nvSpPr>
          <p:cNvPr id="10" name="Shape 8"/>
          <p:cNvSpPr/>
          <p:nvPr/>
        </p:nvSpPr>
        <p:spPr>
          <a:xfrm>
            <a:off x="502920" y="1847088"/>
            <a:ext cx="2606040" cy="438912"/>
          </a:xfrm>
          <a:prstGeom prst="roundRect">
            <a:avLst>
              <a:gd name="adj" fmla="val 12500"/>
            </a:avLst>
          </a:prstGeom>
          <a:solidFill>
            <a:srgbClr val="FDF6F1"/>
          </a:solidFill>
          <a:ln w="12700">
            <a:solidFill>
              <a:srgbClr val="FDF6F1"/>
            </a:solidFill>
            <a:prstDash val="solid"/>
          </a:ln>
        </p:spPr>
      </p:sp>
      <p:sp>
        <p:nvSpPr>
          <p:cNvPr id="11" name="Text 9"/>
          <p:cNvSpPr/>
          <p:nvPr/>
        </p:nvSpPr>
        <p:spPr>
          <a:xfrm>
            <a:off x="502920" y="1847088"/>
            <a:ext cx="2606040" cy="438912"/>
          </a:xfrm>
          <a:prstGeom prst="rect">
            <a:avLst/>
          </a:prstGeom>
          <a:noFill/>
          <a:ln/>
        </p:spPr>
        <p:txBody>
          <a:bodyPr wrap="square" lIns="0" tIns="0" rIns="0" bIns="0" rtlCol="0" anchor="ctr"/>
          <a:lstStyle/>
          <a:p>
            <a:pPr algn="ctr" indent="0" marL="0">
              <a:buNone/>
            </a:pPr>
            <a:r>
              <a:rPr lang="en-US" sz="1200" b="1" dirty="0">
                <a:solidFill>
                  <a:srgbClr val="1D252D"/>
                </a:solidFill>
                <a:latin typeface="Arial" pitchFamily="34" charset="0"/>
                <a:ea typeface="Arial" pitchFamily="34" charset="-122"/>
                <a:cs typeface="Arial" pitchFamily="34" charset="-120"/>
              </a:rPr>
              <a:t>Anthropic</a:t>
            </a:r>
            <a:endParaRPr lang="en-US" sz="1200" dirty="0"/>
          </a:p>
        </p:txBody>
      </p:sp>
      <p:sp>
        <p:nvSpPr>
          <p:cNvPr id="12" name="Shape 10"/>
          <p:cNvSpPr/>
          <p:nvPr/>
        </p:nvSpPr>
        <p:spPr>
          <a:xfrm>
            <a:off x="3319272" y="1847088"/>
            <a:ext cx="2606040" cy="438912"/>
          </a:xfrm>
          <a:prstGeom prst="roundRect">
            <a:avLst>
              <a:gd name="adj" fmla="val 12500"/>
            </a:avLst>
          </a:prstGeom>
          <a:solidFill>
            <a:srgbClr val="FDF6F1"/>
          </a:solidFill>
          <a:ln w="12700">
            <a:solidFill>
              <a:srgbClr val="FDF6F1"/>
            </a:solidFill>
            <a:prstDash val="solid"/>
          </a:ln>
        </p:spPr>
      </p:sp>
      <p:sp>
        <p:nvSpPr>
          <p:cNvPr id="13" name="Text 11"/>
          <p:cNvSpPr/>
          <p:nvPr/>
        </p:nvSpPr>
        <p:spPr>
          <a:xfrm>
            <a:off x="3319272" y="1847088"/>
            <a:ext cx="2606040" cy="438912"/>
          </a:xfrm>
          <a:prstGeom prst="rect">
            <a:avLst/>
          </a:prstGeom>
          <a:noFill/>
          <a:ln/>
        </p:spPr>
        <p:txBody>
          <a:bodyPr wrap="square" lIns="0" tIns="0" rIns="0" bIns="0" rtlCol="0" anchor="ctr"/>
          <a:lstStyle/>
          <a:p>
            <a:pPr algn="ctr" indent="0" marL="0">
              <a:buNone/>
            </a:pPr>
            <a:r>
              <a:rPr lang="en-US" sz="1200" b="1" dirty="0">
                <a:solidFill>
                  <a:srgbClr val="1D252D"/>
                </a:solidFill>
                <a:latin typeface="Arial" pitchFamily="34" charset="0"/>
                <a:ea typeface="Arial" pitchFamily="34" charset="-122"/>
                <a:cs typeface="Arial" pitchFamily="34" charset="-120"/>
              </a:rPr>
              <a:t>GitHub Copilot</a:t>
            </a:r>
            <a:endParaRPr lang="en-US" sz="1200" dirty="0"/>
          </a:p>
        </p:txBody>
      </p:sp>
      <p:sp>
        <p:nvSpPr>
          <p:cNvPr id="14" name="Shape 12"/>
          <p:cNvSpPr/>
          <p:nvPr/>
        </p:nvSpPr>
        <p:spPr>
          <a:xfrm>
            <a:off x="6135624" y="1847088"/>
            <a:ext cx="2606040" cy="438912"/>
          </a:xfrm>
          <a:prstGeom prst="roundRect">
            <a:avLst>
              <a:gd name="adj" fmla="val 12500"/>
            </a:avLst>
          </a:prstGeom>
          <a:solidFill>
            <a:srgbClr val="FDF6F1"/>
          </a:solidFill>
          <a:ln w="12700">
            <a:solidFill>
              <a:srgbClr val="FDF6F1"/>
            </a:solidFill>
            <a:prstDash val="solid"/>
          </a:ln>
        </p:spPr>
      </p:sp>
      <p:sp>
        <p:nvSpPr>
          <p:cNvPr id="15" name="Text 13"/>
          <p:cNvSpPr/>
          <p:nvPr/>
        </p:nvSpPr>
        <p:spPr>
          <a:xfrm>
            <a:off x="6135624" y="1847088"/>
            <a:ext cx="2606040" cy="438912"/>
          </a:xfrm>
          <a:prstGeom prst="rect">
            <a:avLst/>
          </a:prstGeom>
          <a:noFill/>
          <a:ln/>
        </p:spPr>
        <p:txBody>
          <a:bodyPr wrap="square" lIns="0" tIns="0" rIns="0" bIns="0" rtlCol="0" anchor="ctr"/>
          <a:lstStyle/>
          <a:p>
            <a:pPr algn="ctr" indent="0" marL="0">
              <a:buNone/>
            </a:pPr>
            <a:r>
              <a:rPr lang="en-US" sz="1200" b="1" dirty="0">
                <a:solidFill>
                  <a:srgbClr val="1D252D"/>
                </a:solidFill>
                <a:latin typeface="Arial" pitchFamily="34" charset="0"/>
                <a:ea typeface="Arial" pitchFamily="34" charset="-122"/>
                <a:cs typeface="Arial" pitchFamily="34" charset="-120"/>
              </a:rPr>
              <a:t>Retrieval-only</a:t>
            </a:r>
            <a:endParaRPr lang="en-US" sz="1200" dirty="0"/>
          </a:p>
        </p:txBody>
      </p:sp>
      <p:sp>
        <p:nvSpPr>
          <p:cNvPr id="16" name="Text 14"/>
          <p:cNvSpPr/>
          <p:nvPr/>
        </p:nvSpPr>
        <p:spPr>
          <a:xfrm>
            <a:off x="502920" y="2450592"/>
            <a:ext cx="8138160" cy="274320"/>
          </a:xfrm>
          <a:prstGeom prst="rect">
            <a:avLst/>
          </a:prstGeom>
          <a:noFill/>
          <a:ln/>
        </p:spPr>
        <p:txBody>
          <a:bodyPr wrap="square" lIns="0" tIns="0" rIns="0" bIns="0" rtlCol="0" anchor="ctr"/>
          <a:lstStyle/>
          <a:p>
            <a:pPr indent="0" marL="0">
              <a:buNone/>
            </a:pPr>
            <a:r>
              <a:rPr lang="en-US" sz="1150" i="1" dirty="0">
                <a:solidFill>
                  <a:srgbClr val="46555F"/>
                </a:solidFill>
                <a:latin typeface="Arial" pitchFamily="34" charset="0"/>
                <a:ea typeface="Arial" pitchFamily="34" charset="-122"/>
                <a:cs typeface="Arial" pitchFamily="34" charset="-120"/>
              </a:rPr>
              <a:t>Local-first (highlighted) — factory documents never have to leave the site.</a:t>
            </a:r>
            <a:endParaRPr lang="en-US" sz="1150" dirty="0"/>
          </a:p>
        </p:txBody>
      </p:sp>
      <p:sp>
        <p:nvSpPr>
          <p:cNvPr id="17" name="Shape 15"/>
          <p:cNvSpPr/>
          <p:nvPr/>
        </p:nvSpPr>
        <p:spPr>
          <a:xfrm>
            <a:off x="502920" y="2889504"/>
            <a:ext cx="310896" cy="310896"/>
          </a:xfrm>
          <a:prstGeom prst="ellipse">
            <a:avLst/>
          </a:prstGeom>
          <a:solidFill>
            <a:srgbClr val="FD5000"/>
          </a:solidFill>
          <a:ln/>
        </p:spPr>
      </p:sp>
      <p:sp>
        <p:nvSpPr>
          <p:cNvPr id="18" name="Text 16"/>
          <p:cNvSpPr/>
          <p:nvPr/>
        </p:nvSpPr>
        <p:spPr>
          <a:xfrm>
            <a:off x="502920" y="28895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9" name="Text 17"/>
          <p:cNvSpPr/>
          <p:nvPr/>
        </p:nvSpPr>
        <p:spPr>
          <a:xfrm>
            <a:off x="932688" y="2871216"/>
            <a:ext cx="2377440" cy="237744"/>
          </a:xfrm>
          <a:prstGeom prst="rect">
            <a:avLst/>
          </a:prstGeom>
          <a:noFill/>
          <a:ln/>
        </p:spPr>
        <p:txBody>
          <a:bodyPr wrap="square" lIns="0" tIns="0" rIns="0" bIns="0" rtlCol="0" anchor="ctr"/>
          <a:lstStyle/>
          <a:p>
            <a:pPr indent="0" marL="0">
              <a:buNone/>
            </a:pPr>
            <a:r>
              <a:rPr lang="en-US" sz="1150" b="1" dirty="0">
                <a:solidFill>
                  <a:srgbClr val="1D252D"/>
                </a:solidFill>
                <a:latin typeface="Arial" pitchFamily="34" charset="0"/>
                <a:ea typeface="Arial" pitchFamily="34" charset="-122"/>
                <a:cs typeface="Arial" pitchFamily="34" charset="-120"/>
              </a:rPr>
              <a:t>Live model discovery</a:t>
            </a:r>
            <a:endParaRPr lang="en-US" sz="1150" dirty="0"/>
          </a:p>
        </p:txBody>
      </p:sp>
      <p:sp>
        <p:nvSpPr>
          <p:cNvPr id="20" name="Text 18"/>
          <p:cNvSpPr/>
          <p:nvPr/>
        </p:nvSpPr>
        <p:spPr>
          <a:xfrm>
            <a:off x="2880360" y="2871216"/>
            <a:ext cx="5760720" cy="47548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Model lists come from each provider's API — never hardcoded. Copilot exposed 38 models, OpenAI 73.</a:t>
            </a:r>
            <a:endParaRPr lang="en-US" sz="1050" dirty="0"/>
          </a:p>
        </p:txBody>
      </p:sp>
      <p:sp>
        <p:nvSpPr>
          <p:cNvPr id="21" name="Shape 19"/>
          <p:cNvSpPr/>
          <p:nvPr/>
        </p:nvSpPr>
        <p:spPr>
          <a:xfrm>
            <a:off x="502920" y="3456432"/>
            <a:ext cx="310896" cy="310896"/>
          </a:xfrm>
          <a:prstGeom prst="ellipse">
            <a:avLst/>
          </a:prstGeom>
          <a:solidFill>
            <a:srgbClr val="FD5000"/>
          </a:solidFill>
          <a:ln/>
        </p:spPr>
      </p:sp>
      <p:sp>
        <p:nvSpPr>
          <p:cNvPr id="22" name="Text 20"/>
          <p:cNvSpPr/>
          <p:nvPr/>
        </p:nvSpPr>
        <p:spPr>
          <a:xfrm>
            <a:off x="502920" y="34564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932688" y="3438144"/>
            <a:ext cx="2377440" cy="237744"/>
          </a:xfrm>
          <a:prstGeom prst="rect">
            <a:avLst/>
          </a:prstGeom>
          <a:noFill/>
          <a:ln/>
        </p:spPr>
        <p:txBody>
          <a:bodyPr wrap="square" lIns="0" tIns="0" rIns="0" bIns="0" rtlCol="0" anchor="ctr"/>
          <a:lstStyle/>
          <a:p>
            <a:pPr indent="0" marL="0">
              <a:buNone/>
            </a:pPr>
            <a:r>
              <a:rPr lang="en-US" sz="1150" b="1" dirty="0">
                <a:solidFill>
                  <a:srgbClr val="1D252D"/>
                </a:solidFill>
                <a:latin typeface="Arial" pitchFamily="34" charset="0"/>
                <a:ea typeface="Arial" pitchFamily="34" charset="-122"/>
                <a:cs typeface="Arial" pitchFamily="34" charset="-120"/>
              </a:rPr>
              <a:t>Attribution on every reply</a:t>
            </a:r>
            <a:endParaRPr lang="en-US" sz="1150" dirty="0"/>
          </a:p>
        </p:txBody>
      </p:sp>
      <p:sp>
        <p:nvSpPr>
          <p:cNvPr id="24" name="Text 22"/>
          <p:cNvSpPr/>
          <p:nvPr/>
        </p:nvSpPr>
        <p:spPr>
          <a:xfrm>
            <a:off x="2880360" y="3438144"/>
            <a:ext cx="5760720" cy="47548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Each answer names the provider AND model that produced it, so a failure points at one model.</a:t>
            </a:r>
            <a:endParaRPr lang="en-US" sz="1050" dirty="0"/>
          </a:p>
        </p:txBody>
      </p:sp>
      <p:sp>
        <p:nvSpPr>
          <p:cNvPr id="25" name="Shape 23"/>
          <p:cNvSpPr/>
          <p:nvPr/>
        </p:nvSpPr>
        <p:spPr>
          <a:xfrm>
            <a:off x="502920" y="4023360"/>
            <a:ext cx="310896" cy="310896"/>
          </a:xfrm>
          <a:prstGeom prst="ellipse">
            <a:avLst/>
          </a:prstGeom>
          <a:solidFill>
            <a:srgbClr val="FD5000"/>
          </a:solidFill>
          <a:ln/>
        </p:spPr>
      </p:sp>
      <p:sp>
        <p:nvSpPr>
          <p:cNvPr id="26" name="Text 24"/>
          <p:cNvSpPr/>
          <p:nvPr/>
        </p:nvSpPr>
        <p:spPr>
          <a:xfrm>
            <a:off x="502920" y="40233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7" name="Text 25"/>
          <p:cNvSpPr/>
          <p:nvPr/>
        </p:nvSpPr>
        <p:spPr>
          <a:xfrm>
            <a:off x="932688" y="4005072"/>
            <a:ext cx="2377440" cy="237744"/>
          </a:xfrm>
          <a:prstGeom prst="rect">
            <a:avLst/>
          </a:prstGeom>
          <a:noFill/>
          <a:ln/>
        </p:spPr>
        <p:txBody>
          <a:bodyPr wrap="square" lIns="0" tIns="0" rIns="0" bIns="0" rtlCol="0" anchor="ctr"/>
          <a:lstStyle/>
          <a:p>
            <a:pPr indent="0" marL="0">
              <a:buNone/>
            </a:pPr>
            <a:r>
              <a:rPr lang="en-US" sz="1150" b="1" dirty="0">
                <a:solidFill>
                  <a:srgbClr val="1D252D"/>
                </a:solidFill>
                <a:latin typeface="Arial" pitchFamily="34" charset="0"/>
                <a:ea typeface="Arial" pitchFamily="34" charset="-122"/>
                <a:cs typeface="Arial" pitchFamily="34" charset="-120"/>
              </a:rPr>
              <a:t>Credentials never touch disk</a:t>
            </a:r>
            <a:endParaRPr lang="en-US" sz="1150" dirty="0"/>
          </a:p>
        </p:txBody>
      </p:sp>
      <p:sp>
        <p:nvSpPr>
          <p:cNvPr id="28" name="Text 26"/>
          <p:cNvSpPr/>
          <p:nvPr/>
        </p:nvSpPr>
        <p:spPr>
          <a:xfrm>
            <a:off x="2880360" y="4005072"/>
            <a:ext cx="5760720" cy="475488"/>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Keys entered in the sidebar, held in process. Copilot uses browser device-flow sign-in.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SCOPE</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Nine categories, minimum was five</a:t>
            </a:r>
            <a:endParaRPr lang="en-US" sz="3000" dirty="0"/>
          </a:p>
        </p:txBody>
      </p:sp>
      <p:sp>
        <p:nvSpPr>
          <p:cNvPr id="4" name="Shape 2"/>
          <p:cNvSpPr/>
          <p:nvPr/>
        </p:nvSpPr>
        <p:spPr>
          <a:xfrm>
            <a:off x="502920" y="1261872"/>
            <a:ext cx="2606040" cy="713232"/>
          </a:xfrm>
          <a:prstGeom prst="roundRect">
            <a:avLst>
              <a:gd name="adj" fmla="val 7692"/>
            </a:avLst>
          </a:prstGeom>
          <a:solidFill>
            <a:srgbClr val="FDF6F1"/>
          </a:solidFill>
          <a:ln w="12700">
            <a:solidFill>
              <a:srgbClr val="FDF6F1"/>
            </a:solidFill>
            <a:prstDash val="solid"/>
          </a:ln>
        </p:spPr>
      </p:sp>
      <p:sp>
        <p:nvSpPr>
          <p:cNvPr id="5" name="Text 3"/>
          <p:cNvSpPr/>
          <p:nvPr/>
        </p:nvSpPr>
        <p:spPr>
          <a:xfrm>
            <a:off x="630936" y="1380744"/>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1</a:t>
            </a:r>
            <a:endParaRPr lang="en-US" sz="1900" dirty="0"/>
          </a:p>
        </p:txBody>
      </p:sp>
      <p:sp>
        <p:nvSpPr>
          <p:cNvPr id="6" name="Text 4"/>
          <p:cNvSpPr/>
          <p:nvPr/>
        </p:nvSpPr>
        <p:spPr>
          <a:xfrm>
            <a:off x="1069848" y="1362456"/>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Working Prototype</a:t>
            </a:r>
            <a:endParaRPr lang="en-US" sz="1100" dirty="0"/>
          </a:p>
        </p:txBody>
      </p:sp>
      <p:sp>
        <p:nvSpPr>
          <p:cNvPr id="7" name="Text 5"/>
          <p:cNvSpPr/>
          <p:nvPr/>
        </p:nvSpPr>
        <p:spPr>
          <a:xfrm>
            <a:off x="1069848" y="1600200"/>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Streamlit app, live demo</a:t>
            </a:r>
            <a:endParaRPr lang="en-US" sz="950" dirty="0"/>
          </a:p>
        </p:txBody>
      </p:sp>
      <p:sp>
        <p:nvSpPr>
          <p:cNvPr id="8" name="Shape 6"/>
          <p:cNvSpPr/>
          <p:nvPr/>
        </p:nvSpPr>
        <p:spPr>
          <a:xfrm>
            <a:off x="3319272" y="1261872"/>
            <a:ext cx="2606040" cy="713232"/>
          </a:xfrm>
          <a:prstGeom prst="roundRect">
            <a:avLst>
              <a:gd name="adj" fmla="val 7692"/>
            </a:avLst>
          </a:prstGeom>
          <a:solidFill>
            <a:srgbClr val="FDF6F1"/>
          </a:solidFill>
          <a:ln w="12700">
            <a:solidFill>
              <a:srgbClr val="FDF6F1"/>
            </a:solidFill>
            <a:prstDash val="solid"/>
          </a:ln>
        </p:spPr>
      </p:sp>
      <p:sp>
        <p:nvSpPr>
          <p:cNvPr id="9" name="Text 7"/>
          <p:cNvSpPr/>
          <p:nvPr/>
        </p:nvSpPr>
        <p:spPr>
          <a:xfrm>
            <a:off x="3447288" y="1380744"/>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2</a:t>
            </a:r>
            <a:endParaRPr lang="en-US" sz="1900" dirty="0"/>
          </a:p>
        </p:txBody>
      </p:sp>
      <p:sp>
        <p:nvSpPr>
          <p:cNvPr id="10" name="Text 8"/>
          <p:cNvSpPr/>
          <p:nvPr/>
        </p:nvSpPr>
        <p:spPr>
          <a:xfrm>
            <a:off x="3886200" y="1362456"/>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RAG</a:t>
            </a:r>
            <a:endParaRPr lang="en-US" sz="1100" dirty="0"/>
          </a:p>
        </p:txBody>
      </p:sp>
      <p:sp>
        <p:nvSpPr>
          <p:cNvPr id="11" name="Text 9"/>
          <p:cNvSpPr/>
          <p:nvPr/>
        </p:nvSpPr>
        <p:spPr>
          <a:xfrm>
            <a:off x="3886200" y="1600200"/>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Chroma, citations, abstention</a:t>
            </a:r>
            <a:endParaRPr lang="en-US" sz="950" dirty="0"/>
          </a:p>
        </p:txBody>
      </p:sp>
      <p:sp>
        <p:nvSpPr>
          <p:cNvPr id="12" name="Shape 10"/>
          <p:cNvSpPr/>
          <p:nvPr/>
        </p:nvSpPr>
        <p:spPr>
          <a:xfrm>
            <a:off x="6135624" y="1261872"/>
            <a:ext cx="2606040" cy="713232"/>
          </a:xfrm>
          <a:prstGeom prst="roundRect">
            <a:avLst>
              <a:gd name="adj" fmla="val 7692"/>
            </a:avLst>
          </a:prstGeom>
          <a:solidFill>
            <a:srgbClr val="FDF6F1"/>
          </a:solidFill>
          <a:ln w="12700">
            <a:solidFill>
              <a:srgbClr val="FDF6F1"/>
            </a:solidFill>
            <a:prstDash val="solid"/>
          </a:ln>
        </p:spPr>
      </p:sp>
      <p:sp>
        <p:nvSpPr>
          <p:cNvPr id="13" name="Text 11"/>
          <p:cNvSpPr/>
          <p:nvPr/>
        </p:nvSpPr>
        <p:spPr>
          <a:xfrm>
            <a:off x="6263640" y="1380744"/>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3</a:t>
            </a:r>
            <a:endParaRPr lang="en-US" sz="1900" dirty="0"/>
          </a:p>
        </p:txBody>
      </p:sp>
      <p:sp>
        <p:nvSpPr>
          <p:cNvPr id="14" name="Text 12"/>
          <p:cNvSpPr/>
          <p:nvPr/>
        </p:nvSpPr>
        <p:spPr>
          <a:xfrm>
            <a:off x="6702552" y="1362456"/>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Advanced Chunking</a:t>
            </a:r>
            <a:endParaRPr lang="en-US" sz="1100" dirty="0"/>
          </a:p>
        </p:txBody>
      </p:sp>
      <p:sp>
        <p:nvSpPr>
          <p:cNvPr id="15" name="Text 13"/>
          <p:cNvSpPr/>
          <p:nvPr/>
        </p:nvSpPr>
        <p:spPr>
          <a:xfrm>
            <a:off x="6702552" y="1600200"/>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4 strategies, benchmarked</a:t>
            </a:r>
            <a:endParaRPr lang="en-US" sz="950" dirty="0"/>
          </a:p>
        </p:txBody>
      </p:sp>
      <p:sp>
        <p:nvSpPr>
          <p:cNvPr id="16" name="Shape 14"/>
          <p:cNvSpPr/>
          <p:nvPr/>
        </p:nvSpPr>
        <p:spPr>
          <a:xfrm>
            <a:off x="502920" y="2103120"/>
            <a:ext cx="2606040" cy="713232"/>
          </a:xfrm>
          <a:prstGeom prst="roundRect">
            <a:avLst>
              <a:gd name="adj" fmla="val 7692"/>
            </a:avLst>
          </a:prstGeom>
          <a:solidFill>
            <a:srgbClr val="FDF6F1"/>
          </a:solidFill>
          <a:ln w="12700">
            <a:solidFill>
              <a:srgbClr val="FDF6F1"/>
            </a:solidFill>
            <a:prstDash val="solid"/>
          </a:ln>
        </p:spPr>
      </p:sp>
      <p:sp>
        <p:nvSpPr>
          <p:cNvPr id="17" name="Text 15"/>
          <p:cNvSpPr/>
          <p:nvPr/>
        </p:nvSpPr>
        <p:spPr>
          <a:xfrm>
            <a:off x="630936" y="2221992"/>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5</a:t>
            </a:r>
            <a:endParaRPr lang="en-US" sz="1900" dirty="0"/>
          </a:p>
        </p:txBody>
      </p:sp>
      <p:sp>
        <p:nvSpPr>
          <p:cNvPr id="18" name="Text 16"/>
          <p:cNvSpPr/>
          <p:nvPr/>
        </p:nvSpPr>
        <p:spPr>
          <a:xfrm>
            <a:off x="1069848" y="2203704"/>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Memory</a:t>
            </a:r>
            <a:endParaRPr lang="en-US" sz="1100" dirty="0"/>
          </a:p>
        </p:txBody>
      </p:sp>
      <p:sp>
        <p:nvSpPr>
          <p:cNvPr id="19" name="Text 17"/>
          <p:cNvSpPr/>
          <p:nvPr/>
        </p:nvSpPr>
        <p:spPr>
          <a:xfrm>
            <a:off x="1069848" y="2441448"/>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6 turns fed back into the prompt</a:t>
            </a:r>
            <a:endParaRPr lang="en-US" sz="950" dirty="0"/>
          </a:p>
        </p:txBody>
      </p:sp>
      <p:sp>
        <p:nvSpPr>
          <p:cNvPr id="20" name="Shape 18"/>
          <p:cNvSpPr/>
          <p:nvPr/>
        </p:nvSpPr>
        <p:spPr>
          <a:xfrm>
            <a:off x="3319272" y="2103120"/>
            <a:ext cx="2606040" cy="713232"/>
          </a:xfrm>
          <a:prstGeom prst="roundRect">
            <a:avLst>
              <a:gd name="adj" fmla="val 7692"/>
            </a:avLst>
          </a:prstGeom>
          <a:solidFill>
            <a:srgbClr val="FDF6F1"/>
          </a:solidFill>
          <a:ln w="12700">
            <a:solidFill>
              <a:srgbClr val="FDF6F1"/>
            </a:solidFill>
            <a:prstDash val="solid"/>
          </a:ln>
        </p:spPr>
      </p:sp>
      <p:sp>
        <p:nvSpPr>
          <p:cNvPr id="21" name="Text 19"/>
          <p:cNvSpPr/>
          <p:nvPr/>
        </p:nvSpPr>
        <p:spPr>
          <a:xfrm>
            <a:off x="3447288" y="2221992"/>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6</a:t>
            </a:r>
            <a:endParaRPr lang="en-US" sz="1900" dirty="0"/>
          </a:p>
        </p:txBody>
      </p:sp>
      <p:sp>
        <p:nvSpPr>
          <p:cNvPr id="22" name="Text 20"/>
          <p:cNvSpPr/>
          <p:nvPr/>
        </p:nvSpPr>
        <p:spPr>
          <a:xfrm>
            <a:off x="3886200" y="2203704"/>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Tool Use</a:t>
            </a:r>
            <a:endParaRPr lang="en-US" sz="1100" dirty="0"/>
          </a:p>
        </p:txBody>
      </p:sp>
      <p:sp>
        <p:nvSpPr>
          <p:cNvPr id="23" name="Text 21"/>
          <p:cNvSpPr/>
          <p:nvPr/>
        </p:nvSpPr>
        <p:spPr>
          <a:xfrm>
            <a:off x="3886200" y="2441448"/>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Text-to-SQL over telemetry</a:t>
            </a:r>
            <a:endParaRPr lang="en-US" sz="950" dirty="0"/>
          </a:p>
        </p:txBody>
      </p:sp>
      <p:sp>
        <p:nvSpPr>
          <p:cNvPr id="24" name="Shape 22"/>
          <p:cNvSpPr/>
          <p:nvPr/>
        </p:nvSpPr>
        <p:spPr>
          <a:xfrm>
            <a:off x="6135624" y="2103120"/>
            <a:ext cx="2606040" cy="713232"/>
          </a:xfrm>
          <a:prstGeom prst="roundRect">
            <a:avLst>
              <a:gd name="adj" fmla="val 7692"/>
            </a:avLst>
          </a:prstGeom>
          <a:solidFill>
            <a:srgbClr val="FDF6F1"/>
          </a:solidFill>
          <a:ln w="12700">
            <a:solidFill>
              <a:srgbClr val="FDF6F1"/>
            </a:solidFill>
            <a:prstDash val="solid"/>
          </a:ln>
        </p:spPr>
      </p:sp>
      <p:sp>
        <p:nvSpPr>
          <p:cNvPr id="25" name="Text 23"/>
          <p:cNvSpPr/>
          <p:nvPr/>
        </p:nvSpPr>
        <p:spPr>
          <a:xfrm>
            <a:off x="6263640" y="2221992"/>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8</a:t>
            </a:r>
            <a:endParaRPr lang="en-US" sz="1900" dirty="0"/>
          </a:p>
        </p:txBody>
      </p:sp>
      <p:sp>
        <p:nvSpPr>
          <p:cNvPr id="26" name="Text 24"/>
          <p:cNvSpPr/>
          <p:nvPr/>
        </p:nvSpPr>
        <p:spPr>
          <a:xfrm>
            <a:off x="6702552" y="2203704"/>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Local LLM</a:t>
            </a:r>
            <a:endParaRPr lang="en-US" sz="1100" dirty="0"/>
          </a:p>
        </p:txBody>
      </p:sp>
      <p:sp>
        <p:nvSpPr>
          <p:cNvPr id="27" name="Text 25"/>
          <p:cNvSpPr/>
          <p:nvPr/>
        </p:nvSpPr>
        <p:spPr>
          <a:xfrm>
            <a:off x="6702552" y="2441448"/>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Ollama + LM Studio</a:t>
            </a:r>
            <a:endParaRPr lang="en-US" sz="950" dirty="0"/>
          </a:p>
        </p:txBody>
      </p:sp>
      <p:sp>
        <p:nvSpPr>
          <p:cNvPr id="28" name="Shape 26"/>
          <p:cNvSpPr/>
          <p:nvPr/>
        </p:nvSpPr>
        <p:spPr>
          <a:xfrm>
            <a:off x="502920" y="2944368"/>
            <a:ext cx="2606040" cy="713232"/>
          </a:xfrm>
          <a:prstGeom prst="roundRect">
            <a:avLst>
              <a:gd name="adj" fmla="val 7692"/>
            </a:avLst>
          </a:prstGeom>
          <a:solidFill>
            <a:srgbClr val="FDF6F1"/>
          </a:solidFill>
          <a:ln w="12700">
            <a:solidFill>
              <a:srgbClr val="FDF6F1"/>
            </a:solidFill>
            <a:prstDash val="solid"/>
          </a:ln>
        </p:spPr>
      </p:sp>
      <p:sp>
        <p:nvSpPr>
          <p:cNvPr id="29" name="Text 27"/>
          <p:cNvSpPr/>
          <p:nvPr/>
        </p:nvSpPr>
        <p:spPr>
          <a:xfrm>
            <a:off x="630936" y="3063240"/>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10</a:t>
            </a:r>
            <a:endParaRPr lang="en-US" sz="1900" dirty="0"/>
          </a:p>
        </p:txBody>
      </p:sp>
      <p:sp>
        <p:nvSpPr>
          <p:cNvPr id="30" name="Text 28"/>
          <p:cNvSpPr/>
          <p:nvPr/>
        </p:nvSpPr>
        <p:spPr>
          <a:xfrm>
            <a:off x="1069848" y="3044952"/>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Multiple Sources</a:t>
            </a:r>
            <a:endParaRPr lang="en-US" sz="1100" dirty="0"/>
          </a:p>
        </p:txBody>
      </p:sp>
      <p:sp>
        <p:nvSpPr>
          <p:cNvPr id="31" name="Text 29"/>
          <p:cNvSpPr/>
          <p:nvPr/>
        </p:nvSpPr>
        <p:spPr>
          <a:xfrm>
            <a:off x="1069848" y="3282696"/>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16 docs, 3 corpora, + XLSX</a:t>
            </a:r>
            <a:endParaRPr lang="en-US" sz="950" dirty="0"/>
          </a:p>
        </p:txBody>
      </p:sp>
      <p:sp>
        <p:nvSpPr>
          <p:cNvPr id="32" name="Shape 30"/>
          <p:cNvSpPr/>
          <p:nvPr/>
        </p:nvSpPr>
        <p:spPr>
          <a:xfrm>
            <a:off x="3319272" y="2944368"/>
            <a:ext cx="2606040" cy="713232"/>
          </a:xfrm>
          <a:prstGeom prst="roundRect">
            <a:avLst>
              <a:gd name="adj" fmla="val 7692"/>
            </a:avLst>
          </a:prstGeom>
          <a:solidFill>
            <a:srgbClr val="FDF6F1"/>
          </a:solidFill>
          <a:ln w="12700">
            <a:solidFill>
              <a:srgbClr val="FDF6F1"/>
            </a:solidFill>
            <a:prstDash val="solid"/>
          </a:ln>
        </p:spPr>
      </p:sp>
      <p:sp>
        <p:nvSpPr>
          <p:cNvPr id="33" name="Text 31"/>
          <p:cNvSpPr/>
          <p:nvPr/>
        </p:nvSpPr>
        <p:spPr>
          <a:xfrm>
            <a:off x="3447288" y="3063240"/>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12</a:t>
            </a:r>
            <a:endParaRPr lang="en-US" sz="1900" dirty="0"/>
          </a:p>
        </p:txBody>
      </p:sp>
      <p:sp>
        <p:nvSpPr>
          <p:cNvPr id="34" name="Text 32"/>
          <p:cNvSpPr/>
          <p:nvPr/>
        </p:nvSpPr>
        <p:spPr>
          <a:xfrm>
            <a:off x="3886200" y="3044952"/>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Evaluation</a:t>
            </a:r>
            <a:endParaRPr lang="en-US" sz="1100" dirty="0"/>
          </a:p>
        </p:txBody>
      </p:sp>
      <p:sp>
        <p:nvSpPr>
          <p:cNvPr id="35" name="Text 33"/>
          <p:cNvSpPr/>
          <p:nvPr/>
        </p:nvSpPr>
        <p:spPr>
          <a:xfrm>
            <a:off x="3886200" y="3282696"/>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17-case golden set, MRR</a:t>
            </a:r>
            <a:endParaRPr lang="en-US" sz="950" dirty="0"/>
          </a:p>
        </p:txBody>
      </p:sp>
      <p:sp>
        <p:nvSpPr>
          <p:cNvPr id="36" name="Shape 34"/>
          <p:cNvSpPr/>
          <p:nvPr/>
        </p:nvSpPr>
        <p:spPr>
          <a:xfrm>
            <a:off x="6135624" y="2944368"/>
            <a:ext cx="2606040" cy="713232"/>
          </a:xfrm>
          <a:prstGeom prst="roundRect">
            <a:avLst>
              <a:gd name="adj" fmla="val 7692"/>
            </a:avLst>
          </a:prstGeom>
          <a:solidFill>
            <a:srgbClr val="FDF6F1"/>
          </a:solidFill>
          <a:ln w="12700">
            <a:solidFill>
              <a:srgbClr val="FDF6F1"/>
            </a:solidFill>
            <a:prstDash val="solid"/>
          </a:ln>
        </p:spPr>
      </p:sp>
      <p:sp>
        <p:nvSpPr>
          <p:cNvPr id="37" name="Text 35"/>
          <p:cNvSpPr/>
          <p:nvPr/>
        </p:nvSpPr>
        <p:spPr>
          <a:xfrm>
            <a:off x="6263640" y="3063240"/>
            <a:ext cx="384048" cy="475488"/>
          </a:xfrm>
          <a:prstGeom prst="rect">
            <a:avLst/>
          </a:prstGeom>
          <a:noFill/>
          <a:ln/>
        </p:spPr>
        <p:txBody>
          <a:bodyPr wrap="square" lIns="0" tIns="0" rIns="0" bIns="0" rtlCol="0" anchor="ctr"/>
          <a:lstStyle/>
          <a:p>
            <a:pPr algn="ctr" indent="0" marL="0">
              <a:buNone/>
            </a:pPr>
            <a:r>
              <a:rPr lang="en-US" sz="1900" b="1" dirty="0">
                <a:solidFill>
                  <a:srgbClr val="FD5000"/>
                </a:solidFill>
                <a:latin typeface="Arial" pitchFamily="34" charset="0"/>
                <a:ea typeface="Arial" pitchFamily="34" charset="-122"/>
                <a:cs typeface="Arial" pitchFamily="34" charset="-120"/>
              </a:rPr>
              <a:t>13</a:t>
            </a:r>
            <a:endParaRPr lang="en-US" sz="1900" dirty="0"/>
          </a:p>
        </p:txBody>
      </p:sp>
      <p:sp>
        <p:nvSpPr>
          <p:cNvPr id="38" name="Text 36"/>
          <p:cNvSpPr/>
          <p:nvPr/>
        </p:nvSpPr>
        <p:spPr>
          <a:xfrm>
            <a:off x="6702552" y="3044952"/>
            <a:ext cx="1920240" cy="237744"/>
          </a:xfrm>
          <a:prstGeom prst="rect">
            <a:avLst/>
          </a:prstGeom>
          <a:noFill/>
          <a:ln/>
        </p:spPr>
        <p:txBody>
          <a:bodyPr wrap="square" lIns="0" tIns="0" rIns="0" bIns="0" rtlCol="0" anchor="ctr"/>
          <a:lstStyle/>
          <a:p>
            <a:pPr indent="0" marL="0">
              <a:buNone/>
            </a:pPr>
            <a:r>
              <a:rPr lang="en-US" sz="1100" b="1" dirty="0">
                <a:solidFill>
                  <a:srgbClr val="1D252D"/>
                </a:solidFill>
                <a:latin typeface="Arial" pitchFamily="34" charset="0"/>
                <a:ea typeface="Arial" pitchFamily="34" charset="-122"/>
                <a:cs typeface="Arial" pitchFamily="34" charset="-120"/>
              </a:rPr>
              <a:t>Deployment</a:t>
            </a:r>
            <a:endParaRPr lang="en-US" sz="1100" dirty="0"/>
          </a:p>
        </p:txBody>
      </p:sp>
      <p:sp>
        <p:nvSpPr>
          <p:cNvPr id="39" name="Text 37"/>
          <p:cNvSpPr/>
          <p:nvPr/>
        </p:nvSpPr>
        <p:spPr>
          <a:xfrm>
            <a:off x="6702552" y="3282696"/>
            <a:ext cx="1965960" cy="310896"/>
          </a:xfrm>
          <a:prstGeom prst="rect">
            <a:avLst/>
          </a:prstGeom>
          <a:noFill/>
          <a:ln/>
        </p:spPr>
        <p:txBody>
          <a:bodyPr wrap="square" lIns="0" tIns="0" rIns="0" bIns="0" rtlCol="0" anchor="ctr"/>
          <a:lstStyle/>
          <a:p>
            <a:pPr indent="0" marL="0">
              <a:buNone/>
            </a:pPr>
            <a:r>
              <a:rPr lang="en-US" sz="950" dirty="0">
                <a:solidFill>
                  <a:srgbClr val="46555F"/>
                </a:solidFill>
                <a:latin typeface="Arial" pitchFamily="34" charset="0"/>
                <a:ea typeface="Arial" pitchFamily="34" charset="-122"/>
                <a:cs typeface="Arial" pitchFamily="34" charset="-120"/>
              </a:rPr>
              <a:t>Docker, launchers, GitHub</a:t>
            </a:r>
            <a:endParaRPr lang="en-US" sz="950" dirty="0"/>
          </a:p>
        </p:txBody>
      </p:sp>
      <p:sp>
        <p:nvSpPr>
          <p:cNvPr id="40" name="Shape 38"/>
          <p:cNvSpPr/>
          <p:nvPr/>
        </p:nvSpPr>
        <p:spPr>
          <a:xfrm>
            <a:off x="502920" y="3913632"/>
            <a:ext cx="8138160" cy="749808"/>
          </a:xfrm>
          <a:prstGeom prst="roundRect">
            <a:avLst>
              <a:gd name="adj" fmla="val 7317"/>
            </a:avLst>
          </a:prstGeom>
          <a:solidFill>
            <a:srgbClr val="1D252D"/>
          </a:solidFill>
          <a:ln w="12700">
            <a:solidFill>
              <a:srgbClr val="1D252D"/>
            </a:solidFill>
            <a:prstDash val="solid"/>
          </a:ln>
        </p:spPr>
      </p:sp>
      <p:sp>
        <p:nvSpPr>
          <p:cNvPr id="41" name="Text 39"/>
          <p:cNvSpPr/>
          <p:nvPr/>
        </p:nvSpPr>
        <p:spPr>
          <a:xfrm>
            <a:off x="777240" y="4023360"/>
            <a:ext cx="4023360" cy="256032"/>
          </a:xfrm>
          <a:prstGeom prst="rect">
            <a:avLst/>
          </a:prstGeom>
          <a:noFill/>
          <a:ln/>
        </p:spPr>
        <p:txBody>
          <a:bodyPr wrap="square" lIns="0" tIns="0" rIns="0" bIns="0" rtlCol="0" anchor="ctr"/>
          <a:lstStyle/>
          <a:p>
            <a:pPr indent="0" marL="0">
              <a:buNone/>
            </a:pPr>
            <a:r>
              <a:rPr lang="en-US" sz="1200" b="1" dirty="0">
                <a:solidFill>
                  <a:srgbClr val="FD5000"/>
                </a:solidFill>
                <a:latin typeface="Arial" pitchFamily="34" charset="0"/>
                <a:ea typeface="Arial" pitchFamily="34" charset="-122"/>
                <a:cs typeface="Arial" pitchFamily="34" charset="-120"/>
              </a:rPr>
              <a:t>Not claimed:  Category 4, Agent / LangGraph</a:t>
            </a:r>
            <a:endParaRPr lang="en-US" sz="1200" dirty="0"/>
          </a:p>
        </p:txBody>
      </p:sp>
      <p:sp>
        <p:nvSpPr>
          <p:cNvPr id="42" name="Text 40"/>
          <p:cNvSpPr/>
          <p:nvPr/>
        </p:nvSpPr>
        <p:spPr>
          <a:xfrm>
            <a:off x="777240" y="4261104"/>
            <a:ext cx="7863840" cy="310896"/>
          </a:xfrm>
          <a:prstGeom prst="rect">
            <a:avLst/>
          </a:prstGeom>
          <a:noFill/>
          <a:ln/>
        </p:spPr>
        <p:txBody>
          <a:bodyPr wrap="square" lIns="0" tIns="0" rIns="0" bIns="0" rtlCol="0" anchor="ctr"/>
          <a:lstStyle/>
          <a:p>
            <a:pPr indent="0" marL="0">
              <a:buNone/>
            </a:pPr>
            <a:r>
              <a:rPr lang="en-US" sz="1050" dirty="0">
                <a:solidFill>
                  <a:srgbClr val="B9C0CA"/>
                </a:solidFill>
                <a:latin typeface="Arial" pitchFamily="34" charset="0"/>
                <a:ea typeface="Arial" pitchFamily="34" charset="-122"/>
                <a:cs typeface="Arial" pitchFamily="34" charset="-120"/>
              </a:rPr>
              <a:t>This is a router + RAG + text-to-SQL system. The router picks a persona; it does not plan, loop, or act. We built the grounding properly rather than an agent layer on top of it.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10896"/>
            <a:ext cx="813816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TEAM</a:t>
            </a:r>
            <a:endParaRPr lang="en-US" sz="1100" dirty="0"/>
          </a:p>
        </p:txBody>
      </p:sp>
      <p:sp>
        <p:nvSpPr>
          <p:cNvPr id="3" name="Text 1"/>
          <p:cNvSpPr/>
          <p:nvPr/>
        </p:nvSpPr>
        <p:spPr>
          <a:xfrm>
            <a:off x="502920" y="548640"/>
            <a:ext cx="8138160" cy="566928"/>
          </a:xfrm>
          <a:prstGeom prst="rect">
            <a:avLst/>
          </a:prstGeom>
          <a:noFill/>
          <a:ln/>
        </p:spPr>
        <p:txBody>
          <a:bodyPr wrap="square" lIns="0" tIns="0" rIns="0" bIns="0" rtlCol="0" anchor="ctr"/>
          <a:lstStyle/>
          <a:p>
            <a:pPr indent="0" marL="0">
              <a:buNone/>
            </a:pPr>
            <a:r>
              <a:rPr lang="en-US" sz="3000" b="1" dirty="0">
                <a:solidFill>
                  <a:srgbClr val="1D252D"/>
                </a:solidFill>
                <a:latin typeface="Arial" pitchFamily="34" charset="0"/>
                <a:ea typeface="Arial" pitchFamily="34" charset="-122"/>
                <a:cs typeface="Arial" pitchFamily="34" charset="-120"/>
              </a:rPr>
              <a:t>Who built what</a:t>
            </a:r>
            <a:endParaRPr lang="en-US" sz="3000" dirty="0"/>
          </a:p>
        </p:txBody>
      </p:sp>
      <p:sp>
        <p:nvSpPr>
          <p:cNvPr id="4" name="Shape 2"/>
          <p:cNvSpPr/>
          <p:nvPr/>
        </p:nvSpPr>
        <p:spPr>
          <a:xfrm>
            <a:off x="502920" y="1298448"/>
            <a:ext cx="8138160" cy="493776"/>
          </a:xfrm>
          <a:prstGeom prst="roundRect">
            <a:avLst>
              <a:gd name="adj" fmla="val 11111"/>
            </a:avLst>
          </a:prstGeom>
          <a:solidFill>
            <a:srgbClr val="FDF6F1"/>
          </a:solidFill>
          <a:ln w="12700">
            <a:solidFill>
              <a:srgbClr val="FDF6F1"/>
            </a:solidFill>
            <a:prstDash val="solid"/>
          </a:ln>
        </p:spPr>
      </p:sp>
      <p:sp>
        <p:nvSpPr>
          <p:cNvPr id="5" name="Shape 3"/>
          <p:cNvSpPr/>
          <p:nvPr/>
        </p:nvSpPr>
        <p:spPr>
          <a:xfrm>
            <a:off x="649224" y="1389888"/>
            <a:ext cx="310896" cy="310896"/>
          </a:xfrm>
          <a:prstGeom prst="ellipse">
            <a:avLst/>
          </a:prstGeom>
          <a:solidFill>
            <a:srgbClr val="FD5000"/>
          </a:solidFill>
          <a:ln/>
        </p:spPr>
      </p:sp>
      <p:sp>
        <p:nvSpPr>
          <p:cNvPr id="6" name="Text 4"/>
          <p:cNvSpPr/>
          <p:nvPr/>
        </p:nvSpPr>
        <p:spPr>
          <a:xfrm>
            <a:off x="649224" y="13898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106424" y="1298448"/>
            <a:ext cx="4023360" cy="493776"/>
          </a:xfrm>
          <a:prstGeom prst="rect">
            <a:avLst/>
          </a:prstGeom>
          <a:noFill/>
          <a:ln/>
        </p:spPr>
        <p:txBody>
          <a:bodyPr wrap="square" lIns="0" tIns="0" rIns="0" bIns="0" rtlCol="0" anchor="ctr"/>
          <a:lstStyle/>
          <a:p>
            <a:pPr indent="0" marL="0">
              <a:buNone/>
            </a:pPr>
            <a:r>
              <a:rPr lang="en-US" sz="1300" b="1" dirty="0">
                <a:solidFill>
                  <a:srgbClr val="1D252D"/>
                </a:solidFill>
                <a:latin typeface="Arial" pitchFamily="34" charset="0"/>
                <a:ea typeface="Arial" pitchFamily="34" charset="-122"/>
                <a:cs typeface="Arial" pitchFamily="34" charset="-120"/>
              </a:rPr>
              <a:t>Sylvia Wong Shiau Ching</a:t>
            </a:r>
            <a:endParaRPr lang="en-US" sz="1300" dirty="0"/>
          </a:p>
        </p:txBody>
      </p:sp>
      <p:sp>
        <p:nvSpPr>
          <p:cNvPr id="8" name="Text 6"/>
          <p:cNvSpPr/>
          <p:nvPr/>
        </p:nvSpPr>
        <p:spPr>
          <a:xfrm>
            <a:off x="4937760" y="1298448"/>
            <a:ext cx="3703320" cy="493776"/>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(feature)</a:t>
            </a:r>
            <a:endParaRPr lang="en-US" sz="1200" dirty="0"/>
          </a:p>
        </p:txBody>
      </p:sp>
      <p:sp>
        <p:nvSpPr>
          <p:cNvPr id="9" name="Shape 7"/>
          <p:cNvSpPr/>
          <p:nvPr/>
        </p:nvSpPr>
        <p:spPr>
          <a:xfrm>
            <a:off x="502920" y="1901952"/>
            <a:ext cx="8138160" cy="493776"/>
          </a:xfrm>
          <a:prstGeom prst="roundRect">
            <a:avLst>
              <a:gd name="adj" fmla="val 11111"/>
            </a:avLst>
          </a:prstGeom>
          <a:solidFill>
            <a:srgbClr val="FFFFFF"/>
          </a:solidFill>
          <a:ln w="12700">
            <a:solidFill>
              <a:srgbClr val="FFFFFF"/>
            </a:solidFill>
            <a:prstDash val="solid"/>
          </a:ln>
        </p:spPr>
      </p:sp>
      <p:sp>
        <p:nvSpPr>
          <p:cNvPr id="10" name="Shape 8"/>
          <p:cNvSpPr/>
          <p:nvPr/>
        </p:nvSpPr>
        <p:spPr>
          <a:xfrm>
            <a:off x="649224" y="1993392"/>
            <a:ext cx="310896" cy="310896"/>
          </a:xfrm>
          <a:prstGeom prst="ellipse">
            <a:avLst/>
          </a:prstGeom>
          <a:solidFill>
            <a:srgbClr val="FD5000"/>
          </a:solidFill>
          <a:ln/>
        </p:spPr>
      </p:sp>
      <p:sp>
        <p:nvSpPr>
          <p:cNvPr id="11" name="Text 9"/>
          <p:cNvSpPr/>
          <p:nvPr/>
        </p:nvSpPr>
        <p:spPr>
          <a:xfrm>
            <a:off x="649224" y="1993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106424" y="1901952"/>
            <a:ext cx="4023360" cy="493776"/>
          </a:xfrm>
          <a:prstGeom prst="rect">
            <a:avLst/>
          </a:prstGeom>
          <a:noFill/>
          <a:ln/>
        </p:spPr>
        <p:txBody>
          <a:bodyPr wrap="square" lIns="0" tIns="0" rIns="0" bIns="0" rtlCol="0" anchor="ctr"/>
          <a:lstStyle/>
          <a:p>
            <a:pPr indent="0" marL="0">
              <a:buNone/>
            </a:pPr>
            <a:r>
              <a:rPr lang="en-US" sz="1300" b="1" dirty="0">
                <a:solidFill>
                  <a:srgbClr val="1D252D"/>
                </a:solidFill>
                <a:latin typeface="Arial" pitchFamily="34" charset="0"/>
                <a:ea typeface="Arial" pitchFamily="34" charset="-122"/>
                <a:cs typeface="Arial" pitchFamily="34" charset="-120"/>
              </a:rPr>
              <a:t>Chin Ee Mei</a:t>
            </a:r>
            <a:endParaRPr lang="en-US" sz="1300" dirty="0"/>
          </a:p>
        </p:txBody>
      </p:sp>
      <p:sp>
        <p:nvSpPr>
          <p:cNvPr id="13" name="Text 11"/>
          <p:cNvSpPr/>
          <p:nvPr/>
        </p:nvSpPr>
        <p:spPr>
          <a:xfrm>
            <a:off x="4937760" y="1901952"/>
            <a:ext cx="3703320" cy="493776"/>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(feature)</a:t>
            </a:r>
            <a:endParaRPr lang="en-US" sz="1200" dirty="0"/>
          </a:p>
        </p:txBody>
      </p:sp>
      <p:sp>
        <p:nvSpPr>
          <p:cNvPr id="14" name="Shape 12"/>
          <p:cNvSpPr/>
          <p:nvPr/>
        </p:nvSpPr>
        <p:spPr>
          <a:xfrm>
            <a:off x="502920" y="2505456"/>
            <a:ext cx="8138160" cy="493776"/>
          </a:xfrm>
          <a:prstGeom prst="roundRect">
            <a:avLst>
              <a:gd name="adj" fmla="val 11111"/>
            </a:avLst>
          </a:prstGeom>
          <a:solidFill>
            <a:srgbClr val="FDF6F1"/>
          </a:solidFill>
          <a:ln w="12700">
            <a:solidFill>
              <a:srgbClr val="FDF6F1"/>
            </a:solidFill>
            <a:prstDash val="solid"/>
          </a:ln>
        </p:spPr>
      </p:sp>
      <p:sp>
        <p:nvSpPr>
          <p:cNvPr id="15" name="Shape 13"/>
          <p:cNvSpPr/>
          <p:nvPr/>
        </p:nvSpPr>
        <p:spPr>
          <a:xfrm>
            <a:off x="649224" y="2596896"/>
            <a:ext cx="310896" cy="310896"/>
          </a:xfrm>
          <a:prstGeom prst="ellipse">
            <a:avLst/>
          </a:prstGeom>
          <a:solidFill>
            <a:srgbClr val="FD5000"/>
          </a:solidFill>
          <a:ln/>
        </p:spPr>
      </p:sp>
      <p:sp>
        <p:nvSpPr>
          <p:cNvPr id="16" name="Text 14"/>
          <p:cNvSpPr/>
          <p:nvPr/>
        </p:nvSpPr>
        <p:spPr>
          <a:xfrm>
            <a:off x="649224" y="25968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106424" y="2505456"/>
            <a:ext cx="4023360" cy="493776"/>
          </a:xfrm>
          <a:prstGeom prst="rect">
            <a:avLst/>
          </a:prstGeom>
          <a:noFill/>
          <a:ln/>
        </p:spPr>
        <p:txBody>
          <a:bodyPr wrap="square" lIns="0" tIns="0" rIns="0" bIns="0" rtlCol="0" anchor="ctr"/>
          <a:lstStyle/>
          <a:p>
            <a:pPr indent="0" marL="0">
              <a:buNone/>
            </a:pPr>
            <a:r>
              <a:rPr lang="en-US" sz="1300" b="1" dirty="0">
                <a:solidFill>
                  <a:srgbClr val="1D252D"/>
                </a:solidFill>
                <a:latin typeface="Arial" pitchFamily="34" charset="0"/>
                <a:ea typeface="Arial" pitchFamily="34" charset="-122"/>
                <a:cs typeface="Arial" pitchFamily="34" charset="-120"/>
              </a:rPr>
              <a:t>Khoo Yeong Kang</a:t>
            </a:r>
            <a:endParaRPr lang="en-US" sz="1300" dirty="0"/>
          </a:p>
        </p:txBody>
      </p:sp>
      <p:sp>
        <p:nvSpPr>
          <p:cNvPr id="18" name="Text 16"/>
          <p:cNvSpPr/>
          <p:nvPr/>
        </p:nvSpPr>
        <p:spPr>
          <a:xfrm>
            <a:off x="4937760" y="2505456"/>
            <a:ext cx="3703320" cy="493776"/>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(feature)</a:t>
            </a:r>
            <a:endParaRPr lang="en-US" sz="1200" dirty="0"/>
          </a:p>
        </p:txBody>
      </p:sp>
      <p:sp>
        <p:nvSpPr>
          <p:cNvPr id="19" name="Shape 17"/>
          <p:cNvSpPr/>
          <p:nvPr/>
        </p:nvSpPr>
        <p:spPr>
          <a:xfrm>
            <a:off x="502920" y="3108960"/>
            <a:ext cx="8138160" cy="493776"/>
          </a:xfrm>
          <a:prstGeom prst="roundRect">
            <a:avLst>
              <a:gd name="adj" fmla="val 11111"/>
            </a:avLst>
          </a:prstGeom>
          <a:solidFill>
            <a:srgbClr val="FFFFFF"/>
          </a:solidFill>
          <a:ln w="12700">
            <a:solidFill>
              <a:srgbClr val="FFFFFF"/>
            </a:solidFill>
            <a:prstDash val="solid"/>
          </a:ln>
        </p:spPr>
      </p:sp>
      <p:sp>
        <p:nvSpPr>
          <p:cNvPr id="20" name="Shape 18"/>
          <p:cNvSpPr/>
          <p:nvPr/>
        </p:nvSpPr>
        <p:spPr>
          <a:xfrm>
            <a:off x="649224" y="3200400"/>
            <a:ext cx="310896" cy="310896"/>
          </a:xfrm>
          <a:prstGeom prst="ellipse">
            <a:avLst/>
          </a:prstGeom>
          <a:solidFill>
            <a:srgbClr val="FD5000"/>
          </a:solidFill>
          <a:ln/>
        </p:spPr>
      </p:sp>
      <p:sp>
        <p:nvSpPr>
          <p:cNvPr id="21" name="Text 19"/>
          <p:cNvSpPr/>
          <p:nvPr/>
        </p:nvSpPr>
        <p:spPr>
          <a:xfrm>
            <a:off x="649224" y="32004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106424" y="3108960"/>
            <a:ext cx="4023360" cy="493776"/>
          </a:xfrm>
          <a:prstGeom prst="rect">
            <a:avLst/>
          </a:prstGeom>
          <a:noFill/>
          <a:ln/>
        </p:spPr>
        <p:txBody>
          <a:bodyPr wrap="square" lIns="0" tIns="0" rIns="0" bIns="0" rtlCol="0" anchor="ctr"/>
          <a:lstStyle/>
          <a:p>
            <a:pPr indent="0" marL="0">
              <a:buNone/>
            </a:pPr>
            <a:r>
              <a:rPr lang="en-US" sz="1300" b="1" dirty="0">
                <a:solidFill>
                  <a:srgbClr val="1D252D"/>
                </a:solidFill>
                <a:latin typeface="Arial" pitchFamily="34" charset="0"/>
                <a:ea typeface="Arial" pitchFamily="34" charset="-122"/>
                <a:cs typeface="Arial" pitchFamily="34" charset="-120"/>
              </a:rPr>
              <a:t>Muhammad Muzzammil Bin Mohd Salahudin</a:t>
            </a:r>
            <a:endParaRPr lang="en-US" sz="1300" dirty="0"/>
          </a:p>
        </p:txBody>
      </p:sp>
      <p:sp>
        <p:nvSpPr>
          <p:cNvPr id="23" name="Text 21"/>
          <p:cNvSpPr/>
          <p:nvPr/>
        </p:nvSpPr>
        <p:spPr>
          <a:xfrm>
            <a:off x="4937760" y="3108960"/>
            <a:ext cx="3703320" cy="493776"/>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(feature)</a:t>
            </a:r>
            <a:endParaRPr lang="en-US" sz="1200" dirty="0"/>
          </a:p>
        </p:txBody>
      </p:sp>
      <p:sp>
        <p:nvSpPr>
          <p:cNvPr id="24" name="Shape 22"/>
          <p:cNvSpPr/>
          <p:nvPr/>
        </p:nvSpPr>
        <p:spPr>
          <a:xfrm>
            <a:off x="502920" y="3712464"/>
            <a:ext cx="8138160" cy="493776"/>
          </a:xfrm>
          <a:prstGeom prst="roundRect">
            <a:avLst>
              <a:gd name="adj" fmla="val 11111"/>
            </a:avLst>
          </a:prstGeom>
          <a:solidFill>
            <a:srgbClr val="FDF6F1"/>
          </a:solidFill>
          <a:ln w="12700">
            <a:solidFill>
              <a:srgbClr val="FDF6F1"/>
            </a:solidFill>
            <a:prstDash val="solid"/>
          </a:ln>
        </p:spPr>
      </p:sp>
      <p:sp>
        <p:nvSpPr>
          <p:cNvPr id="25" name="Shape 23"/>
          <p:cNvSpPr/>
          <p:nvPr/>
        </p:nvSpPr>
        <p:spPr>
          <a:xfrm>
            <a:off x="649224" y="3803904"/>
            <a:ext cx="310896" cy="310896"/>
          </a:xfrm>
          <a:prstGeom prst="ellipse">
            <a:avLst/>
          </a:prstGeom>
          <a:solidFill>
            <a:srgbClr val="FD5000"/>
          </a:solidFill>
          <a:ln/>
        </p:spPr>
      </p:sp>
      <p:sp>
        <p:nvSpPr>
          <p:cNvPr id="26" name="Text 24"/>
          <p:cNvSpPr/>
          <p:nvPr/>
        </p:nvSpPr>
        <p:spPr>
          <a:xfrm>
            <a:off x="649224"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7" name="Text 25"/>
          <p:cNvSpPr/>
          <p:nvPr/>
        </p:nvSpPr>
        <p:spPr>
          <a:xfrm>
            <a:off x="1106424" y="3712464"/>
            <a:ext cx="4023360" cy="493776"/>
          </a:xfrm>
          <a:prstGeom prst="rect">
            <a:avLst/>
          </a:prstGeom>
          <a:noFill/>
          <a:ln/>
        </p:spPr>
        <p:txBody>
          <a:bodyPr wrap="square" lIns="0" tIns="0" rIns="0" bIns="0" rtlCol="0" anchor="ctr"/>
          <a:lstStyle/>
          <a:p>
            <a:pPr indent="0" marL="0">
              <a:buNone/>
            </a:pPr>
            <a:r>
              <a:rPr lang="en-US" sz="1300" b="1" dirty="0">
                <a:solidFill>
                  <a:srgbClr val="1D252D"/>
                </a:solidFill>
                <a:latin typeface="Arial" pitchFamily="34" charset="0"/>
                <a:ea typeface="Arial" pitchFamily="34" charset="-122"/>
                <a:cs typeface="Arial" pitchFamily="34" charset="-120"/>
              </a:rPr>
              <a:t>Phuah Hong</a:t>
            </a:r>
            <a:endParaRPr lang="en-US" sz="1300" dirty="0"/>
          </a:p>
        </p:txBody>
      </p:sp>
      <p:sp>
        <p:nvSpPr>
          <p:cNvPr id="28" name="Text 26"/>
          <p:cNvSpPr/>
          <p:nvPr/>
        </p:nvSpPr>
        <p:spPr>
          <a:xfrm>
            <a:off x="4937760" y="3712464"/>
            <a:ext cx="3703320" cy="493776"/>
          </a:xfrm>
          <a:prstGeom prst="rect">
            <a:avLst/>
          </a:prstGeom>
          <a:noFill/>
          <a:ln/>
        </p:spPr>
        <p:txBody>
          <a:bodyPr wrap="square" lIns="0" tIns="0" rIns="0" bIns="0" rtlCol="0" anchor="ctr"/>
          <a:lstStyle/>
          <a:p>
            <a:pPr indent="0" marL="0">
              <a:buNone/>
            </a:pPr>
            <a:r>
              <a:rPr lang="en-US" sz="1200" dirty="0">
                <a:solidFill>
                  <a:srgbClr val="46555F"/>
                </a:solidFill>
                <a:latin typeface="Arial" pitchFamily="34" charset="0"/>
                <a:ea typeface="Arial" pitchFamily="34" charset="-122"/>
                <a:cs typeface="Arial" pitchFamily="34" charset="-120"/>
              </a:rPr>
              <a:t>(feature)</a:t>
            </a:r>
            <a:endParaRPr lang="en-US" sz="1200" dirty="0"/>
          </a:p>
        </p:txBody>
      </p:sp>
      <p:sp>
        <p:nvSpPr>
          <p:cNvPr id="29" name="Text 27"/>
          <p:cNvSpPr/>
          <p:nvPr/>
        </p:nvSpPr>
        <p:spPr>
          <a:xfrm>
            <a:off x="502920" y="4434840"/>
            <a:ext cx="8138160" cy="274320"/>
          </a:xfrm>
          <a:prstGeom prst="rect">
            <a:avLst/>
          </a:prstGeom>
          <a:noFill/>
          <a:ln/>
        </p:spPr>
        <p:txBody>
          <a:bodyPr wrap="square" lIns="0" tIns="0" rIns="0" bIns="0" rtlCol="0" anchor="ctr"/>
          <a:lstStyle/>
          <a:p>
            <a:pPr indent="0" marL="0">
              <a:buNone/>
            </a:pPr>
            <a:r>
              <a:rPr lang="en-US" sz="1150" i="1" dirty="0">
                <a:solidFill>
                  <a:srgbClr val="46555F"/>
                </a:solidFill>
                <a:latin typeface="Arial" pitchFamily="34" charset="0"/>
                <a:ea typeface="Arial" pitchFamily="34" charset="-122"/>
                <a:cs typeface="Arial" pitchFamily="34" charset="-120"/>
              </a:rPr>
              <a:t>Each member owns their area end to end and can walk through the code on request.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252D"/>
        </a:solidFill>
      </p:bgPr>
    </p:bg>
    <p:spTree>
      <p:nvGrpSpPr>
        <p:cNvPr id="1" name=""/>
        <p:cNvGrpSpPr/>
        <p:nvPr/>
      </p:nvGrpSpPr>
      <p:grpSpPr>
        <a:xfrm>
          <a:off x="0" y="0"/>
          <a:ext cx="0" cy="0"/>
          <a:chOff x="0" y="0"/>
          <a:chExt cx="0" cy="0"/>
        </a:xfrm>
      </p:grpSpPr>
      <p:sp>
        <p:nvSpPr>
          <p:cNvPr id="2" name="Text 0"/>
          <p:cNvSpPr/>
          <p:nvPr/>
        </p:nvSpPr>
        <p:spPr>
          <a:xfrm>
            <a:off x="502920" y="822960"/>
            <a:ext cx="5486400" cy="219456"/>
          </a:xfrm>
          <a:prstGeom prst="rect">
            <a:avLst/>
          </a:prstGeom>
          <a:noFill/>
          <a:ln/>
        </p:spPr>
        <p:txBody>
          <a:bodyPr wrap="square" lIns="0" tIns="0" rIns="0" bIns="0" rtlCol="0" anchor="ctr"/>
          <a:lstStyle/>
          <a:p>
            <a:pPr indent="0" marL="0">
              <a:buNone/>
            </a:pPr>
            <a:r>
              <a:rPr lang="en-US" sz="1100" b="1" spc="200" kern="0" dirty="0">
                <a:solidFill>
                  <a:srgbClr val="FD5000"/>
                </a:solidFill>
                <a:latin typeface="Arial" pitchFamily="34" charset="0"/>
                <a:ea typeface="Arial" pitchFamily="34" charset="-122"/>
                <a:cs typeface="Arial" pitchFamily="34" charset="-120"/>
              </a:rPr>
              <a:t>DEMO</a:t>
            </a:r>
            <a:endParaRPr lang="en-US" sz="1100" dirty="0"/>
          </a:p>
        </p:txBody>
      </p:sp>
      <p:sp>
        <p:nvSpPr>
          <p:cNvPr id="3" name="Text 1"/>
          <p:cNvSpPr/>
          <p:nvPr/>
        </p:nvSpPr>
        <p:spPr>
          <a:xfrm>
            <a:off x="502920" y="1097280"/>
            <a:ext cx="5120640" cy="1188720"/>
          </a:xfrm>
          <a:prstGeom prst="rect">
            <a:avLst/>
          </a:prstGeom>
          <a:noFill/>
          <a:ln/>
        </p:spPr>
        <p:txBody>
          <a:bodyPr wrap="square" lIns="0" tIns="0" rIns="0" bIns="0" rtlCol="0" anchor="ctr"/>
          <a:lstStyle/>
          <a:p>
            <a:pPr indent="0" marL="0">
              <a:lnSpc>
                <a:spcPts val="3800"/>
              </a:lnSpc>
              <a:buNone/>
            </a:pPr>
            <a:r>
              <a:rPr lang="en-US" sz="3400" b="1" dirty="0">
                <a:solidFill>
                  <a:srgbClr val="FFFFFF"/>
                </a:solidFill>
                <a:latin typeface="Arial" pitchFamily="34" charset="0"/>
                <a:ea typeface="Arial" pitchFamily="34" charset="-122"/>
                <a:cs typeface="Arial" pitchFamily="34" charset="-120"/>
              </a:rPr>
              <a:t>Three questions,</a:t>
            </a:r>
            <a:endParaRPr lang="en-US" sz="3400" dirty="0"/>
          </a:p>
          <a:p>
            <a:pPr indent="0" marL="0">
              <a:lnSpc>
                <a:spcPts val="3800"/>
              </a:lnSpc>
              <a:buNone/>
            </a:pPr>
            <a:r>
              <a:rPr lang="en-US" sz="3400" b="1" dirty="0">
                <a:solidFill>
                  <a:srgbClr val="FFFFFF"/>
                </a:solidFill>
                <a:latin typeface="Arial" pitchFamily="34" charset="0"/>
                <a:ea typeface="Arial" pitchFamily="34" charset="-122"/>
                <a:cs typeface="Arial" pitchFamily="34" charset="-120"/>
              </a:rPr>
              <a:t>three behaviours</a:t>
            </a:r>
            <a:endParaRPr lang="en-US" sz="3400" dirty="0"/>
          </a:p>
        </p:txBody>
      </p:sp>
      <p:sp>
        <p:nvSpPr>
          <p:cNvPr id="4" name="Shape 2"/>
          <p:cNvSpPr/>
          <p:nvPr/>
        </p:nvSpPr>
        <p:spPr>
          <a:xfrm>
            <a:off x="502920" y="2468880"/>
            <a:ext cx="310896" cy="310896"/>
          </a:xfrm>
          <a:prstGeom prst="ellipse">
            <a:avLst/>
          </a:prstGeom>
          <a:solidFill>
            <a:srgbClr val="FD5000"/>
          </a:solidFill>
          <a:ln/>
        </p:spPr>
      </p:sp>
      <p:sp>
        <p:nvSpPr>
          <p:cNvPr id="5" name="Text 3"/>
          <p:cNvSpPr/>
          <p:nvPr/>
        </p:nvSpPr>
        <p:spPr>
          <a:xfrm>
            <a:off x="502920" y="2468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932688" y="2441448"/>
            <a:ext cx="1371600" cy="237744"/>
          </a:xfrm>
          <a:prstGeom prst="rect">
            <a:avLst/>
          </a:prstGeom>
          <a:noFill/>
          <a:ln/>
        </p:spPr>
        <p:txBody>
          <a:bodyPr wrap="square" lIns="0" tIns="0" rIns="0" bIns="0" rtlCol="0" anchor="ctr"/>
          <a:lstStyle/>
          <a:p>
            <a:pPr indent="0" marL="0">
              <a:buNone/>
            </a:pPr>
            <a:r>
              <a:rPr lang="en-US" sz="1100" b="1" dirty="0">
                <a:solidFill>
                  <a:srgbClr val="FD5000"/>
                </a:solidFill>
                <a:latin typeface="Arial" pitchFamily="34" charset="0"/>
                <a:ea typeface="Arial" pitchFamily="34" charset="-122"/>
                <a:cs typeface="Arial" pitchFamily="34" charset="-120"/>
              </a:rPr>
              <a:t>Documented</a:t>
            </a:r>
            <a:endParaRPr lang="en-US" sz="1100" dirty="0"/>
          </a:p>
        </p:txBody>
      </p:sp>
      <p:sp>
        <p:nvSpPr>
          <p:cNvPr id="7" name="Text 5"/>
          <p:cNvSpPr/>
          <p:nvPr/>
        </p:nvSpPr>
        <p:spPr>
          <a:xfrm>
            <a:off x="932688" y="2679192"/>
            <a:ext cx="3931920" cy="256032"/>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“What does alarm code E-204 mean?”</a:t>
            </a:r>
            <a:endParaRPr lang="en-US" sz="1200" dirty="0"/>
          </a:p>
        </p:txBody>
      </p:sp>
      <p:sp>
        <p:nvSpPr>
          <p:cNvPr id="8" name="Text 6"/>
          <p:cNvSpPr/>
          <p:nvPr/>
        </p:nvSpPr>
        <p:spPr>
          <a:xfrm>
            <a:off x="4892040" y="2514600"/>
            <a:ext cx="1737360" cy="256032"/>
          </a:xfrm>
          <a:prstGeom prst="rect">
            <a:avLst/>
          </a:prstGeom>
          <a:noFill/>
          <a:ln/>
        </p:spPr>
        <p:txBody>
          <a:bodyPr wrap="square" lIns="0" tIns="0" rIns="0" bIns="0" rtlCol="0" anchor="ctr"/>
          <a:lstStyle/>
          <a:p>
            <a:pPr indent="0" marL="0">
              <a:buNone/>
            </a:pPr>
            <a:r>
              <a:rPr lang="en-US" sz="1100" i="1" dirty="0">
                <a:solidFill>
                  <a:srgbClr val="8C95A1"/>
                </a:solidFill>
                <a:latin typeface="Arial" pitchFamily="34" charset="0"/>
                <a:ea typeface="Arial" pitchFamily="34" charset="-122"/>
                <a:cs typeface="Arial" pitchFamily="34" charset="-120"/>
              </a:rPr>
              <a:t>answers with a citation</a:t>
            </a:r>
            <a:endParaRPr lang="en-US" sz="1100" dirty="0"/>
          </a:p>
        </p:txBody>
      </p:sp>
      <p:sp>
        <p:nvSpPr>
          <p:cNvPr id="9" name="Shape 7"/>
          <p:cNvSpPr/>
          <p:nvPr/>
        </p:nvSpPr>
        <p:spPr>
          <a:xfrm>
            <a:off x="502920" y="3127248"/>
            <a:ext cx="310896" cy="310896"/>
          </a:xfrm>
          <a:prstGeom prst="ellipse">
            <a:avLst/>
          </a:prstGeom>
          <a:solidFill>
            <a:srgbClr val="FD5000"/>
          </a:solidFill>
          <a:ln/>
        </p:spPr>
      </p:sp>
      <p:sp>
        <p:nvSpPr>
          <p:cNvPr id="10" name="Text 8"/>
          <p:cNvSpPr/>
          <p:nvPr/>
        </p:nvSpPr>
        <p:spPr>
          <a:xfrm>
            <a:off x="502920" y="31272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932688" y="3099816"/>
            <a:ext cx="1371600" cy="237744"/>
          </a:xfrm>
          <a:prstGeom prst="rect">
            <a:avLst/>
          </a:prstGeom>
          <a:noFill/>
          <a:ln/>
        </p:spPr>
        <p:txBody>
          <a:bodyPr wrap="square" lIns="0" tIns="0" rIns="0" bIns="0" rtlCol="0" anchor="ctr"/>
          <a:lstStyle/>
          <a:p>
            <a:pPr indent="0" marL="0">
              <a:buNone/>
            </a:pPr>
            <a:r>
              <a:rPr lang="en-US" sz="1100" b="1" dirty="0">
                <a:solidFill>
                  <a:srgbClr val="FD5000"/>
                </a:solidFill>
                <a:latin typeface="Arial" pitchFamily="34" charset="0"/>
                <a:ea typeface="Arial" pitchFamily="34" charset="-122"/>
                <a:cs typeface="Arial" pitchFamily="34" charset="-120"/>
              </a:rPr>
              <a:t>Computed</a:t>
            </a:r>
            <a:endParaRPr lang="en-US" sz="1100" dirty="0"/>
          </a:p>
        </p:txBody>
      </p:sp>
      <p:sp>
        <p:nvSpPr>
          <p:cNvPr id="12" name="Text 10"/>
          <p:cNvSpPr/>
          <p:nvPr/>
        </p:nvSpPr>
        <p:spPr>
          <a:xfrm>
            <a:off x="932688" y="3337560"/>
            <a:ext cx="3931920" cy="256032"/>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“Which database used the most CPU?”</a:t>
            </a:r>
            <a:endParaRPr lang="en-US" sz="1200" dirty="0"/>
          </a:p>
        </p:txBody>
      </p:sp>
      <p:sp>
        <p:nvSpPr>
          <p:cNvPr id="13" name="Text 11"/>
          <p:cNvSpPr/>
          <p:nvPr/>
        </p:nvSpPr>
        <p:spPr>
          <a:xfrm>
            <a:off x="4892040" y="3172968"/>
            <a:ext cx="1737360" cy="256032"/>
          </a:xfrm>
          <a:prstGeom prst="rect">
            <a:avLst/>
          </a:prstGeom>
          <a:noFill/>
          <a:ln/>
        </p:spPr>
        <p:txBody>
          <a:bodyPr wrap="square" lIns="0" tIns="0" rIns="0" bIns="0" rtlCol="0" anchor="ctr"/>
          <a:lstStyle/>
          <a:p>
            <a:pPr indent="0" marL="0">
              <a:buNone/>
            </a:pPr>
            <a:r>
              <a:rPr lang="en-US" sz="1100" i="1" dirty="0">
                <a:solidFill>
                  <a:srgbClr val="8C95A1"/>
                </a:solidFill>
                <a:latin typeface="Arial" pitchFamily="34" charset="0"/>
                <a:ea typeface="Arial" pitchFamily="34" charset="-122"/>
                <a:cs typeface="Arial" pitchFamily="34" charset="-120"/>
              </a:rPr>
              <a:t>answers with its SQL</a:t>
            </a:r>
            <a:endParaRPr lang="en-US" sz="1100" dirty="0"/>
          </a:p>
        </p:txBody>
      </p:sp>
      <p:sp>
        <p:nvSpPr>
          <p:cNvPr id="14" name="Shape 12"/>
          <p:cNvSpPr/>
          <p:nvPr/>
        </p:nvSpPr>
        <p:spPr>
          <a:xfrm>
            <a:off x="502920" y="3785616"/>
            <a:ext cx="310896" cy="310896"/>
          </a:xfrm>
          <a:prstGeom prst="ellipse">
            <a:avLst/>
          </a:prstGeom>
          <a:solidFill>
            <a:srgbClr val="FD5000"/>
          </a:solidFill>
          <a:ln/>
        </p:spPr>
      </p:sp>
      <p:sp>
        <p:nvSpPr>
          <p:cNvPr id="15" name="Text 13"/>
          <p:cNvSpPr/>
          <p:nvPr/>
        </p:nvSpPr>
        <p:spPr>
          <a:xfrm>
            <a:off x="502920"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p:nvPr/>
        </p:nvSpPr>
        <p:spPr>
          <a:xfrm>
            <a:off x="932688" y="3758184"/>
            <a:ext cx="1371600" cy="237744"/>
          </a:xfrm>
          <a:prstGeom prst="rect">
            <a:avLst/>
          </a:prstGeom>
          <a:noFill/>
          <a:ln/>
        </p:spPr>
        <p:txBody>
          <a:bodyPr wrap="square" lIns="0" tIns="0" rIns="0" bIns="0" rtlCol="0" anchor="ctr"/>
          <a:lstStyle/>
          <a:p>
            <a:pPr indent="0" marL="0">
              <a:buNone/>
            </a:pPr>
            <a:r>
              <a:rPr lang="en-US" sz="1100" b="1" dirty="0">
                <a:solidFill>
                  <a:srgbClr val="FD5000"/>
                </a:solidFill>
                <a:latin typeface="Arial" pitchFamily="34" charset="0"/>
                <a:ea typeface="Arial" pitchFamily="34" charset="-122"/>
                <a:cs typeface="Arial" pitchFamily="34" charset="-120"/>
              </a:rPr>
              <a:t>Unknowable</a:t>
            </a:r>
            <a:endParaRPr lang="en-US" sz="1100" dirty="0"/>
          </a:p>
        </p:txBody>
      </p:sp>
      <p:sp>
        <p:nvSpPr>
          <p:cNvPr id="17" name="Text 15"/>
          <p:cNvSpPr/>
          <p:nvPr/>
        </p:nvSpPr>
        <p:spPr>
          <a:xfrm>
            <a:off x="932688" y="3995928"/>
            <a:ext cx="3931920" cy="256032"/>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“What does alarm code Z-999 mean?”</a:t>
            </a:r>
            <a:endParaRPr lang="en-US" sz="1200" dirty="0"/>
          </a:p>
        </p:txBody>
      </p:sp>
      <p:sp>
        <p:nvSpPr>
          <p:cNvPr id="18" name="Text 16"/>
          <p:cNvSpPr/>
          <p:nvPr/>
        </p:nvSpPr>
        <p:spPr>
          <a:xfrm>
            <a:off x="4892040" y="3831336"/>
            <a:ext cx="1737360" cy="256032"/>
          </a:xfrm>
          <a:prstGeom prst="rect">
            <a:avLst/>
          </a:prstGeom>
          <a:noFill/>
          <a:ln/>
        </p:spPr>
        <p:txBody>
          <a:bodyPr wrap="square" lIns="0" tIns="0" rIns="0" bIns="0" rtlCol="0" anchor="ctr"/>
          <a:lstStyle/>
          <a:p>
            <a:pPr indent="0" marL="0">
              <a:buNone/>
            </a:pPr>
            <a:r>
              <a:rPr lang="en-US" sz="1100" i="1" dirty="0">
                <a:solidFill>
                  <a:srgbClr val="8C95A1"/>
                </a:solidFill>
                <a:latin typeface="Arial" pitchFamily="34" charset="0"/>
                <a:ea typeface="Arial" pitchFamily="34" charset="-122"/>
                <a:cs typeface="Arial" pitchFamily="34" charset="-120"/>
              </a:rPr>
              <a:t>refuses</a:t>
            </a:r>
            <a:endParaRPr lang="en-US" sz="1100" dirty="0"/>
          </a:p>
        </p:txBody>
      </p:sp>
      <p:sp>
        <p:nvSpPr>
          <p:cNvPr id="19" name="Shape 17"/>
          <p:cNvSpPr/>
          <p:nvPr/>
        </p:nvSpPr>
        <p:spPr>
          <a:xfrm>
            <a:off x="6812280" y="2395728"/>
            <a:ext cx="1828800" cy="1847088"/>
          </a:xfrm>
          <a:prstGeom prst="roundRect">
            <a:avLst>
              <a:gd name="adj" fmla="val 3000"/>
            </a:avLst>
          </a:prstGeom>
          <a:solidFill>
            <a:srgbClr val="262A30"/>
          </a:solidFill>
          <a:ln w="12700">
            <a:solidFill>
              <a:srgbClr val="262A30"/>
            </a:solidFill>
            <a:prstDash val="solid"/>
          </a:ln>
        </p:spPr>
      </p:sp>
      <p:sp>
        <p:nvSpPr>
          <p:cNvPr id="20" name="Text 18"/>
          <p:cNvSpPr/>
          <p:nvPr/>
        </p:nvSpPr>
        <p:spPr>
          <a:xfrm>
            <a:off x="6812280" y="2560320"/>
            <a:ext cx="1828800" cy="237744"/>
          </a:xfrm>
          <a:prstGeom prst="rect">
            <a:avLst/>
          </a:prstGeom>
          <a:noFill/>
          <a:ln/>
        </p:spPr>
        <p:txBody>
          <a:bodyPr wrap="square" lIns="0" tIns="0" rIns="0" bIns="0" rtlCol="0" anchor="ctr"/>
          <a:lstStyle/>
          <a:p>
            <a:pPr algn="ctr" indent="0" marL="0">
              <a:buNone/>
            </a:pPr>
            <a:r>
              <a:rPr lang="en-US" sz="1100" b="1" dirty="0">
                <a:solidFill>
                  <a:srgbClr val="FD5000"/>
                </a:solidFill>
                <a:latin typeface="Arial" pitchFamily="34" charset="0"/>
                <a:ea typeface="Arial" pitchFamily="34" charset="-122"/>
                <a:cs typeface="Arial" pitchFamily="34" charset="-120"/>
              </a:rPr>
              <a:t>The point</a:t>
            </a:r>
            <a:endParaRPr lang="en-US" sz="1100" dirty="0"/>
          </a:p>
        </p:txBody>
      </p:sp>
      <p:sp>
        <p:nvSpPr>
          <p:cNvPr id="21" name="Text 19"/>
          <p:cNvSpPr/>
          <p:nvPr/>
        </p:nvSpPr>
        <p:spPr>
          <a:xfrm>
            <a:off x="6949440" y="2880360"/>
            <a:ext cx="1600200" cy="1005840"/>
          </a:xfrm>
          <a:prstGeom prst="rect">
            <a:avLst/>
          </a:prstGeom>
          <a:no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A system that</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refuses is more</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useful than one</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that guesses.</a:t>
            </a:r>
            <a:endParaRPr lang="en-US" sz="1300" dirty="0"/>
          </a:p>
        </p:txBody>
      </p:sp>
      <p:sp>
        <p:nvSpPr>
          <p:cNvPr id="22" name="Text 20"/>
          <p:cNvSpPr/>
          <p:nvPr/>
        </p:nvSpPr>
        <p:spPr>
          <a:xfrm>
            <a:off x="502920" y="4498848"/>
            <a:ext cx="8138160" cy="274320"/>
          </a:xfrm>
          <a:prstGeom prst="rect">
            <a:avLst/>
          </a:prstGeom>
          <a:noFill/>
          <a:ln/>
        </p:spPr>
        <p:txBody>
          <a:bodyPr wrap="square" lIns="0" tIns="0" rIns="0" bIns="0" rtlCol="0" anchor="ctr"/>
          <a:lstStyle/>
          <a:p>
            <a:pPr indent="0" marL="0">
              <a:buNone/>
            </a:pPr>
            <a:r>
              <a:rPr lang="en-US" sz="1050" dirty="0">
                <a:solidFill>
                  <a:srgbClr val="46555F"/>
                </a:solidFill>
                <a:latin typeface="Arial" pitchFamily="34" charset="0"/>
                <a:ea typeface="Arial" pitchFamily="34" charset="-122"/>
                <a:cs typeface="Arial" pitchFamily="34" charset="-120"/>
              </a:rPr>
              <a:t>github.com/  —  add repository URL before presenting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Knowledge Assistant</dc:title>
  <dc:subject>PptxGenJS Presentation</dc:subject>
  <dc:creator>Capstone Team</dc:creator>
  <cp:lastModifiedBy>Capstone Team</cp:lastModifiedBy>
  <cp:revision>1</cp:revision>
  <dcterms:created xsi:type="dcterms:W3CDTF">2026-08-05T03:19:51Z</dcterms:created>
  <dcterms:modified xsi:type="dcterms:W3CDTF">2026-08-05T03:19:51Z</dcterms:modified>
</cp:coreProperties>
</file>